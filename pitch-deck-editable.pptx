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
                </c:pt>
              </c:strCache>
            </c:strRef>
          </c:tx>
          <c:dPt>
            <c:idx val="0"/>
            <c:bubble3D val="0"/>
            <c:spPr>
              <a:solidFill>
                <a:srgbClr val="2DB89E"/>
              </a:solidFill>
              <a:ln>
                <a:solidFill>
                  <a:srgbClr val="0B1623"/>
                </a:solidFill>
              </a:ln>
            </c:spPr>
          </c:dPt>
          <c:dPt>
            <c:idx val="1"/>
            <c:bubble3D val="0"/>
            <c:spPr>
              <a:solidFill>
                <a:srgbClr val="FBBF24"/>
              </a:solidFill>
              <a:ln>
                <a:solidFill>
                  <a:srgbClr val="0B1623"/>
                </a:solidFill>
              </a:ln>
            </c:spPr>
          </c:dPt>
          <c:dPt>
            <c:idx val="2"/>
            <c:bubble3D val="0"/>
            <c:spPr>
              <a:solidFill>
                <a:srgbClr val="64748B"/>
              </a:solidFill>
              <a:ln>
                <a:solidFill>
                  <a:srgbClr val="0B1623"/>
                </a:solidFill>
              </a:ln>
            </c:spPr>
          </c:dPt>
          <c:cat>
            <c:strRef>
              <c:f>Sheet1!$A$2:$A$4</c:f>
              <c:strCache>
                <c:ptCount val="3"/>
                <c:pt idx="0">
                  <c:v>Infrastructure &amp; Ops</c:v>
                </c:pt>
                <c:pt idx="1">
                  <c:v>Pilot GTM</c:v>
                </c:pt>
                <c:pt idx="2">
                  <c:v>Founder Runway</c:v>
                </c:pt>
              </c:strCache>
            </c:strRef>
          </c:cat>
          <c:val>
            <c:numRef>
              <c:f>Sheet1!$B$2:$B$4</c:f>
              <c:numCache>
                <c:formatCode>General</c:formatCode>
                <c:ptCount val="3"/>
                <c:pt idx="0">
                  <c:v>70</c:v>
                </c:pt>
                <c:pt idx="1">
                  <c:v>20</c:v>
                </c:pt>
                <c:pt idx="2">
                  <c:v>10</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0" y="0"/>
            <a:ext cx="5577840" cy="6858000"/>
          </a:xfrm>
          <a:prstGeom prst="rect">
            <a:avLst/>
          </a:prstGeom>
          <a:solidFill>
            <a:srgbClr val="0B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577840" y="0"/>
            <a:ext cx="6611112" cy="6858000"/>
          </a:xfrm>
          <a:prstGeom prst="rect">
            <a:avLst/>
          </a:prstGeom>
          <a:solidFill>
            <a:srgbClr val="0D1F2E"/>
          </a:solidFill>
          <a:ln w="12700">
            <a:solidFill>
              <a:srgbClr val="1A3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640080"/>
            <a:ext cx="4663440" cy="1005840"/>
          </a:xfrm>
          <a:prstGeom prst="rect">
            <a:avLst/>
          </a:prstGeom>
          <a:noFill/>
        </p:spPr>
        <p:txBody>
          <a:bodyPr wrap="square">
            <a:spAutoFit/>
          </a:bodyPr>
          <a:lstStyle/>
          <a:p>
            <a:pPr algn="l"/>
            <a:r>
              <a:rPr sz="1050" b="0" i="1">
                <a:solidFill>
                  <a:srgbClr val="94A3B8"/>
                </a:solidFill>
                <a:latin typeface="Calibri"/>
              </a:rPr>
              <a:t>"I cold-emailed 200 people at Zomato, CRED, and Razorpay. Got 3 replies in 2 months.
My batchmate got a meeting in 2 days because he knew someone who knew someone.
So I built the tool to find that someone."</a:t>
            </a:r>
          </a:p>
        </p:txBody>
      </p:sp>
      <p:sp>
        <p:nvSpPr>
          <p:cNvPr id="5" name="Rectangle 4"/>
          <p:cNvSpPr/>
          <p:nvPr/>
        </p:nvSpPr>
        <p:spPr>
          <a:xfrm>
            <a:off x="475488" y="640080"/>
            <a:ext cx="25603" cy="914400"/>
          </a:xfrm>
          <a:prstGeom prst="rect">
            <a:avLst/>
          </a:prstGeom>
          <a:solidFill>
            <a:srgbClr val="1A6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783080"/>
            <a:ext cx="3657600" cy="914400"/>
          </a:xfrm>
          <a:prstGeom prst="rect">
            <a:avLst/>
          </a:prstGeom>
          <a:noFill/>
        </p:spPr>
        <p:txBody>
          <a:bodyPr wrap="square">
            <a:spAutoFit/>
          </a:bodyPr>
          <a:lstStyle/>
          <a:p>
            <a:pPr algn="l"/>
            <a:r>
              <a:rPr sz="7200" b="1" i="0">
                <a:solidFill>
                  <a:srgbClr val="F1F5F9"/>
                </a:solidFill>
                <a:latin typeface="Calibri Light"/>
              </a:rPr>
              <a:t>Warm</a:t>
            </a:r>
          </a:p>
        </p:txBody>
      </p:sp>
      <p:sp>
        <p:nvSpPr>
          <p:cNvPr id="7" name="TextBox 6"/>
          <p:cNvSpPr txBox="1"/>
          <p:nvPr/>
        </p:nvSpPr>
        <p:spPr>
          <a:xfrm>
            <a:off x="2944368" y="1783080"/>
            <a:ext cx="2286000" cy="914400"/>
          </a:xfrm>
          <a:prstGeom prst="rect">
            <a:avLst/>
          </a:prstGeom>
          <a:noFill/>
        </p:spPr>
        <p:txBody>
          <a:bodyPr wrap="square">
            <a:spAutoFit/>
          </a:bodyPr>
          <a:lstStyle/>
          <a:p>
            <a:pPr algn="l"/>
            <a:r>
              <a:rPr sz="7200" b="1" i="0">
                <a:solidFill>
                  <a:srgbClr val="2DB89E"/>
                </a:solidFill>
                <a:latin typeface="Calibri Light"/>
              </a:rPr>
              <a:t>Path</a:t>
            </a:r>
          </a:p>
        </p:txBody>
      </p:sp>
      <p:sp>
        <p:nvSpPr>
          <p:cNvPr id="8" name="TextBox 7"/>
          <p:cNvSpPr txBox="1"/>
          <p:nvPr/>
        </p:nvSpPr>
        <p:spPr>
          <a:xfrm>
            <a:off x="566928" y="2788920"/>
            <a:ext cx="4663440" cy="320040"/>
          </a:xfrm>
          <a:prstGeom prst="rect">
            <a:avLst/>
          </a:prstGeom>
          <a:noFill/>
        </p:spPr>
        <p:txBody>
          <a:bodyPr wrap="square">
            <a:spAutoFit/>
          </a:bodyPr>
          <a:lstStyle/>
          <a:p>
            <a:pPr algn="l"/>
            <a:r>
              <a:rPr sz="1350" b="1" i="0">
                <a:solidFill>
                  <a:srgbClr val="2DB89E"/>
                </a:solidFill>
                <a:latin typeface="Calibri"/>
              </a:rPr>
              <a:t>Turn your network into your pipeline. Warm intros, not cold email.</a:t>
            </a:r>
          </a:p>
        </p:txBody>
      </p:sp>
      <p:sp>
        <p:nvSpPr>
          <p:cNvPr id="9" name="TextBox 8"/>
          <p:cNvSpPr txBox="1"/>
          <p:nvPr/>
        </p:nvSpPr>
        <p:spPr>
          <a:xfrm>
            <a:off x="566928" y="3182112"/>
            <a:ext cx="4663440" cy="502920"/>
          </a:xfrm>
          <a:prstGeom prst="rect">
            <a:avLst/>
          </a:prstGeom>
          <a:noFill/>
        </p:spPr>
        <p:txBody>
          <a:bodyPr wrap="square">
            <a:spAutoFit/>
          </a:bodyPr>
          <a:lstStyle/>
          <a:p>
            <a:pPr algn="l"/>
            <a:r>
              <a:rPr sz="1150" b="0" i="0">
                <a:solidFill>
                  <a:srgbClr val="94A3B8"/>
                </a:solidFill>
                <a:latin typeface="Calibri"/>
              </a:rPr>
              <a:t>Import your network once. WarmPath finds the shortest warm path
to any prospect and sends the intro in 60 seconds.</a:t>
            </a:r>
          </a:p>
        </p:txBody>
      </p:sp>
      <p:sp>
        <p:nvSpPr>
          <p:cNvPr id="10" name="Rectangle 9"/>
          <p:cNvSpPr/>
          <p:nvPr/>
        </p:nvSpPr>
        <p:spPr>
          <a:xfrm>
            <a:off x="566928" y="5806440"/>
            <a:ext cx="4663440" cy="7315"/>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5943600"/>
            <a:ext cx="3657600" cy="274320"/>
          </a:xfrm>
          <a:prstGeom prst="rect">
            <a:avLst/>
          </a:prstGeom>
          <a:noFill/>
        </p:spPr>
        <p:txBody>
          <a:bodyPr wrap="square">
            <a:spAutoFit/>
          </a:bodyPr>
          <a:lstStyle/>
          <a:p>
            <a:pPr algn="l"/>
            <a:r>
              <a:rPr sz="1200" b="1" i="0">
                <a:solidFill>
                  <a:srgbClr val="2DB89E"/>
                </a:solidFill>
                <a:latin typeface="Calibri"/>
              </a:rPr>
              <a:t>warmpath-eta.vercel.app</a:t>
            </a:r>
          </a:p>
        </p:txBody>
      </p:sp>
      <p:sp>
        <p:nvSpPr>
          <p:cNvPr id="12" name="Oval 11"/>
          <p:cNvSpPr/>
          <p:nvPr/>
        </p:nvSpPr>
        <p:spPr>
          <a:xfrm>
            <a:off x="8823960" y="3017520"/>
            <a:ext cx="822960" cy="822960"/>
          </a:xfrm>
          <a:prstGeom prst="ellipse">
            <a:avLst/>
          </a:prstGeom>
          <a:solidFill>
            <a:srgbClr val="0D362E"/>
          </a:solidFill>
          <a:ln w="2540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3218688"/>
            <a:ext cx="822960" cy="274320"/>
          </a:xfrm>
          <a:prstGeom prst="rect">
            <a:avLst/>
          </a:prstGeom>
          <a:noFill/>
        </p:spPr>
        <p:txBody>
          <a:bodyPr wrap="square">
            <a:spAutoFit/>
          </a:bodyPr>
          <a:lstStyle/>
          <a:p>
            <a:pPr algn="ctr"/>
            <a:r>
              <a:rPr sz="900" b="1" i="0">
                <a:solidFill>
                  <a:srgbClr val="2DB89E"/>
                </a:solidFill>
                <a:latin typeface="Calibri"/>
              </a:rPr>
              <a:t>YOU</a:t>
            </a:r>
          </a:p>
        </p:txBody>
      </p:sp>
      <p:sp>
        <p:nvSpPr>
          <p:cNvPr id="14" name="Oval 13"/>
          <p:cNvSpPr/>
          <p:nvPr/>
        </p:nvSpPr>
        <p:spPr>
          <a:xfrm>
            <a:off x="10241280" y="1463040"/>
            <a:ext cx="548640" cy="548640"/>
          </a:xfrm>
          <a:prstGeom prst="ellipse">
            <a:avLst/>
          </a:prstGeom>
          <a:solidFill>
            <a:srgbClr val="0D362E"/>
          </a:solidFill>
          <a:ln w="190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0" y="1828800"/>
            <a:ext cx="548640" cy="201168"/>
          </a:xfrm>
          <a:prstGeom prst="rect">
            <a:avLst/>
          </a:prstGeom>
          <a:noFill/>
        </p:spPr>
        <p:txBody>
          <a:bodyPr wrap="square">
            <a:spAutoFit/>
          </a:bodyPr>
          <a:lstStyle/>
          <a:p>
            <a:pPr algn="ctr"/>
            <a:r>
              <a:rPr sz="850" b="1" i="0">
                <a:solidFill>
                  <a:srgbClr val="2DB89E"/>
                </a:solidFill>
                <a:latin typeface="Calibri"/>
              </a:rPr>
              <a:t>Priya</a:t>
            </a:r>
          </a:p>
        </p:txBody>
      </p:sp>
      <p:sp>
        <p:nvSpPr>
          <p:cNvPr id="16" name="Oval 15"/>
          <p:cNvSpPr/>
          <p:nvPr/>
        </p:nvSpPr>
        <p:spPr>
          <a:xfrm>
            <a:off x="11292840" y="3017520"/>
            <a:ext cx="640080" cy="640080"/>
          </a:xfrm>
          <a:prstGeom prst="ellipse">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292840" y="3182112"/>
            <a:ext cx="640080" cy="228600"/>
          </a:xfrm>
          <a:prstGeom prst="rect">
            <a:avLst/>
          </a:prstGeom>
          <a:noFill/>
        </p:spPr>
        <p:txBody>
          <a:bodyPr wrap="square">
            <a:spAutoFit/>
          </a:bodyPr>
          <a:lstStyle/>
          <a:p>
            <a:pPr algn="ctr"/>
            <a:r>
              <a:rPr sz="900" b="1" i="0">
                <a:solidFill>
                  <a:srgbClr val="0B1623"/>
                </a:solidFill>
                <a:latin typeface="Calibri"/>
              </a:rPr>
              <a:t>Rahul</a:t>
            </a:r>
          </a:p>
        </p:txBody>
      </p:sp>
      <p:sp>
        <p:nvSpPr>
          <p:cNvPr id="18" name="Rectangle 17"/>
          <p:cNvSpPr/>
          <p:nvPr/>
        </p:nvSpPr>
        <p:spPr>
          <a:xfrm>
            <a:off x="10012680" y="1325880"/>
            <a:ext cx="1828800" cy="274320"/>
          </a:xfrm>
          <a:prstGeom prst="rect">
            <a:avLst/>
          </a:prstGeom>
          <a:solidFill>
            <a:srgbClr val="060E18"/>
          </a:solidFill>
          <a:ln w="6350">
            <a:solidFill>
              <a:srgbClr val="1A6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0968" y="1371600"/>
            <a:ext cx="1792224" cy="201168"/>
          </a:xfrm>
          <a:prstGeom prst="rect">
            <a:avLst/>
          </a:prstGeom>
          <a:noFill/>
        </p:spPr>
        <p:txBody>
          <a:bodyPr wrap="square">
            <a:spAutoFit/>
          </a:bodyPr>
          <a:lstStyle/>
          <a:p>
            <a:pPr algn="ctr"/>
            <a:r>
              <a:rPr sz="900" b="1" i="0">
                <a:solidFill>
                  <a:srgbClr val="2DB89E"/>
                </a:solidFill>
                <a:latin typeface="Calibri"/>
              </a:rPr>
              <a:t>2 hops  ·  91% warmth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Founders Are Paying to Fix the Wrong Problem</a:t>
            </a:r>
          </a:p>
        </p:txBody>
      </p:sp>
      <p:sp>
        <p:nvSpPr>
          <p:cNvPr id="4" name="TextBox 3"/>
          <p:cNvSpPr txBox="1"/>
          <p:nvPr/>
        </p:nvSpPr>
        <p:spPr>
          <a:xfrm>
            <a:off x="457200" y="841248"/>
            <a:ext cx="3657600" cy="228600"/>
          </a:xfrm>
          <a:prstGeom prst="rect">
            <a:avLst/>
          </a:prstGeom>
          <a:noFill/>
        </p:spPr>
        <p:txBody>
          <a:bodyPr wrap="square">
            <a:spAutoFit/>
          </a:bodyPr>
          <a:lstStyle/>
          <a:p>
            <a:pPr algn="l"/>
            <a:r>
              <a:rPr sz="900" b="1" i="0">
                <a:solidFill>
                  <a:srgbClr val="2DB89E"/>
                </a:solidFill>
                <a:latin typeface="Calibri"/>
              </a:rPr>
              <a:t>THE "COLD EMAIL STACK" MOST FOUNDERS RUN TODAY</a:t>
            </a:r>
          </a:p>
        </p:txBody>
      </p:sp>
      <p:sp>
        <p:nvSpPr>
          <p:cNvPr id="5" name="Rectangle 4"/>
          <p:cNvSpPr/>
          <p:nvPr/>
        </p:nvSpPr>
        <p:spPr>
          <a:xfrm>
            <a:off x="457200" y="1024128"/>
            <a:ext cx="5212080" cy="530352"/>
          </a:xfrm>
          <a:prstGeom prst="rect">
            <a:avLst/>
          </a:prstGeom>
          <a:solidFill>
            <a:srgbClr val="3D1A1A"/>
          </a:solidFill>
          <a:ln w="6350">
            <a:solidFill>
              <a:srgbClr val="6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088136"/>
            <a:ext cx="3657600" cy="219456"/>
          </a:xfrm>
          <a:prstGeom prst="rect">
            <a:avLst/>
          </a:prstGeom>
          <a:noFill/>
        </p:spPr>
        <p:txBody>
          <a:bodyPr wrap="square">
            <a:spAutoFit/>
          </a:bodyPr>
          <a:lstStyle/>
          <a:p>
            <a:pPr algn="l"/>
            <a:r>
              <a:rPr sz="1200" b="1" i="0">
                <a:solidFill>
                  <a:srgbClr val="F1F5F9"/>
                </a:solidFill>
                <a:latin typeface="Calibri"/>
              </a:rPr>
              <a:t>Lemwarm / Instantly</a:t>
            </a:r>
          </a:p>
        </p:txBody>
      </p:sp>
      <p:sp>
        <p:nvSpPr>
          <p:cNvPr id="7" name="TextBox 6"/>
          <p:cNvSpPr txBox="1"/>
          <p:nvPr/>
        </p:nvSpPr>
        <p:spPr>
          <a:xfrm>
            <a:off x="621792" y="1298448"/>
            <a:ext cx="3657600" cy="201168"/>
          </a:xfrm>
          <a:prstGeom prst="rect">
            <a:avLst/>
          </a:prstGeom>
          <a:noFill/>
        </p:spPr>
        <p:txBody>
          <a:bodyPr wrap="square">
            <a:spAutoFit/>
          </a:bodyPr>
          <a:lstStyle/>
          <a:p>
            <a:pPr algn="l"/>
            <a:r>
              <a:rPr sz="1000" b="0" i="0">
                <a:solidFill>
                  <a:srgbClr val="94A3B8"/>
                </a:solidFill>
                <a:latin typeface="Calibri"/>
              </a:rPr>
              <a:t>Domain warming + inbox placement</a:t>
            </a:r>
          </a:p>
        </p:txBody>
      </p:sp>
      <p:sp>
        <p:nvSpPr>
          <p:cNvPr id="8" name="TextBox 7"/>
          <p:cNvSpPr txBox="1"/>
          <p:nvPr/>
        </p:nvSpPr>
        <p:spPr>
          <a:xfrm>
            <a:off x="4297680" y="1161288"/>
            <a:ext cx="1280160" cy="256032"/>
          </a:xfrm>
          <a:prstGeom prst="rect">
            <a:avLst/>
          </a:prstGeom>
          <a:noFill/>
        </p:spPr>
        <p:txBody>
          <a:bodyPr wrap="square">
            <a:spAutoFit/>
          </a:bodyPr>
          <a:lstStyle/>
          <a:p>
            <a:pPr algn="r"/>
            <a:r>
              <a:rPr sz="1300" b="1" i="0">
                <a:solidFill>
                  <a:srgbClr val="F87171"/>
                </a:solidFill>
                <a:latin typeface="Calibri"/>
              </a:rPr>
              <a:t>$97 / mo</a:t>
            </a:r>
          </a:p>
        </p:txBody>
      </p:sp>
      <p:sp>
        <p:nvSpPr>
          <p:cNvPr id="9" name="Rectangle 8"/>
          <p:cNvSpPr/>
          <p:nvPr/>
        </p:nvSpPr>
        <p:spPr>
          <a:xfrm>
            <a:off x="457200" y="1645920"/>
            <a:ext cx="5212080" cy="530352"/>
          </a:xfrm>
          <a:prstGeom prst="rect">
            <a:avLst/>
          </a:prstGeom>
          <a:solidFill>
            <a:srgbClr val="3D1A1A"/>
          </a:solidFill>
          <a:ln w="6350">
            <a:solidFill>
              <a:srgbClr val="6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709928"/>
            <a:ext cx="3657600" cy="219456"/>
          </a:xfrm>
          <a:prstGeom prst="rect">
            <a:avLst/>
          </a:prstGeom>
          <a:noFill/>
        </p:spPr>
        <p:txBody>
          <a:bodyPr wrap="square">
            <a:spAutoFit/>
          </a:bodyPr>
          <a:lstStyle/>
          <a:p>
            <a:pPr algn="l"/>
            <a:r>
              <a:rPr sz="1200" b="1" i="0">
                <a:solidFill>
                  <a:srgbClr val="F1F5F9"/>
                </a:solidFill>
                <a:latin typeface="Calibri"/>
              </a:rPr>
              <a:t>Apollo.io + Clay</a:t>
            </a:r>
          </a:p>
        </p:txBody>
      </p:sp>
      <p:sp>
        <p:nvSpPr>
          <p:cNvPr id="11" name="TextBox 10"/>
          <p:cNvSpPr txBox="1"/>
          <p:nvPr/>
        </p:nvSpPr>
        <p:spPr>
          <a:xfrm>
            <a:off x="621792" y="1920240"/>
            <a:ext cx="3657600" cy="201168"/>
          </a:xfrm>
          <a:prstGeom prst="rect">
            <a:avLst/>
          </a:prstGeom>
          <a:noFill/>
        </p:spPr>
        <p:txBody>
          <a:bodyPr wrap="square">
            <a:spAutoFit/>
          </a:bodyPr>
          <a:lstStyle/>
          <a:p>
            <a:pPr algn="l"/>
            <a:r>
              <a:rPr sz="1000" b="0" i="0">
                <a:solidFill>
                  <a:srgbClr val="94A3B8"/>
                </a:solidFill>
                <a:latin typeface="Calibri"/>
              </a:rPr>
              <a:t>Contact lists + data enrichment</a:t>
            </a:r>
          </a:p>
        </p:txBody>
      </p:sp>
      <p:sp>
        <p:nvSpPr>
          <p:cNvPr id="12" name="TextBox 11"/>
          <p:cNvSpPr txBox="1"/>
          <p:nvPr/>
        </p:nvSpPr>
        <p:spPr>
          <a:xfrm>
            <a:off x="4297680" y="1783080"/>
            <a:ext cx="1280160" cy="256032"/>
          </a:xfrm>
          <a:prstGeom prst="rect">
            <a:avLst/>
          </a:prstGeom>
          <a:noFill/>
        </p:spPr>
        <p:txBody>
          <a:bodyPr wrap="square">
            <a:spAutoFit/>
          </a:bodyPr>
          <a:lstStyle/>
          <a:p>
            <a:pPr algn="r"/>
            <a:r>
              <a:rPr sz="1300" b="1" i="0">
                <a:solidFill>
                  <a:srgbClr val="F87171"/>
                </a:solidFill>
                <a:latin typeface="Calibri"/>
              </a:rPr>
              <a:t>$149 / mo</a:t>
            </a:r>
          </a:p>
        </p:txBody>
      </p:sp>
      <p:sp>
        <p:nvSpPr>
          <p:cNvPr id="13" name="Rectangle 12"/>
          <p:cNvSpPr/>
          <p:nvPr/>
        </p:nvSpPr>
        <p:spPr>
          <a:xfrm>
            <a:off x="457200" y="2267712"/>
            <a:ext cx="5212080" cy="530352"/>
          </a:xfrm>
          <a:prstGeom prst="rect">
            <a:avLst/>
          </a:prstGeom>
          <a:solidFill>
            <a:srgbClr val="3D1A1A"/>
          </a:solidFill>
          <a:ln w="6350">
            <a:solidFill>
              <a:srgbClr val="6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331720"/>
            <a:ext cx="3657600" cy="219456"/>
          </a:xfrm>
          <a:prstGeom prst="rect">
            <a:avLst/>
          </a:prstGeom>
          <a:noFill/>
        </p:spPr>
        <p:txBody>
          <a:bodyPr wrap="square">
            <a:spAutoFit/>
          </a:bodyPr>
          <a:lstStyle/>
          <a:p>
            <a:pPr algn="l"/>
            <a:r>
              <a:rPr sz="1200" b="1" i="0">
                <a:solidFill>
                  <a:srgbClr val="F1F5F9"/>
                </a:solidFill>
                <a:latin typeface="Calibri"/>
              </a:rPr>
              <a:t>LinkedIn Sales Navigator</a:t>
            </a:r>
          </a:p>
        </p:txBody>
      </p:sp>
      <p:sp>
        <p:nvSpPr>
          <p:cNvPr id="15" name="TextBox 14"/>
          <p:cNvSpPr txBox="1"/>
          <p:nvPr/>
        </p:nvSpPr>
        <p:spPr>
          <a:xfrm>
            <a:off x="621792" y="2542032"/>
            <a:ext cx="3657600" cy="201168"/>
          </a:xfrm>
          <a:prstGeom prst="rect">
            <a:avLst/>
          </a:prstGeom>
          <a:noFill/>
        </p:spPr>
        <p:txBody>
          <a:bodyPr wrap="square">
            <a:spAutoFit/>
          </a:bodyPr>
          <a:lstStyle/>
          <a:p>
            <a:pPr algn="l"/>
            <a:r>
              <a:rPr sz="1000" b="0" i="0">
                <a:solidFill>
                  <a:srgbClr val="94A3B8"/>
                </a:solidFill>
                <a:latin typeface="Calibri"/>
              </a:rPr>
              <a:t>Prospecting + InMail credits</a:t>
            </a:r>
          </a:p>
        </p:txBody>
      </p:sp>
      <p:sp>
        <p:nvSpPr>
          <p:cNvPr id="16" name="TextBox 15"/>
          <p:cNvSpPr txBox="1"/>
          <p:nvPr/>
        </p:nvSpPr>
        <p:spPr>
          <a:xfrm>
            <a:off x="4297680" y="2404872"/>
            <a:ext cx="1280160" cy="256032"/>
          </a:xfrm>
          <a:prstGeom prst="rect">
            <a:avLst/>
          </a:prstGeom>
          <a:noFill/>
        </p:spPr>
        <p:txBody>
          <a:bodyPr wrap="square">
            <a:spAutoFit/>
          </a:bodyPr>
          <a:lstStyle/>
          <a:p>
            <a:pPr algn="r"/>
            <a:r>
              <a:rPr sz="1300" b="1" i="0">
                <a:solidFill>
                  <a:srgbClr val="F87171"/>
                </a:solidFill>
                <a:latin typeface="Calibri"/>
              </a:rPr>
              <a:t>$80 / mo</a:t>
            </a:r>
          </a:p>
        </p:txBody>
      </p:sp>
      <p:sp>
        <p:nvSpPr>
          <p:cNvPr id="17" name="Rectangle 16"/>
          <p:cNvSpPr/>
          <p:nvPr/>
        </p:nvSpPr>
        <p:spPr>
          <a:xfrm>
            <a:off x="457200" y="2889504"/>
            <a:ext cx="5212080" cy="530352"/>
          </a:xfrm>
          <a:prstGeom prst="rect">
            <a:avLst/>
          </a:prstGeom>
          <a:solidFill>
            <a:srgbClr val="3D1A1A"/>
          </a:solidFill>
          <a:ln w="6350">
            <a:solidFill>
              <a:srgbClr val="6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2953512"/>
            <a:ext cx="3657600" cy="219456"/>
          </a:xfrm>
          <a:prstGeom prst="rect">
            <a:avLst/>
          </a:prstGeom>
          <a:noFill/>
        </p:spPr>
        <p:txBody>
          <a:bodyPr wrap="square">
            <a:spAutoFit/>
          </a:bodyPr>
          <a:lstStyle/>
          <a:p>
            <a:pPr algn="l"/>
            <a:r>
              <a:rPr sz="1200" b="1" i="0">
                <a:solidFill>
                  <a:srgbClr val="F1F5F9"/>
                </a:solidFill>
                <a:latin typeface="Calibri"/>
              </a:rPr>
              <a:t>AI Copywriting (Lavender etc.)</a:t>
            </a:r>
          </a:p>
        </p:txBody>
      </p:sp>
      <p:sp>
        <p:nvSpPr>
          <p:cNvPr id="19" name="TextBox 18"/>
          <p:cNvSpPr txBox="1"/>
          <p:nvPr/>
        </p:nvSpPr>
        <p:spPr>
          <a:xfrm>
            <a:off x="621792" y="3163824"/>
            <a:ext cx="3657600" cy="201168"/>
          </a:xfrm>
          <a:prstGeom prst="rect">
            <a:avLst/>
          </a:prstGeom>
          <a:noFill/>
        </p:spPr>
        <p:txBody>
          <a:bodyPr wrap="square">
            <a:spAutoFit/>
          </a:bodyPr>
          <a:lstStyle/>
          <a:p>
            <a:pPr algn="l"/>
            <a:r>
              <a:rPr sz="1000" b="0" i="0">
                <a:solidFill>
                  <a:srgbClr val="94A3B8"/>
                </a:solidFill>
                <a:latin typeface="Calibri"/>
              </a:rPr>
              <a:t>Personalised subject lines + A/B tests</a:t>
            </a:r>
          </a:p>
        </p:txBody>
      </p:sp>
      <p:sp>
        <p:nvSpPr>
          <p:cNvPr id="20" name="TextBox 19"/>
          <p:cNvSpPr txBox="1"/>
          <p:nvPr/>
        </p:nvSpPr>
        <p:spPr>
          <a:xfrm>
            <a:off x="4297680" y="3026664"/>
            <a:ext cx="1280160" cy="256032"/>
          </a:xfrm>
          <a:prstGeom prst="rect">
            <a:avLst/>
          </a:prstGeom>
          <a:noFill/>
        </p:spPr>
        <p:txBody>
          <a:bodyPr wrap="square">
            <a:spAutoFit/>
          </a:bodyPr>
          <a:lstStyle/>
          <a:p>
            <a:pPr algn="r"/>
            <a:r>
              <a:rPr sz="1300" b="1" i="0">
                <a:solidFill>
                  <a:srgbClr val="F87171"/>
                </a:solidFill>
                <a:latin typeface="Calibri"/>
              </a:rPr>
              <a:t>$49 / mo</a:t>
            </a:r>
          </a:p>
        </p:txBody>
      </p:sp>
      <p:sp>
        <p:nvSpPr>
          <p:cNvPr id="21" name="Rectangle 20"/>
          <p:cNvSpPr/>
          <p:nvPr/>
        </p:nvSpPr>
        <p:spPr>
          <a:xfrm>
            <a:off x="457200" y="3511296"/>
            <a:ext cx="5212080" cy="530352"/>
          </a:xfrm>
          <a:prstGeom prst="rect">
            <a:avLst/>
          </a:prstGeom>
          <a:solidFill>
            <a:srgbClr val="451212"/>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3639312"/>
            <a:ext cx="3200400" cy="256032"/>
          </a:xfrm>
          <a:prstGeom prst="rect">
            <a:avLst/>
          </a:prstGeom>
          <a:noFill/>
        </p:spPr>
        <p:txBody>
          <a:bodyPr wrap="square">
            <a:spAutoFit/>
          </a:bodyPr>
          <a:lstStyle/>
          <a:p>
            <a:pPr algn="l"/>
            <a:r>
              <a:rPr sz="1300" b="1" i="0">
                <a:solidFill>
                  <a:srgbClr val="F1F5F9"/>
                </a:solidFill>
                <a:latin typeface="Calibri"/>
              </a:rPr>
              <a:t>Total monthly spend</a:t>
            </a:r>
          </a:p>
        </p:txBody>
      </p:sp>
      <p:sp>
        <p:nvSpPr>
          <p:cNvPr id="23" name="TextBox 22"/>
          <p:cNvSpPr txBox="1"/>
          <p:nvPr/>
        </p:nvSpPr>
        <p:spPr>
          <a:xfrm>
            <a:off x="4114800" y="3602736"/>
            <a:ext cx="1463040" cy="329184"/>
          </a:xfrm>
          <a:prstGeom prst="rect">
            <a:avLst/>
          </a:prstGeom>
          <a:noFill/>
        </p:spPr>
        <p:txBody>
          <a:bodyPr wrap="square">
            <a:spAutoFit/>
          </a:bodyPr>
          <a:lstStyle/>
          <a:p>
            <a:pPr algn="r"/>
            <a:r>
              <a:rPr sz="1800" b="1" i="0">
                <a:solidFill>
                  <a:srgbClr val="F87171"/>
                </a:solidFill>
                <a:latin typeface="Calibri"/>
              </a:rPr>
              <a:t>$375 / mo</a:t>
            </a:r>
          </a:p>
        </p:txBody>
      </p:sp>
      <p:sp>
        <p:nvSpPr>
          <p:cNvPr id="24" name="TextBox 23"/>
          <p:cNvSpPr txBox="1"/>
          <p:nvPr/>
        </p:nvSpPr>
        <p:spPr>
          <a:xfrm>
            <a:off x="6126480" y="841248"/>
            <a:ext cx="3657600" cy="228600"/>
          </a:xfrm>
          <a:prstGeom prst="rect">
            <a:avLst/>
          </a:prstGeom>
          <a:noFill/>
        </p:spPr>
        <p:txBody>
          <a:bodyPr wrap="square">
            <a:spAutoFit/>
          </a:bodyPr>
          <a:lstStyle/>
          <a:p>
            <a:pPr algn="l"/>
            <a:r>
              <a:rPr sz="900" b="1" i="0">
                <a:solidFill>
                  <a:srgbClr val="2DB89E"/>
                </a:solidFill>
                <a:latin typeface="Calibri"/>
              </a:rPr>
              <a:t>WHAT $375/MONTH BUYS YOU</a:t>
            </a:r>
          </a:p>
        </p:txBody>
      </p:sp>
      <p:sp>
        <p:nvSpPr>
          <p:cNvPr id="25" name="Rectangle 24"/>
          <p:cNvSpPr/>
          <p:nvPr/>
        </p:nvSpPr>
        <p:spPr>
          <a:xfrm>
            <a:off x="6126480" y="1024128"/>
            <a:ext cx="5577840" cy="3950208"/>
          </a:xfrm>
          <a:prstGeom prst="rect">
            <a:avLst/>
          </a:prstGeom>
          <a:solidFill>
            <a:srgbClr val="3D1A1A"/>
          </a:solidFill>
          <a:ln w="6350">
            <a:solidFill>
              <a:srgbClr val="6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170432"/>
            <a:ext cx="3657600" cy="201168"/>
          </a:xfrm>
          <a:prstGeom prst="rect">
            <a:avLst/>
          </a:prstGeom>
          <a:noFill/>
        </p:spPr>
        <p:txBody>
          <a:bodyPr wrap="square">
            <a:spAutoFit/>
          </a:bodyPr>
          <a:lstStyle/>
          <a:p>
            <a:pPr algn="l"/>
            <a:r>
              <a:rPr sz="1050" b="0" i="0">
                <a:solidFill>
                  <a:srgbClr val="94A3B8"/>
                </a:solidFill>
                <a:latin typeface="Calibri"/>
              </a:rPr>
              <a:t>Cold Email (after 90 days warming)</a:t>
            </a:r>
          </a:p>
        </p:txBody>
      </p:sp>
      <p:sp>
        <p:nvSpPr>
          <p:cNvPr id="27" name="TextBox 26"/>
          <p:cNvSpPr txBox="1"/>
          <p:nvPr/>
        </p:nvSpPr>
        <p:spPr>
          <a:xfrm>
            <a:off x="10789920" y="1170432"/>
            <a:ext cx="731520" cy="201168"/>
          </a:xfrm>
          <a:prstGeom prst="rect">
            <a:avLst/>
          </a:prstGeom>
          <a:noFill/>
        </p:spPr>
        <p:txBody>
          <a:bodyPr wrap="square">
            <a:spAutoFit/>
          </a:bodyPr>
          <a:lstStyle/>
          <a:p>
            <a:pPr algn="r"/>
            <a:r>
              <a:rPr sz="1050" b="1" i="0">
                <a:solidFill>
                  <a:srgbClr val="F87171"/>
                </a:solidFill>
                <a:latin typeface="Calibri"/>
              </a:rPr>
              <a:t>&lt;2%</a:t>
            </a:r>
          </a:p>
        </p:txBody>
      </p:sp>
      <p:sp>
        <p:nvSpPr>
          <p:cNvPr id="28" name="Rectangle 27"/>
          <p:cNvSpPr/>
          <p:nvPr/>
        </p:nvSpPr>
        <p:spPr>
          <a:xfrm>
            <a:off x="6309360" y="1389888"/>
            <a:ext cx="5212080" cy="91440"/>
          </a:xfrm>
          <a:prstGeom prst="rect">
            <a:avLst/>
          </a:prstGeom>
          <a:solidFill>
            <a:srgbClr val="2A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1389888"/>
            <a:ext cx="109728" cy="9144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1572768"/>
            <a:ext cx="3657600" cy="201168"/>
          </a:xfrm>
          <a:prstGeom prst="rect">
            <a:avLst/>
          </a:prstGeom>
          <a:noFill/>
        </p:spPr>
        <p:txBody>
          <a:bodyPr wrap="square">
            <a:spAutoFit/>
          </a:bodyPr>
          <a:lstStyle/>
          <a:p>
            <a:pPr algn="l"/>
            <a:r>
              <a:rPr sz="1050" b="0" i="0">
                <a:solidFill>
                  <a:srgbClr val="94A3B8"/>
                </a:solidFill>
                <a:latin typeface="Calibri"/>
              </a:rPr>
              <a:t>Warm Intro (first-degree referral)</a:t>
            </a:r>
          </a:p>
        </p:txBody>
      </p:sp>
      <p:sp>
        <p:nvSpPr>
          <p:cNvPr id="31" name="TextBox 30"/>
          <p:cNvSpPr txBox="1"/>
          <p:nvPr/>
        </p:nvSpPr>
        <p:spPr>
          <a:xfrm>
            <a:off x="10789920" y="1572768"/>
            <a:ext cx="731520" cy="201168"/>
          </a:xfrm>
          <a:prstGeom prst="rect">
            <a:avLst/>
          </a:prstGeom>
          <a:noFill/>
        </p:spPr>
        <p:txBody>
          <a:bodyPr wrap="square">
            <a:spAutoFit/>
          </a:bodyPr>
          <a:lstStyle/>
          <a:p>
            <a:pPr algn="r"/>
            <a:r>
              <a:rPr sz="1050" b="1" i="0">
                <a:solidFill>
                  <a:srgbClr val="2DB89E"/>
                </a:solidFill>
                <a:latin typeface="Calibri"/>
              </a:rPr>
              <a:t>~18%</a:t>
            </a:r>
          </a:p>
        </p:txBody>
      </p:sp>
      <p:sp>
        <p:nvSpPr>
          <p:cNvPr id="32" name="Rectangle 31"/>
          <p:cNvSpPr/>
          <p:nvPr/>
        </p:nvSpPr>
        <p:spPr>
          <a:xfrm>
            <a:off x="6309360" y="1792224"/>
            <a:ext cx="5212080" cy="91440"/>
          </a:xfrm>
          <a:prstGeom prst="rect">
            <a:avLst/>
          </a:prstGeom>
          <a:solidFill>
            <a:srgbClr val="102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1792224"/>
            <a:ext cx="932688" cy="91440"/>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0" y="2011680"/>
            <a:ext cx="2286000" cy="685800"/>
          </a:xfrm>
          <a:prstGeom prst="rect">
            <a:avLst/>
          </a:prstGeom>
          <a:noFill/>
        </p:spPr>
        <p:txBody>
          <a:bodyPr wrap="square">
            <a:spAutoFit/>
          </a:bodyPr>
          <a:lstStyle/>
          <a:p>
            <a:pPr algn="ctr"/>
            <a:r>
              <a:rPr sz="5400" b="1" i="0">
                <a:solidFill>
                  <a:srgbClr val="F87171"/>
                </a:solidFill>
                <a:latin typeface="Calibri"/>
              </a:rPr>
              <a:t>9×</a:t>
            </a:r>
          </a:p>
        </p:txBody>
      </p:sp>
      <p:sp>
        <p:nvSpPr>
          <p:cNvPr id="35" name="TextBox 34"/>
          <p:cNvSpPr txBox="1"/>
          <p:nvPr/>
        </p:nvSpPr>
        <p:spPr>
          <a:xfrm>
            <a:off x="6309360" y="2743200"/>
            <a:ext cx="5212080" cy="274320"/>
          </a:xfrm>
          <a:prstGeom prst="rect">
            <a:avLst/>
          </a:prstGeom>
          <a:noFill/>
        </p:spPr>
        <p:txBody>
          <a:bodyPr wrap="square">
            <a:spAutoFit/>
          </a:bodyPr>
          <a:lstStyle/>
          <a:p>
            <a:pPr algn="ctr"/>
            <a:r>
              <a:rPr sz="1200" b="1" i="0">
                <a:solidFill>
                  <a:srgbClr val="F1F5F9"/>
                </a:solidFill>
                <a:latin typeface="Calibri"/>
              </a:rPr>
              <a:t>more replies with a warm intro — zero cold email spend</a:t>
            </a:r>
          </a:p>
        </p:txBody>
      </p:sp>
      <p:sp>
        <p:nvSpPr>
          <p:cNvPr id="36" name="TextBox 35"/>
          <p:cNvSpPr txBox="1"/>
          <p:nvPr/>
        </p:nvSpPr>
        <p:spPr>
          <a:xfrm>
            <a:off x="6309360" y="3063240"/>
            <a:ext cx="5212080" cy="411480"/>
          </a:xfrm>
          <a:prstGeom prst="rect">
            <a:avLst/>
          </a:prstGeom>
          <a:noFill/>
        </p:spPr>
        <p:txBody>
          <a:bodyPr wrap="square">
            <a:spAutoFit/>
          </a:bodyPr>
          <a:lstStyle/>
          <a:p>
            <a:pPr algn="ctr"/>
            <a:r>
              <a:rPr sz="1050" b="0" i="0">
                <a:solidFill>
                  <a:srgbClr val="94A3B8"/>
                </a:solidFill>
                <a:latin typeface="Calibri"/>
              </a:rPr>
              <a:t>Gmail bulk-sender rules tightened. AI spam filters learn fast.
Domains burn in weeks. The tools aren't the problem.</a:t>
            </a:r>
          </a:p>
        </p:txBody>
      </p:sp>
      <p:sp>
        <p:nvSpPr>
          <p:cNvPr id="37" name="Rectangle 36"/>
          <p:cNvSpPr/>
          <p:nvPr/>
        </p:nvSpPr>
        <p:spPr>
          <a:xfrm>
            <a:off x="6126480" y="5074920"/>
            <a:ext cx="5577840" cy="685800"/>
          </a:xfrm>
          <a:prstGeom prst="rect">
            <a:avLst/>
          </a:prstGeom>
          <a:solidFill>
            <a:srgbClr val="0D362E"/>
          </a:solidFill>
          <a:ln w="9525">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166360"/>
            <a:ext cx="5303520" cy="237744"/>
          </a:xfrm>
          <a:prstGeom prst="rect">
            <a:avLst/>
          </a:prstGeom>
          <a:noFill/>
        </p:spPr>
        <p:txBody>
          <a:bodyPr wrap="square">
            <a:spAutoFit/>
          </a:bodyPr>
          <a:lstStyle/>
          <a:p>
            <a:pPr algn="l"/>
            <a:r>
              <a:rPr sz="1200" b="1" i="0">
                <a:solidFill>
                  <a:srgbClr val="F1F5F9"/>
                </a:solidFill>
                <a:latin typeface="Calibri"/>
              </a:rPr>
              <a:t>Email warming treats the symptom.</a:t>
            </a:r>
          </a:p>
        </p:txBody>
      </p:sp>
      <p:sp>
        <p:nvSpPr>
          <p:cNvPr id="39" name="TextBox 38"/>
          <p:cNvSpPr txBox="1"/>
          <p:nvPr/>
        </p:nvSpPr>
        <p:spPr>
          <a:xfrm>
            <a:off x="6309360" y="5422392"/>
            <a:ext cx="5303520" cy="274320"/>
          </a:xfrm>
          <a:prstGeom prst="rect">
            <a:avLst/>
          </a:prstGeom>
          <a:noFill/>
        </p:spPr>
        <p:txBody>
          <a:bodyPr wrap="square">
            <a:spAutoFit/>
          </a:bodyPr>
          <a:lstStyle/>
          <a:p>
            <a:pPr algn="l"/>
            <a:r>
              <a:rPr sz="1050" b="0" i="0">
                <a:solidFill>
                  <a:srgbClr val="94A3B8"/>
                </a:solidFill>
                <a:latin typeface="Calibri"/>
              </a:rPr>
              <a:t>The disease is cold outreach itself. Nobody wants email from strangers. The fix isn't better warming. The fix is never sending cold email.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TextBox 1"/>
          <p:cNvSpPr txBox="1"/>
          <p:nvPr/>
        </p:nvSpPr>
        <p:spPr>
          <a:xfrm>
            <a:off x="3657600" y="502920"/>
            <a:ext cx="5486400" cy="228600"/>
          </a:xfrm>
          <a:prstGeom prst="rect">
            <a:avLst/>
          </a:prstGeom>
          <a:noFill/>
        </p:spPr>
        <p:txBody>
          <a:bodyPr wrap="square">
            <a:spAutoFit/>
          </a:bodyPr>
          <a:lstStyle/>
          <a:p>
            <a:pPr algn="l"/>
            <a:r>
              <a:rPr sz="900" b="1" i="0">
                <a:solidFill>
                  <a:srgbClr val="2DB89E"/>
                </a:solidFill>
                <a:latin typeface="Calibri"/>
              </a:rPr>
              <a:t>THE FUNDAMENTAL SHIFT</a:t>
            </a:r>
          </a:p>
        </p:txBody>
      </p:sp>
      <p:sp>
        <p:nvSpPr>
          <p:cNvPr id="3" name="TextBox 2"/>
          <p:cNvSpPr txBox="1"/>
          <p:nvPr/>
        </p:nvSpPr>
        <p:spPr>
          <a:xfrm>
            <a:off x="2286000" y="804672"/>
            <a:ext cx="7616952" cy="1828800"/>
          </a:xfrm>
          <a:prstGeom prst="rect">
            <a:avLst/>
          </a:prstGeom>
          <a:noFill/>
        </p:spPr>
        <p:txBody>
          <a:bodyPr wrap="square">
            <a:spAutoFit/>
          </a:bodyPr>
          <a:lstStyle/>
          <a:p>
            <a:pPr algn="ctr"/>
            <a:r>
              <a:rPr sz="10800" b="1" i="0">
                <a:solidFill>
                  <a:srgbClr val="2DB89E"/>
                </a:solidFill>
                <a:latin typeface="Calibri Light"/>
              </a:rPr>
              <a:t>70%</a:t>
            </a:r>
          </a:p>
        </p:txBody>
      </p:sp>
      <p:sp>
        <p:nvSpPr>
          <p:cNvPr id="4" name="TextBox 3"/>
          <p:cNvSpPr txBox="1"/>
          <p:nvPr/>
        </p:nvSpPr>
        <p:spPr>
          <a:xfrm>
            <a:off x="2011680" y="2697480"/>
            <a:ext cx="8138160" cy="640080"/>
          </a:xfrm>
          <a:prstGeom prst="rect">
            <a:avLst/>
          </a:prstGeom>
          <a:noFill/>
        </p:spPr>
        <p:txBody>
          <a:bodyPr wrap="square">
            <a:spAutoFit/>
          </a:bodyPr>
          <a:lstStyle/>
          <a:p>
            <a:pPr algn="ctr"/>
            <a:r>
              <a:rPr sz="2600" b="1" i="0">
                <a:solidFill>
                  <a:srgbClr val="F1F5F9"/>
                </a:solidFill>
                <a:latin typeface="Calibri"/>
              </a:rPr>
              <a:t>of enterprise deals close through a warm introduction, not a cold email.</a:t>
            </a:r>
          </a:p>
        </p:txBody>
      </p:sp>
      <p:sp>
        <p:nvSpPr>
          <p:cNvPr id="5" name="TextBox 4"/>
          <p:cNvSpPr txBox="1"/>
          <p:nvPr/>
        </p:nvSpPr>
        <p:spPr>
          <a:xfrm>
            <a:off x="2743200" y="3401568"/>
            <a:ext cx="6702552" cy="274320"/>
          </a:xfrm>
          <a:prstGeom prst="rect">
            <a:avLst/>
          </a:prstGeom>
          <a:noFill/>
        </p:spPr>
        <p:txBody>
          <a:bodyPr wrap="square">
            <a:spAutoFit/>
          </a:bodyPr>
          <a:lstStyle/>
          <a:p>
            <a:pPr algn="ctr"/>
            <a:r>
              <a:rPr sz="1000" b="0" i="0">
                <a:solidFill>
                  <a:srgbClr val="94A3B8"/>
                </a:solidFill>
                <a:latin typeface="Calibri"/>
              </a:rPr>
              <a:t>FORRESTER RESEARCH + HUBSPOT STATE OF SALES, 2025</a:t>
            </a:r>
          </a:p>
        </p:txBody>
      </p:sp>
      <p:sp>
        <p:nvSpPr>
          <p:cNvPr id="6" name="Rectangle 5"/>
          <p:cNvSpPr/>
          <p:nvPr/>
        </p:nvSpPr>
        <p:spPr>
          <a:xfrm>
            <a:off x="1371600" y="3794760"/>
            <a:ext cx="4160520" cy="749808"/>
          </a:xfrm>
          <a:prstGeom prst="rect">
            <a:avLst/>
          </a:prstGeom>
          <a:solidFill>
            <a:srgbClr val="3D1A1A"/>
          </a:solidFill>
          <a:ln w="6350">
            <a:solidFill>
              <a:srgbClr val="6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56832" y="3794760"/>
            <a:ext cx="4160520" cy="749808"/>
          </a:xfrm>
          <a:prstGeom prst="rect">
            <a:avLst/>
          </a:prstGeom>
          <a:solidFill>
            <a:srgbClr val="0D362E"/>
          </a:solidFill>
          <a:ln w="9525">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89904" y="3794760"/>
            <a:ext cx="9144" cy="749808"/>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895344"/>
            <a:ext cx="4160520" cy="219456"/>
          </a:xfrm>
          <a:prstGeom prst="rect">
            <a:avLst/>
          </a:prstGeom>
          <a:noFill/>
        </p:spPr>
        <p:txBody>
          <a:bodyPr wrap="square">
            <a:spAutoFit/>
          </a:bodyPr>
          <a:lstStyle/>
          <a:p>
            <a:pPr algn="ctr"/>
            <a:r>
              <a:rPr sz="900" b="1" i="0">
                <a:solidFill>
                  <a:srgbClr val="F87171"/>
                </a:solidFill>
                <a:latin typeface="Calibri"/>
              </a:rPr>
              <a:t>COLD OUTREACH</a:t>
            </a:r>
          </a:p>
        </p:txBody>
      </p:sp>
      <p:sp>
        <p:nvSpPr>
          <p:cNvPr id="10" name="TextBox 9"/>
          <p:cNvSpPr txBox="1"/>
          <p:nvPr/>
        </p:nvSpPr>
        <p:spPr>
          <a:xfrm>
            <a:off x="1371600" y="4142232"/>
            <a:ext cx="4160520" cy="274320"/>
          </a:xfrm>
          <a:prstGeom prst="rect">
            <a:avLst/>
          </a:prstGeom>
          <a:noFill/>
        </p:spPr>
        <p:txBody>
          <a:bodyPr wrap="square">
            <a:spAutoFit/>
          </a:bodyPr>
          <a:lstStyle/>
          <a:p>
            <a:pPr algn="ctr"/>
            <a:r>
              <a:rPr sz="1250" b="0" i="0">
                <a:solidFill>
                  <a:srgbClr val="94A3B8"/>
                </a:solidFill>
                <a:latin typeface="Calibri"/>
              </a:rPr>
              <a:t>You  ›  Inbox  ›  Spam / Ignored</a:t>
            </a:r>
          </a:p>
        </p:txBody>
      </p:sp>
      <p:sp>
        <p:nvSpPr>
          <p:cNvPr id="11" name="TextBox 10"/>
          <p:cNvSpPr txBox="1"/>
          <p:nvPr/>
        </p:nvSpPr>
        <p:spPr>
          <a:xfrm>
            <a:off x="6656832" y="3895344"/>
            <a:ext cx="4160520" cy="219456"/>
          </a:xfrm>
          <a:prstGeom prst="rect">
            <a:avLst/>
          </a:prstGeom>
          <a:noFill/>
        </p:spPr>
        <p:txBody>
          <a:bodyPr wrap="square">
            <a:spAutoFit/>
          </a:bodyPr>
          <a:lstStyle/>
          <a:p>
            <a:pPr algn="ctr"/>
            <a:r>
              <a:rPr sz="900" b="1" i="0">
                <a:solidFill>
                  <a:srgbClr val="2DB89E"/>
                </a:solidFill>
                <a:latin typeface="Calibri"/>
              </a:rPr>
              <a:t>WARM PATH</a:t>
            </a:r>
          </a:p>
        </p:txBody>
      </p:sp>
      <p:sp>
        <p:nvSpPr>
          <p:cNvPr id="12" name="TextBox 11"/>
          <p:cNvSpPr txBox="1"/>
          <p:nvPr/>
        </p:nvSpPr>
        <p:spPr>
          <a:xfrm>
            <a:off x="6656832" y="4142232"/>
            <a:ext cx="4160520" cy="274320"/>
          </a:xfrm>
          <a:prstGeom prst="rect">
            <a:avLst/>
          </a:prstGeom>
          <a:noFill/>
        </p:spPr>
        <p:txBody>
          <a:bodyPr wrap="square">
            <a:spAutoFit/>
          </a:bodyPr>
          <a:lstStyle/>
          <a:p>
            <a:pPr algn="ctr"/>
            <a:r>
              <a:rPr sz="1250" b="1" i="0">
                <a:solidFill>
                  <a:srgbClr val="2DB89E"/>
                </a:solidFill>
                <a:latin typeface="Calibri"/>
              </a:rPr>
              <a:t>You  ›  Mutual  ›  VP replies in 4 hrs  ✓</a:t>
            </a:r>
          </a:p>
        </p:txBody>
      </p:sp>
      <p:sp>
        <p:nvSpPr>
          <p:cNvPr id="13" name="TextBox 12"/>
          <p:cNvSpPr txBox="1"/>
          <p:nvPr/>
        </p:nvSpPr>
        <p:spPr>
          <a:xfrm>
            <a:off x="1828800" y="4754880"/>
            <a:ext cx="8531352" cy="548640"/>
          </a:xfrm>
          <a:prstGeom prst="rect">
            <a:avLst/>
          </a:prstGeom>
          <a:noFill/>
        </p:spPr>
        <p:txBody>
          <a:bodyPr wrap="square">
            <a:spAutoFit/>
          </a:bodyPr>
          <a:lstStyle/>
          <a:p>
            <a:pPr algn="ctr"/>
            <a:r>
              <a:rPr sz="1300" b="0" i="1">
                <a:solidFill>
                  <a:srgbClr val="94A3B8"/>
                </a:solidFill>
                <a:latin typeface="Calibri"/>
              </a:rPr>
              <a:t>The warm path exists inside every professional network.
The problem is finding it systematically and fast.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How WarmPath Solves It</a:t>
            </a:r>
          </a:p>
        </p:txBody>
      </p:sp>
      <p:sp>
        <p:nvSpPr>
          <p:cNvPr id="4" name="Rectangle 3"/>
          <p:cNvSpPr/>
          <p:nvPr/>
        </p:nvSpPr>
        <p:spPr>
          <a:xfrm>
            <a:off x="1399032" y="1188720"/>
            <a:ext cx="822960" cy="822960"/>
          </a:xfrm>
          <a:prstGeom prst="rect">
            <a:avLst/>
          </a:prstGeom>
          <a:solidFill>
            <a:srgbClr val="0D362E"/>
          </a:solidFill>
          <a:ln w="190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99032" y="1188720"/>
            <a:ext cx="822960" cy="822960"/>
          </a:xfrm>
          <a:prstGeom prst="rect">
            <a:avLst/>
          </a:prstGeom>
          <a:noFill/>
        </p:spPr>
        <p:txBody>
          <a:bodyPr wrap="square">
            <a:spAutoFit/>
          </a:bodyPr>
          <a:lstStyle/>
          <a:p>
            <a:pPr algn="ctr"/>
            <a:r>
              <a:rPr sz="2200" b="1" i="0">
                <a:solidFill>
                  <a:srgbClr val="2DB89E"/>
                </a:solidFill>
                <a:latin typeface="Calibri Light"/>
              </a:rPr>
              <a:t>1</a:t>
            </a:r>
          </a:p>
        </p:txBody>
      </p:sp>
      <p:sp>
        <p:nvSpPr>
          <p:cNvPr id="6" name="TextBox 5"/>
          <p:cNvSpPr txBox="1"/>
          <p:nvPr/>
        </p:nvSpPr>
        <p:spPr>
          <a:xfrm>
            <a:off x="594360" y="2212848"/>
            <a:ext cx="2514600" cy="228600"/>
          </a:xfrm>
          <a:prstGeom prst="rect">
            <a:avLst/>
          </a:prstGeom>
          <a:noFill/>
        </p:spPr>
        <p:txBody>
          <a:bodyPr wrap="square">
            <a:spAutoFit/>
          </a:bodyPr>
          <a:lstStyle/>
          <a:p>
            <a:pPr algn="l"/>
            <a:r>
              <a:rPr sz="900" b="1" i="0">
                <a:solidFill>
                  <a:srgbClr val="2DB89E"/>
                </a:solidFill>
                <a:latin typeface="Calibri"/>
              </a:rPr>
              <a:t>Step 1</a:t>
            </a:r>
          </a:p>
        </p:txBody>
      </p:sp>
      <p:sp>
        <p:nvSpPr>
          <p:cNvPr id="7" name="TextBox 6"/>
          <p:cNvSpPr txBox="1"/>
          <p:nvPr/>
        </p:nvSpPr>
        <p:spPr>
          <a:xfrm>
            <a:off x="594360" y="2432304"/>
            <a:ext cx="2514600" cy="594360"/>
          </a:xfrm>
          <a:prstGeom prst="rect">
            <a:avLst/>
          </a:prstGeom>
          <a:noFill/>
        </p:spPr>
        <p:txBody>
          <a:bodyPr wrap="square">
            <a:spAutoFit/>
          </a:bodyPr>
          <a:lstStyle/>
          <a:p>
            <a:pPr algn="l"/>
            <a:r>
              <a:rPr sz="1350" b="1" i="0">
                <a:solidFill>
                  <a:srgbClr val="F1F5F9"/>
                </a:solidFill>
                <a:latin typeface="Calibri"/>
              </a:rPr>
              <a:t>You want to reach Rahul at Zomato</a:t>
            </a:r>
          </a:p>
        </p:txBody>
      </p:sp>
      <p:sp>
        <p:nvSpPr>
          <p:cNvPr id="8" name="TextBox 7"/>
          <p:cNvSpPr txBox="1"/>
          <p:nvPr/>
        </p:nvSpPr>
        <p:spPr>
          <a:xfrm>
            <a:off x="594360" y="3127248"/>
            <a:ext cx="2514600" cy="594360"/>
          </a:xfrm>
          <a:prstGeom prst="rect">
            <a:avLst/>
          </a:prstGeom>
          <a:noFill/>
        </p:spPr>
        <p:txBody>
          <a:bodyPr wrap="square">
            <a:spAutoFit/>
          </a:bodyPr>
          <a:lstStyle/>
          <a:p>
            <a:pPr algn="l"/>
            <a:r>
              <a:rPr sz="1150" b="0" i="0">
                <a:solidFill>
                  <a:srgbClr val="94A3B8"/>
                </a:solidFill>
                <a:latin typeface="Calibri"/>
              </a:rPr>
              <a:t>Enter the prospect.
WarmPath takes it from here.</a:t>
            </a:r>
          </a:p>
        </p:txBody>
      </p:sp>
      <p:sp>
        <p:nvSpPr>
          <p:cNvPr id="9" name="TextBox 8"/>
          <p:cNvSpPr txBox="1"/>
          <p:nvPr/>
        </p:nvSpPr>
        <p:spPr>
          <a:xfrm>
            <a:off x="3218688" y="1115568"/>
            <a:ext cx="384048" cy="594360"/>
          </a:xfrm>
          <a:prstGeom prst="rect">
            <a:avLst/>
          </a:prstGeom>
          <a:noFill/>
        </p:spPr>
        <p:txBody>
          <a:bodyPr wrap="square">
            <a:spAutoFit/>
          </a:bodyPr>
          <a:lstStyle/>
          <a:p>
            <a:pPr algn="ctr"/>
            <a:r>
              <a:rPr sz="2400" b="0" i="0">
                <a:solidFill>
                  <a:srgbClr val="2DB89E"/>
                </a:solidFill>
                <a:latin typeface="Calibri"/>
              </a:rPr>
              <a:t>›</a:t>
            </a:r>
          </a:p>
        </p:txBody>
      </p:sp>
      <p:sp>
        <p:nvSpPr>
          <p:cNvPr id="10" name="Rectangle 9"/>
          <p:cNvSpPr/>
          <p:nvPr/>
        </p:nvSpPr>
        <p:spPr>
          <a:xfrm>
            <a:off x="4416552" y="1188720"/>
            <a:ext cx="822960" cy="822960"/>
          </a:xfrm>
          <a:prstGeom prst="rect">
            <a:avLst/>
          </a:prstGeom>
          <a:solidFill>
            <a:srgbClr val="0D362E"/>
          </a:solidFill>
          <a:ln w="190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6552" y="1188720"/>
            <a:ext cx="822960" cy="822960"/>
          </a:xfrm>
          <a:prstGeom prst="rect">
            <a:avLst/>
          </a:prstGeom>
          <a:noFill/>
        </p:spPr>
        <p:txBody>
          <a:bodyPr wrap="square">
            <a:spAutoFit/>
          </a:bodyPr>
          <a:lstStyle/>
          <a:p>
            <a:pPr algn="ctr"/>
            <a:r>
              <a:rPr sz="2200" b="1" i="0">
                <a:solidFill>
                  <a:srgbClr val="2DB89E"/>
                </a:solidFill>
                <a:latin typeface="Calibri Light"/>
              </a:rPr>
              <a:t>2</a:t>
            </a:r>
          </a:p>
        </p:txBody>
      </p:sp>
      <p:sp>
        <p:nvSpPr>
          <p:cNvPr id="12" name="TextBox 11"/>
          <p:cNvSpPr txBox="1"/>
          <p:nvPr/>
        </p:nvSpPr>
        <p:spPr>
          <a:xfrm>
            <a:off x="3611880" y="2212848"/>
            <a:ext cx="2514600" cy="228600"/>
          </a:xfrm>
          <a:prstGeom prst="rect">
            <a:avLst/>
          </a:prstGeom>
          <a:noFill/>
        </p:spPr>
        <p:txBody>
          <a:bodyPr wrap="square">
            <a:spAutoFit/>
          </a:bodyPr>
          <a:lstStyle/>
          <a:p>
            <a:pPr algn="l"/>
            <a:r>
              <a:rPr sz="900" b="1" i="0">
                <a:solidFill>
                  <a:srgbClr val="2DB89E"/>
                </a:solidFill>
                <a:latin typeface="Calibri"/>
              </a:rPr>
              <a:t>Step 2</a:t>
            </a:r>
          </a:p>
        </p:txBody>
      </p:sp>
      <p:sp>
        <p:nvSpPr>
          <p:cNvPr id="13" name="TextBox 12"/>
          <p:cNvSpPr txBox="1"/>
          <p:nvPr/>
        </p:nvSpPr>
        <p:spPr>
          <a:xfrm>
            <a:off x="3611880" y="2432304"/>
            <a:ext cx="2514600" cy="594360"/>
          </a:xfrm>
          <a:prstGeom prst="rect">
            <a:avLst/>
          </a:prstGeom>
          <a:noFill/>
        </p:spPr>
        <p:txBody>
          <a:bodyPr wrap="square">
            <a:spAutoFit/>
          </a:bodyPr>
          <a:lstStyle/>
          <a:p>
            <a:pPr algn="l"/>
            <a:r>
              <a:rPr sz="1350" b="1" i="0">
                <a:solidFill>
                  <a:srgbClr val="F1F5F9"/>
                </a:solidFill>
                <a:latin typeface="Calibri"/>
              </a:rPr>
              <a:t>WarmPath maps every connection</a:t>
            </a:r>
          </a:p>
        </p:txBody>
      </p:sp>
      <p:sp>
        <p:nvSpPr>
          <p:cNvPr id="14" name="TextBox 13"/>
          <p:cNvSpPr txBox="1"/>
          <p:nvPr/>
        </p:nvSpPr>
        <p:spPr>
          <a:xfrm>
            <a:off x="3611880" y="3127248"/>
            <a:ext cx="2514600" cy="594360"/>
          </a:xfrm>
          <a:prstGeom prst="rect">
            <a:avLst/>
          </a:prstGeom>
          <a:noFill/>
        </p:spPr>
        <p:txBody>
          <a:bodyPr wrap="square">
            <a:spAutoFit/>
          </a:bodyPr>
          <a:lstStyle/>
          <a:p>
            <a:pPr algn="l"/>
            <a:r>
              <a:rPr sz="1150" b="0" i="0">
                <a:solidFill>
                  <a:srgbClr val="94A3B8"/>
                </a:solidFill>
                <a:latin typeface="Calibri"/>
              </a:rPr>
              <a:t>LinkedIn, Gmail, alumni, investors.
Every connection graphed and scored.</a:t>
            </a:r>
          </a:p>
        </p:txBody>
      </p:sp>
      <p:sp>
        <p:nvSpPr>
          <p:cNvPr id="15" name="TextBox 14"/>
          <p:cNvSpPr txBox="1"/>
          <p:nvPr/>
        </p:nvSpPr>
        <p:spPr>
          <a:xfrm>
            <a:off x="6236208" y="1115568"/>
            <a:ext cx="384048" cy="594360"/>
          </a:xfrm>
          <a:prstGeom prst="rect">
            <a:avLst/>
          </a:prstGeom>
          <a:noFill/>
        </p:spPr>
        <p:txBody>
          <a:bodyPr wrap="square">
            <a:spAutoFit/>
          </a:bodyPr>
          <a:lstStyle/>
          <a:p>
            <a:pPr algn="ctr"/>
            <a:r>
              <a:rPr sz="2400" b="0" i="0">
                <a:solidFill>
                  <a:srgbClr val="2DB89E"/>
                </a:solidFill>
                <a:latin typeface="Calibri"/>
              </a:rPr>
              <a:t>›</a:t>
            </a:r>
          </a:p>
        </p:txBody>
      </p:sp>
      <p:sp>
        <p:nvSpPr>
          <p:cNvPr id="16" name="Rectangle 15"/>
          <p:cNvSpPr/>
          <p:nvPr/>
        </p:nvSpPr>
        <p:spPr>
          <a:xfrm>
            <a:off x="7434072" y="1188720"/>
            <a:ext cx="822960" cy="822960"/>
          </a:xfrm>
          <a:prstGeom prst="rect">
            <a:avLst/>
          </a:prstGeom>
          <a:solidFill>
            <a:srgbClr val="0D362E"/>
          </a:solidFill>
          <a:ln w="190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4072" y="1188720"/>
            <a:ext cx="822960" cy="822960"/>
          </a:xfrm>
          <a:prstGeom prst="rect">
            <a:avLst/>
          </a:prstGeom>
          <a:noFill/>
        </p:spPr>
        <p:txBody>
          <a:bodyPr wrap="square">
            <a:spAutoFit/>
          </a:bodyPr>
          <a:lstStyle/>
          <a:p>
            <a:pPr algn="ctr"/>
            <a:r>
              <a:rPr sz="2200" b="1" i="0">
                <a:solidFill>
                  <a:srgbClr val="2DB89E"/>
                </a:solidFill>
                <a:latin typeface="Calibri Light"/>
              </a:rPr>
              <a:t>3</a:t>
            </a:r>
          </a:p>
        </p:txBody>
      </p:sp>
      <p:sp>
        <p:nvSpPr>
          <p:cNvPr id="18" name="TextBox 17"/>
          <p:cNvSpPr txBox="1"/>
          <p:nvPr/>
        </p:nvSpPr>
        <p:spPr>
          <a:xfrm>
            <a:off x="6629400" y="2212848"/>
            <a:ext cx="2514600" cy="228600"/>
          </a:xfrm>
          <a:prstGeom prst="rect">
            <a:avLst/>
          </a:prstGeom>
          <a:noFill/>
        </p:spPr>
        <p:txBody>
          <a:bodyPr wrap="square">
            <a:spAutoFit/>
          </a:bodyPr>
          <a:lstStyle/>
          <a:p>
            <a:pPr algn="l"/>
            <a:r>
              <a:rPr sz="900" b="1" i="0">
                <a:solidFill>
                  <a:srgbClr val="2DB89E"/>
                </a:solidFill>
                <a:latin typeface="Calibri"/>
              </a:rPr>
              <a:t>Step 3</a:t>
            </a:r>
          </a:p>
        </p:txBody>
      </p:sp>
      <p:sp>
        <p:nvSpPr>
          <p:cNvPr id="19" name="TextBox 18"/>
          <p:cNvSpPr txBox="1"/>
          <p:nvPr/>
        </p:nvSpPr>
        <p:spPr>
          <a:xfrm>
            <a:off x="6629400" y="2432304"/>
            <a:ext cx="2514600" cy="594360"/>
          </a:xfrm>
          <a:prstGeom prst="rect">
            <a:avLst/>
          </a:prstGeom>
          <a:noFill/>
        </p:spPr>
        <p:txBody>
          <a:bodyPr wrap="square">
            <a:spAutoFit/>
          </a:bodyPr>
          <a:lstStyle/>
          <a:p>
            <a:pPr algn="l"/>
            <a:r>
              <a:rPr sz="1350" b="1" i="0">
                <a:solidFill>
                  <a:srgbClr val="F1F5F9"/>
                </a:solidFill>
                <a:latin typeface="Calibri"/>
              </a:rPr>
              <a:t>Priya knows Rahul
2 hops. 91% warmth.</a:t>
            </a:r>
          </a:p>
        </p:txBody>
      </p:sp>
      <p:sp>
        <p:nvSpPr>
          <p:cNvPr id="20" name="TextBox 19"/>
          <p:cNvSpPr txBox="1"/>
          <p:nvPr/>
        </p:nvSpPr>
        <p:spPr>
          <a:xfrm>
            <a:off x="6629400" y="3127248"/>
            <a:ext cx="2514600" cy="594360"/>
          </a:xfrm>
          <a:prstGeom prst="rect">
            <a:avLst/>
          </a:prstGeom>
          <a:noFill/>
        </p:spPr>
        <p:txBody>
          <a:bodyPr wrap="square">
            <a:spAutoFit/>
          </a:bodyPr>
          <a:lstStyle/>
          <a:p>
            <a:pPr algn="l"/>
            <a:r>
              <a:rPr sz="1150" b="0" i="0">
                <a:solidFill>
                  <a:srgbClr val="94A3B8"/>
                </a:solidFill>
                <a:latin typeface="Calibri"/>
              </a:rPr>
              <a:t>Best path ranked by warmth score.
You see exactly who to ask and why.</a:t>
            </a:r>
          </a:p>
        </p:txBody>
      </p:sp>
      <p:sp>
        <p:nvSpPr>
          <p:cNvPr id="21" name="TextBox 20"/>
          <p:cNvSpPr txBox="1"/>
          <p:nvPr/>
        </p:nvSpPr>
        <p:spPr>
          <a:xfrm>
            <a:off x="9253728" y="1115568"/>
            <a:ext cx="384048" cy="594360"/>
          </a:xfrm>
          <a:prstGeom prst="rect">
            <a:avLst/>
          </a:prstGeom>
          <a:noFill/>
        </p:spPr>
        <p:txBody>
          <a:bodyPr wrap="square">
            <a:spAutoFit/>
          </a:bodyPr>
          <a:lstStyle/>
          <a:p>
            <a:pPr algn="ctr"/>
            <a:r>
              <a:rPr sz="2400" b="0" i="0">
                <a:solidFill>
                  <a:srgbClr val="2DB89E"/>
                </a:solidFill>
                <a:latin typeface="Calibri"/>
              </a:rPr>
              <a:t>›</a:t>
            </a:r>
          </a:p>
        </p:txBody>
      </p:sp>
      <p:sp>
        <p:nvSpPr>
          <p:cNvPr id="22" name="Rectangle 21"/>
          <p:cNvSpPr/>
          <p:nvPr/>
        </p:nvSpPr>
        <p:spPr>
          <a:xfrm>
            <a:off x="10451592" y="1188720"/>
            <a:ext cx="822960" cy="822960"/>
          </a:xfrm>
          <a:prstGeom prst="rect">
            <a:avLst/>
          </a:prstGeom>
          <a:solidFill>
            <a:srgbClr val="2DB89E"/>
          </a:solidFill>
          <a:ln w="190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51592" y="1188720"/>
            <a:ext cx="822960" cy="822960"/>
          </a:xfrm>
          <a:prstGeom prst="rect">
            <a:avLst/>
          </a:prstGeom>
          <a:noFill/>
        </p:spPr>
        <p:txBody>
          <a:bodyPr wrap="square">
            <a:spAutoFit/>
          </a:bodyPr>
          <a:lstStyle/>
          <a:p>
            <a:pPr algn="ctr"/>
            <a:r>
              <a:rPr sz="2200" b="1" i="0">
                <a:solidFill>
                  <a:srgbClr val="0B1623"/>
                </a:solidFill>
                <a:latin typeface="Calibri Light"/>
              </a:rPr>
              <a:t>4</a:t>
            </a:r>
          </a:p>
        </p:txBody>
      </p:sp>
      <p:sp>
        <p:nvSpPr>
          <p:cNvPr id="24" name="TextBox 23"/>
          <p:cNvSpPr txBox="1"/>
          <p:nvPr/>
        </p:nvSpPr>
        <p:spPr>
          <a:xfrm>
            <a:off x="9646920" y="2212848"/>
            <a:ext cx="2514600" cy="228600"/>
          </a:xfrm>
          <a:prstGeom prst="rect">
            <a:avLst/>
          </a:prstGeom>
          <a:noFill/>
        </p:spPr>
        <p:txBody>
          <a:bodyPr wrap="square">
            <a:spAutoFit/>
          </a:bodyPr>
          <a:lstStyle/>
          <a:p>
            <a:pPr algn="l"/>
            <a:r>
              <a:rPr sz="900" b="1" i="0">
                <a:solidFill>
                  <a:srgbClr val="2DB89E"/>
                </a:solidFill>
                <a:latin typeface="Calibri"/>
              </a:rPr>
              <a:t>Step 4</a:t>
            </a:r>
          </a:p>
        </p:txBody>
      </p:sp>
      <p:sp>
        <p:nvSpPr>
          <p:cNvPr id="25" name="TextBox 24"/>
          <p:cNvSpPr txBox="1"/>
          <p:nvPr/>
        </p:nvSpPr>
        <p:spPr>
          <a:xfrm>
            <a:off x="9646920" y="2432304"/>
            <a:ext cx="2514600" cy="594360"/>
          </a:xfrm>
          <a:prstGeom prst="rect">
            <a:avLst/>
          </a:prstGeom>
          <a:noFill/>
        </p:spPr>
        <p:txBody>
          <a:bodyPr wrap="square">
            <a:spAutoFit/>
          </a:bodyPr>
          <a:lstStyle/>
          <a:p>
            <a:pPr algn="l"/>
            <a:r>
              <a:rPr sz="1350" b="1" i="0">
                <a:solidFill>
                  <a:srgbClr val="F1F5F9"/>
                </a:solidFill>
                <a:latin typeface="Calibri"/>
              </a:rPr>
              <a:t>Intro drafted and sent in 60 sec</a:t>
            </a:r>
          </a:p>
        </p:txBody>
      </p:sp>
      <p:sp>
        <p:nvSpPr>
          <p:cNvPr id="26" name="TextBox 25"/>
          <p:cNvSpPr txBox="1"/>
          <p:nvPr/>
        </p:nvSpPr>
        <p:spPr>
          <a:xfrm>
            <a:off x="9646920" y="3127248"/>
            <a:ext cx="2514600" cy="594360"/>
          </a:xfrm>
          <a:prstGeom prst="rect">
            <a:avLst/>
          </a:prstGeom>
          <a:noFill/>
        </p:spPr>
        <p:txBody>
          <a:bodyPr wrap="square">
            <a:spAutoFit/>
          </a:bodyPr>
          <a:lstStyle/>
          <a:p>
            <a:pPr algn="l"/>
            <a:r>
              <a:rPr sz="1150" b="0" i="0">
                <a:solidFill>
                  <a:srgbClr val="94A3B8"/>
                </a:solidFill>
                <a:latin typeface="Calibri"/>
              </a:rPr>
              <a:t>AI writes the ask. You approve.
No cold email. No domain burning.</a:t>
            </a:r>
          </a:p>
        </p:txBody>
      </p:sp>
      <p:sp>
        <p:nvSpPr>
          <p:cNvPr id="27" name="Rectangle 26"/>
          <p:cNvSpPr/>
          <p:nvPr/>
        </p:nvSpPr>
        <p:spPr>
          <a:xfrm>
            <a:off x="457200" y="5559552"/>
            <a:ext cx="11274552" cy="7315"/>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86000" y="5650992"/>
            <a:ext cx="1645920" cy="320040"/>
          </a:xfrm>
          <a:prstGeom prst="rect">
            <a:avLst/>
          </a:prstGeom>
          <a:noFill/>
        </p:spPr>
        <p:txBody>
          <a:bodyPr wrap="square">
            <a:spAutoFit/>
          </a:bodyPr>
          <a:lstStyle/>
          <a:p>
            <a:pPr algn="ctr"/>
            <a:r>
              <a:rPr sz="2200" b="1" i="0">
                <a:solidFill>
                  <a:srgbClr val="2DB89E"/>
                </a:solidFill>
                <a:latin typeface="Calibri"/>
              </a:rPr>
              <a:t>60 sec</a:t>
            </a:r>
          </a:p>
        </p:txBody>
      </p:sp>
      <p:sp>
        <p:nvSpPr>
          <p:cNvPr id="29" name="TextBox 28"/>
          <p:cNvSpPr txBox="1"/>
          <p:nvPr/>
        </p:nvSpPr>
        <p:spPr>
          <a:xfrm>
            <a:off x="2286000" y="5952744"/>
            <a:ext cx="1645920" cy="201168"/>
          </a:xfrm>
          <a:prstGeom prst="rect">
            <a:avLst/>
          </a:prstGeom>
          <a:noFill/>
        </p:spPr>
        <p:txBody>
          <a:bodyPr wrap="square">
            <a:spAutoFit/>
          </a:bodyPr>
          <a:lstStyle/>
          <a:p>
            <a:pPr algn="ctr"/>
            <a:r>
              <a:rPr sz="900" b="0" i="0">
                <a:solidFill>
                  <a:srgbClr val="94A3B8"/>
                </a:solidFill>
                <a:latin typeface="Calibri"/>
              </a:rPr>
              <a:t>prospect to intro sent</a:t>
            </a:r>
          </a:p>
        </p:txBody>
      </p:sp>
      <p:sp>
        <p:nvSpPr>
          <p:cNvPr id="30" name="Rectangle 29"/>
          <p:cNvSpPr/>
          <p:nvPr/>
        </p:nvSpPr>
        <p:spPr>
          <a:xfrm>
            <a:off x="4937760" y="5650992"/>
            <a:ext cx="7315" cy="548640"/>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0" y="5650992"/>
            <a:ext cx="1645920" cy="320040"/>
          </a:xfrm>
          <a:prstGeom prst="rect">
            <a:avLst/>
          </a:prstGeom>
          <a:noFill/>
        </p:spPr>
        <p:txBody>
          <a:bodyPr wrap="square">
            <a:spAutoFit/>
          </a:bodyPr>
          <a:lstStyle/>
          <a:p>
            <a:pPr algn="ctr"/>
            <a:r>
              <a:rPr sz="2200" b="1" i="0">
                <a:solidFill>
                  <a:srgbClr val="2DB89E"/>
                </a:solidFill>
                <a:latin typeface="Calibri"/>
              </a:rPr>
              <a:t>9×</a:t>
            </a:r>
          </a:p>
        </p:txBody>
      </p:sp>
      <p:sp>
        <p:nvSpPr>
          <p:cNvPr id="32" name="TextBox 31"/>
          <p:cNvSpPr txBox="1"/>
          <p:nvPr/>
        </p:nvSpPr>
        <p:spPr>
          <a:xfrm>
            <a:off x="5303520" y="5952744"/>
            <a:ext cx="1645920" cy="201168"/>
          </a:xfrm>
          <a:prstGeom prst="rect">
            <a:avLst/>
          </a:prstGeom>
          <a:noFill/>
        </p:spPr>
        <p:txBody>
          <a:bodyPr wrap="square">
            <a:spAutoFit/>
          </a:bodyPr>
          <a:lstStyle/>
          <a:p>
            <a:pPr algn="ctr"/>
            <a:r>
              <a:rPr sz="900" b="0" i="0">
                <a:solidFill>
                  <a:srgbClr val="94A3B8"/>
                </a:solidFill>
                <a:latin typeface="Calibri"/>
              </a:rPr>
              <a:t>higher reply rate vs cold email</a:t>
            </a:r>
          </a:p>
        </p:txBody>
      </p:sp>
      <p:sp>
        <p:nvSpPr>
          <p:cNvPr id="33" name="Rectangle 32"/>
          <p:cNvSpPr/>
          <p:nvPr/>
        </p:nvSpPr>
        <p:spPr>
          <a:xfrm>
            <a:off x="7955279" y="5650992"/>
            <a:ext cx="7315" cy="548640"/>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5650992"/>
            <a:ext cx="1645920" cy="320040"/>
          </a:xfrm>
          <a:prstGeom prst="rect">
            <a:avLst/>
          </a:prstGeom>
          <a:noFill/>
        </p:spPr>
        <p:txBody>
          <a:bodyPr wrap="square">
            <a:spAutoFit/>
          </a:bodyPr>
          <a:lstStyle/>
          <a:p>
            <a:pPr algn="ctr"/>
            <a:r>
              <a:rPr sz="2200" b="1" i="0">
                <a:solidFill>
                  <a:srgbClr val="2DB89E"/>
                </a:solidFill>
                <a:latin typeface="Calibri"/>
              </a:rPr>
              <a:t>Zero</a:t>
            </a:r>
          </a:p>
        </p:txBody>
      </p:sp>
      <p:sp>
        <p:nvSpPr>
          <p:cNvPr id="35" name="TextBox 34"/>
          <p:cNvSpPr txBox="1"/>
          <p:nvPr/>
        </p:nvSpPr>
        <p:spPr>
          <a:xfrm>
            <a:off x="8321040" y="5952744"/>
            <a:ext cx="1645920" cy="201168"/>
          </a:xfrm>
          <a:prstGeom prst="rect">
            <a:avLst/>
          </a:prstGeom>
          <a:noFill/>
        </p:spPr>
        <p:txBody>
          <a:bodyPr wrap="square">
            <a:spAutoFit/>
          </a:bodyPr>
          <a:lstStyle/>
          <a:p>
            <a:pPr algn="ctr"/>
            <a:r>
              <a:rPr sz="900" b="0" i="0">
                <a:solidFill>
                  <a:srgbClr val="94A3B8"/>
                </a:solidFill>
                <a:latin typeface="Calibri"/>
              </a:rPr>
              <a:t>domain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The WarmPath OS</a:t>
            </a:r>
          </a:p>
        </p:txBody>
      </p:sp>
      <p:sp>
        <p:nvSpPr>
          <p:cNvPr id="4" name="Rectangle 3"/>
          <p:cNvSpPr/>
          <p:nvPr/>
        </p:nvSpPr>
        <p:spPr>
          <a:xfrm>
            <a:off x="457200" y="868680"/>
            <a:ext cx="5669280" cy="544068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868680"/>
            <a:ext cx="5669280" cy="365760"/>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960120"/>
            <a:ext cx="109728" cy="109728"/>
          </a:xfrm>
          <a:prstGeom prst="ellipse">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86384" y="960120"/>
            <a:ext cx="109728" cy="10972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0976" y="960120"/>
            <a:ext cx="109728" cy="10972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914400"/>
            <a:ext cx="4572000" cy="256032"/>
          </a:xfrm>
          <a:prstGeom prst="rect">
            <a:avLst/>
          </a:prstGeom>
          <a:noFill/>
        </p:spPr>
        <p:txBody>
          <a:bodyPr wrap="square">
            <a:spAutoFit/>
          </a:bodyPr>
          <a:lstStyle/>
          <a:p>
            <a:pPr algn="ctr"/>
            <a:r>
              <a:rPr sz="900" b="0" i="0">
                <a:solidFill>
                  <a:srgbClr val="64748B"/>
                </a:solidFill>
                <a:latin typeface="Calibri"/>
              </a:rPr>
              <a:t>warmpath-eta.vercel.app/approval-queue</a:t>
            </a:r>
          </a:p>
        </p:txBody>
      </p:sp>
      <p:sp>
        <p:nvSpPr>
          <p:cNvPr id="10" name="Rectangle 9"/>
          <p:cNvSpPr/>
          <p:nvPr/>
        </p:nvSpPr>
        <p:spPr>
          <a:xfrm>
            <a:off x="457200" y="1234440"/>
            <a:ext cx="1645920" cy="5074920"/>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298448"/>
            <a:ext cx="1463040" cy="228600"/>
          </a:xfrm>
          <a:prstGeom prst="rect">
            <a:avLst/>
          </a:prstGeom>
          <a:noFill/>
        </p:spPr>
        <p:txBody>
          <a:bodyPr wrap="square">
            <a:spAutoFit/>
          </a:bodyPr>
          <a:lstStyle/>
          <a:p>
            <a:pPr algn="l"/>
            <a:r>
              <a:rPr sz="900" b="1" i="0">
                <a:solidFill>
                  <a:srgbClr val="2DB89E"/>
                </a:solidFill>
                <a:latin typeface="Calibri"/>
              </a:rPr>
              <a:t>CHANNELS</a:t>
            </a:r>
          </a:p>
        </p:txBody>
      </p:sp>
      <p:sp>
        <p:nvSpPr>
          <p:cNvPr id="12" name="Rectangle 11"/>
          <p:cNvSpPr/>
          <p:nvPr/>
        </p:nvSpPr>
        <p:spPr>
          <a:xfrm>
            <a:off x="457200" y="1481328"/>
            <a:ext cx="1645920" cy="329184"/>
          </a:xfrm>
          <a:prstGeom prst="rect">
            <a:avLst/>
          </a:prstGeom>
          <a:solidFill>
            <a:srgbClr val="0D362E"/>
          </a:solidFill>
          <a:ln w="1270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545336"/>
            <a:ext cx="1005840" cy="219456"/>
          </a:xfrm>
          <a:prstGeom prst="rect">
            <a:avLst/>
          </a:prstGeom>
          <a:noFill/>
        </p:spPr>
        <p:txBody>
          <a:bodyPr wrap="square">
            <a:spAutoFit/>
          </a:bodyPr>
          <a:lstStyle/>
          <a:p>
            <a:pPr algn="l"/>
            <a:r>
              <a:rPr sz="1050" b="1" i="0">
                <a:solidFill>
                  <a:srgbClr val="F1F5F9"/>
                </a:solidFill>
                <a:latin typeface="Calibri"/>
              </a:rPr>
              <a:t>✉ Email</a:t>
            </a:r>
          </a:p>
        </p:txBody>
      </p:sp>
      <p:sp>
        <p:nvSpPr>
          <p:cNvPr id="14" name="TextBox 13"/>
          <p:cNvSpPr txBox="1"/>
          <p:nvPr/>
        </p:nvSpPr>
        <p:spPr>
          <a:xfrm>
            <a:off x="1938528" y="1545336"/>
            <a:ext cx="137160" cy="219456"/>
          </a:xfrm>
          <a:prstGeom prst="rect">
            <a:avLst/>
          </a:prstGeom>
          <a:noFill/>
        </p:spPr>
        <p:txBody>
          <a:bodyPr wrap="square">
            <a:spAutoFit/>
          </a:bodyPr>
          <a:lstStyle/>
          <a:p>
            <a:pPr algn="r"/>
            <a:r>
              <a:rPr sz="900" b="0" i="0">
                <a:solidFill>
                  <a:srgbClr val="94A3B8"/>
                </a:solidFill>
                <a:latin typeface="Calibri"/>
              </a:rPr>
              <a:t>3</a:t>
            </a:r>
          </a:p>
        </p:txBody>
      </p:sp>
      <p:sp>
        <p:nvSpPr>
          <p:cNvPr id="15" name="TextBox 14"/>
          <p:cNvSpPr txBox="1"/>
          <p:nvPr/>
        </p:nvSpPr>
        <p:spPr>
          <a:xfrm>
            <a:off x="566928" y="1892808"/>
            <a:ext cx="1005840" cy="219456"/>
          </a:xfrm>
          <a:prstGeom prst="rect">
            <a:avLst/>
          </a:prstGeom>
          <a:noFill/>
        </p:spPr>
        <p:txBody>
          <a:bodyPr wrap="square">
            <a:spAutoFit/>
          </a:bodyPr>
          <a:lstStyle/>
          <a:p>
            <a:pPr algn="l"/>
            <a:r>
              <a:rPr sz="1050" b="0" i="0">
                <a:solidFill>
                  <a:srgbClr val="94A3B8"/>
                </a:solidFill>
                <a:latin typeface="Calibri"/>
              </a:rPr>
              <a:t>🔗 LinkedIn</a:t>
            </a:r>
          </a:p>
        </p:txBody>
      </p:sp>
      <p:sp>
        <p:nvSpPr>
          <p:cNvPr id="16" name="TextBox 15"/>
          <p:cNvSpPr txBox="1"/>
          <p:nvPr/>
        </p:nvSpPr>
        <p:spPr>
          <a:xfrm>
            <a:off x="1938528" y="1892808"/>
            <a:ext cx="137160" cy="219456"/>
          </a:xfrm>
          <a:prstGeom prst="rect">
            <a:avLst/>
          </a:prstGeom>
          <a:noFill/>
        </p:spPr>
        <p:txBody>
          <a:bodyPr wrap="square">
            <a:spAutoFit/>
          </a:bodyPr>
          <a:lstStyle/>
          <a:p>
            <a:pPr algn="r"/>
            <a:r>
              <a:rPr sz="900" b="0" i="0">
                <a:solidFill>
                  <a:srgbClr val="94A3B8"/>
                </a:solidFill>
                <a:latin typeface="Calibri"/>
              </a:rPr>
              <a:t>2</a:t>
            </a:r>
          </a:p>
        </p:txBody>
      </p:sp>
      <p:sp>
        <p:nvSpPr>
          <p:cNvPr id="17" name="TextBox 16"/>
          <p:cNvSpPr txBox="1"/>
          <p:nvPr/>
        </p:nvSpPr>
        <p:spPr>
          <a:xfrm>
            <a:off x="566928" y="2240280"/>
            <a:ext cx="1005840" cy="219456"/>
          </a:xfrm>
          <a:prstGeom prst="rect">
            <a:avLst/>
          </a:prstGeom>
          <a:noFill/>
        </p:spPr>
        <p:txBody>
          <a:bodyPr wrap="square">
            <a:spAutoFit/>
          </a:bodyPr>
          <a:lstStyle/>
          <a:p>
            <a:pPr algn="l"/>
            <a:r>
              <a:rPr sz="1050" b="0" i="0">
                <a:solidFill>
                  <a:srgbClr val="94A3B8"/>
                </a:solidFill>
                <a:latin typeface="Calibri"/>
              </a:rPr>
              <a:t>💬 WhatsApp</a:t>
            </a:r>
          </a:p>
        </p:txBody>
      </p:sp>
      <p:sp>
        <p:nvSpPr>
          <p:cNvPr id="18" name="TextBox 17"/>
          <p:cNvSpPr txBox="1"/>
          <p:nvPr/>
        </p:nvSpPr>
        <p:spPr>
          <a:xfrm>
            <a:off x="1938528" y="2240280"/>
            <a:ext cx="137160" cy="219456"/>
          </a:xfrm>
          <a:prstGeom prst="rect">
            <a:avLst/>
          </a:prstGeom>
          <a:noFill/>
        </p:spPr>
        <p:txBody>
          <a:bodyPr wrap="square">
            <a:spAutoFit/>
          </a:bodyPr>
          <a:lstStyle/>
          <a:p>
            <a:pPr algn="r"/>
            <a:r>
              <a:rPr sz="900" b="0" i="0">
                <a:solidFill>
                  <a:srgbClr val="94A3B8"/>
                </a:solidFill>
                <a:latin typeface="Calibri"/>
              </a:rPr>
              <a:t>1</a:t>
            </a:r>
          </a:p>
        </p:txBody>
      </p:sp>
      <p:sp>
        <p:nvSpPr>
          <p:cNvPr id="19" name="TextBox 18"/>
          <p:cNvSpPr txBox="1"/>
          <p:nvPr/>
        </p:nvSpPr>
        <p:spPr>
          <a:xfrm>
            <a:off x="566928" y="2587752"/>
            <a:ext cx="1005840" cy="219456"/>
          </a:xfrm>
          <a:prstGeom prst="rect">
            <a:avLst/>
          </a:prstGeom>
          <a:noFill/>
        </p:spPr>
        <p:txBody>
          <a:bodyPr wrap="square">
            <a:spAutoFit/>
          </a:bodyPr>
          <a:lstStyle/>
          <a:p>
            <a:pPr algn="l"/>
            <a:r>
              <a:rPr sz="1050" b="0" i="0">
                <a:solidFill>
                  <a:srgbClr val="94A3B8"/>
                </a:solidFill>
                <a:latin typeface="Calibri"/>
              </a:rPr>
              <a:t>Telegram</a:t>
            </a:r>
          </a:p>
        </p:txBody>
      </p:sp>
      <p:sp>
        <p:nvSpPr>
          <p:cNvPr id="20" name="TextBox 19"/>
          <p:cNvSpPr txBox="1"/>
          <p:nvPr/>
        </p:nvSpPr>
        <p:spPr>
          <a:xfrm>
            <a:off x="1938528" y="2587752"/>
            <a:ext cx="137160" cy="219456"/>
          </a:xfrm>
          <a:prstGeom prst="rect">
            <a:avLst/>
          </a:prstGeom>
          <a:noFill/>
        </p:spPr>
        <p:txBody>
          <a:bodyPr wrap="square">
            <a:spAutoFit/>
          </a:bodyPr>
          <a:lstStyle/>
          <a:p>
            <a:pPr algn="r"/>
            <a:r>
              <a:rPr sz="900" b="0" i="0">
                <a:solidFill>
                  <a:srgbClr val="94A3B8"/>
                </a:solidFill>
                <a:latin typeface="Calibri"/>
              </a:rPr>
              <a:t>0</a:t>
            </a:r>
          </a:p>
        </p:txBody>
      </p:sp>
      <p:sp>
        <p:nvSpPr>
          <p:cNvPr id="21" name="TextBox 20"/>
          <p:cNvSpPr txBox="1"/>
          <p:nvPr/>
        </p:nvSpPr>
        <p:spPr>
          <a:xfrm>
            <a:off x="566928" y="2935224"/>
            <a:ext cx="1005840" cy="219456"/>
          </a:xfrm>
          <a:prstGeom prst="rect">
            <a:avLst/>
          </a:prstGeom>
          <a:noFill/>
        </p:spPr>
        <p:txBody>
          <a:bodyPr wrap="square">
            <a:spAutoFit/>
          </a:bodyPr>
          <a:lstStyle/>
          <a:p>
            <a:pPr algn="l"/>
            <a:r>
              <a:rPr sz="1050" b="0" i="0">
                <a:solidFill>
                  <a:srgbClr val="94A3B8"/>
                </a:solidFill>
                <a:latin typeface="Calibri"/>
              </a:rPr>
              <a:t>Meta Ads</a:t>
            </a:r>
          </a:p>
        </p:txBody>
      </p:sp>
      <p:sp>
        <p:nvSpPr>
          <p:cNvPr id="22" name="TextBox 21"/>
          <p:cNvSpPr txBox="1"/>
          <p:nvPr/>
        </p:nvSpPr>
        <p:spPr>
          <a:xfrm>
            <a:off x="1938528" y="2935224"/>
            <a:ext cx="137160" cy="219456"/>
          </a:xfrm>
          <a:prstGeom prst="rect">
            <a:avLst/>
          </a:prstGeom>
          <a:noFill/>
        </p:spPr>
        <p:txBody>
          <a:bodyPr wrap="square">
            <a:spAutoFit/>
          </a:bodyPr>
          <a:lstStyle/>
          <a:p>
            <a:pPr algn="r"/>
            <a:r>
              <a:rPr sz="900" b="0" i="0">
                <a:solidFill>
                  <a:srgbClr val="94A3B8"/>
                </a:solidFill>
                <a:latin typeface="Calibri"/>
              </a:rPr>
              <a:t>1</a:t>
            </a:r>
          </a:p>
        </p:txBody>
      </p:sp>
      <p:sp>
        <p:nvSpPr>
          <p:cNvPr id="23" name="TextBox 22"/>
          <p:cNvSpPr txBox="1"/>
          <p:nvPr/>
        </p:nvSpPr>
        <p:spPr>
          <a:xfrm>
            <a:off x="548640" y="3310128"/>
            <a:ext cx="1463040" cy="530352"/>
          </a:xfrm>
          <a:prstGeom prst="rect">
            <a:avLst/>
          </a:prstGeom>
          <a:noFill/>
        </p:spPr>
        <p:txBody>
          <a:bodyPr wrap="square">
            <a:spAutoFit/>
          </a:bodyPr>
          <a:lstStyle/>
          <a:p>
            <a:pPr algn="ctr"/>
            <a:r>
              <a:rPr sz="1800" b="1" i="0">
                <a:solidFill>
                  <a:srgbClr val="F1F5F9"/>
                </a:solidFill>
                <a:latin typeface="Calibri"/>
              </a:rPr>
              <a:t>Queue
7</a:t>
            </a:r>
          </a:p>
        </p:txBody>
      </p:sp>
      <p:sp>
        <p:nvSpPr>
          <p:cNvPr id="24" name="TextBox 23"/>
          <p:cNvSpPr txBox="1"/>
          <p:nvPr/>
        </p:nvSpPr>
        <p:spPr>
          <a:xfrm>
            <a:off x="548640" y="3931920"/>
            <a:ext cx="1463040" cy="457200"/>
          </a:xfrm>
          <a:prstGeom prst="rect">
            <a:avLst/>
          </a:prstGeom>
          <a:noFill/>
        </p:spPr>
        <p:txBody>
          <a:bodyPr wrap="square">
            <a:spAutoFit/>
          </a:bodyPr>
          <a:lstStyle/>
          <a:p>
            <a:pPr algn="ctr"/>
            <a:r>
              <a:rPr sz="1400" b="1" i="0">
                <a:solidFill>
                  <a:srgbClr val="2DB89E"/>
                </a:solidFill>
                <a:latin typeface="Calibri"/>
              </a:rPr>
              <a:t>Avg Warmth
87%</a:t>
            </a:r>
          </a:p>
        </p:txBody>
      </p:sp>
      <p:sp>
        <p:nvSpPr>
          <p:cNvPr id="25" name="Oval 24"/>
          <p:cNvSpPr/>
          <p:nvPr/>
        </p:nvSpPr>
        <p:spPr>
          <a:xfrm>
            <a:off x="2176272" y="1298448"/>
            <a:ext cx="457200" cy="457200"/>
          </a:xfrm>
          <a:prstGeom prst="ellipse">
            <a:avLst/>
          </a:prstGeom>
          <a:solidFill>
            <a:srgbClr val="0D362E"/>
          </a:solidFill>
          <a:ln w="190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76272" y="1389888"/>
            <a:ext cx="457200" cy="274320"/>
          </a:xfrm>
          <a:prstGeom prst="rect">
            <a:avLst/>
          </a:prstGeom>
          <a:noFill/>
        </p:spPr>
        <p:txBody>
          <a:bodyPr wrap="square">
            <a:spAutoFit/>
          </a:bodyPr>
          <a:lstStyle/>
          <a:p>
            <a:pPr algn="ctr"/>
            <a:r>
              <a:rPr sz="1100" b="1" i="0">
                <a:solidFill>
                  <a:srgbClr val="F1F5F9"/>
                </a:solidFill>
                <a:latin typeface="Calibri"/>
              </a:rPr>
              <a:t>RS</a:t>
            </a:r>
          </a:p>
        </p:txBody>
      </p:sp>
      <p:sp>
        <p:nvSpPr>
          <p:cNvPr id="27" name="TextBox 26"/>
          <p:cNvSpPr txBox="1"/>
          <p:nvPr/>
        </p:nvSpPr>
        <p:spPr>
          <a:xfrm>
            <a:off x="2724912" y="1316736"/>
            <a:ext cx="2926080" cy="219456"/>
          </a:xfrm>
          <a:prstGeom prst="rect">
            <a:avLst/>
          </a:prstGeom>
          <a:noFill/>
        </p:spPr>
        <p:txBody>
          <a:bodyPr wrap="square">
            <a:spAutoFit/>
          </a:bodyPr>
          <a:lstStyle/>
          <a:p>
            <a:pPr algn="l"/>
            <a:r>
              <a:rPr sz="1200" b="1" i="0">
                <a:solidFill>
                  <a:srgbClr val="F1F5F9"/>
                </a:solidFill>
                <a:latin typeface="Calibri"/>
              </a:rPr>
              <a:t>Rahul Sharma  /  VP Supply Chain, Zomato</a:t>
            </a:r>
          </a:p>
        </p:txBody>
      </p:sp>
      <p:sp>
        <p:nvSpPr>
          <p:cNvPr id="28" name="TextBox 27"/>
          <p:cNvSpPr txBox="1"/>
          <p:nvPr/>
        </p:nvSpPr>
        <p:spPr>
          <a:xfrm>
            <a:off x="2724912" y="1554480"/>
            <a:ext cx="2926080" cy="201168"/>
          </a:xfrm>
          <a:prstGeom prst="rect">
            <a:avLst/>
          </a:prstGeom>
          <a:noFill/>
        </p:spPr>
        <p:txBody>
          <a:bodyPr wrap="square">
            <a:spAutoFit/>
          </a:bodyPr>
          <a:lstStyle/>
          <a:p>
            <a:pPr algn="l"/>
            <a:r>
              <a:rPr sz="1000" b="0" i="0">
                <a:solidFill>
                  <a:srgbClr val="2DB89E"/>
                </a:solidFill>
                <a:latin typeface="Calibri"/>
              </a:rPr>
              <a:t>via Priya Mehta  ·  2 hops  ·  91% warmth</a:t>
            </a:r>
          </a:p>
        </p:txBody>
      </p:sp>
      <p:sp>
        <p:nvSpPr>
          <p:cNvPr id="29" name="Rectangle 28"/>
          <p:cNvSpPr/>
          <p:nvPr/>
        </p:nvSpPr>
        <p:spPr>
          <a:xfrm>
            <a:off x="5559552" y="1353312"/>
            <a:ext cx="731520" cy="219456"/>
          </a:xfrm>
          <a:prstGeom prst="rect">
            <a:avLst/>
          </a:prstGeom>
          <a:solidFill>
            <a:srgbClr val="0D362E"/>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77840" y="1371600"/>
            <a:ext cx="694944" cy="182880"/>
          </a:xfrm>
          <a:prstGeom prst="rect">
            <a:avLst/>
          </a:prstGeom>
          <a:noFill/>
        </p:spPr>
        <p:txBody>
          <a:bodyPr wrap="square">
            <a:spAutoFit/>
          </a:bodyPr>
          <a:lstStyle/>
          <a:p>
            <a:pPr algn="ctr"/>
            <a:r>
              <a:rPr sz="900" b="1" i="0">
                <a:solidFill>
                  <a:srgbClr val="2DB89E"/>
                </a:solidFill>
                <a:latin typeface="Calibri"/>
              </a:rPr>
              <a:t>warm ✓</a:t>
            </a:r>
          </a:p>
        </p:txBody>
      </p:sp>
      <p:sp>
        <p:nvSpPr>
          <p:cNvPr id="31" name="Rectangle 30"/>
          <p:cNvSpPr/>
          <p:nvPr/>
        </p:nvSpPr>
        <p:spPr>
          <a:xfrm>
            <a:off x="2176272" y="1792224"/>
            <a:ext cx="3877056" cy="7315"/>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176272" y="1874519"/>
            <a:ext cx="3877056" cy="320040"/>
          </a:xfrm>
          <a:prstGeom prst="rect">
            <a:avLst/>
          </a:prstGeom>
          <a:solidFill>
            <a:srgbClr val="2A2208"/>
          </a:solidFill>
          <a:ln w="6350">
            <a:solidFill>
              <a:srgbClr val="705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67712" y="1938528"/>
            <a:ext cx="3694176" cy="219456"/>
          </a:xfrm>
          <a:prstGeom prst="rect">
            <a:avLst/>
          </a:prstGeom>
          <a:noFill/>
        </p:spPr>
        <p:txBody>
          <a:bodyPr wrap="square">
            <a:spAutoFit/>
          </a:bodyPr>
          <a:lstStyle/>
          <a:p>
            <a:pPr algn="l"/>
            <a:r>
              <a:rPr sz="1000" b="0" i="0">
                <a:solidFill>
                  <a:srgbClr val="FBBF24"/>
                </a:solidFill>
                <a:latin typeface="Calibri"/>
              </a:rPr>
              <a:t>⚡  Signal: Zomato posted 'Expanding B2B supply chain platform' 3 days ago</a:t>
            </a:r>
          </a:p>
        </p:txBody>
      </p:sp>
      <p:sp>
        <p:nvSpPr>
          <p:cNvPr id="34" name="Rectangle 33"/>
          <p:cNvSpPr/>
          <p:nvPr/>
        </p:nvSpPr>
        <p:spPr>
          <a:xfrm>
            <a:off x="2176272" y="2267712"/>
            <a:ext cx="3877056" cy="960120"/>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67712" y="2340864"/>
            <a:ext cx="3694176" cy="822960"/>
          </a:xfrm>
          <a:prstGeom prst="rect">
            <a:avLst/>
          </a:prstGeom>
          <a:noFill/>
        </p:spPr>
        <p:txBody>
          <a:bodyPr wrap="square">
            <a:spAutoFit/>
          </a:bodyPr>
          <a:lstStyle/>
          <a:p>
            <a:pPr algn="l"/>
            <a:r>
              <a:rPr sz="1050" b="0" i="0">
                <a:solidFill>
                  <a:srgbClr val="F1F5F9"/>
                </a:solidFill>
                <a:latin typeface="Calibri"/>
              </a:rPr>
              <a:t>Hi Rahul, Priya Mehta suggested I reach out — she mentioned your expansion into Zomato's B2B supply chain. I'm building WarmPath, a relationship intelligence platform that helps BD teams cut enterprise outreach cycles by 60%. Worth a 20-min call?  [AI drafted · 94% personalisation score]</a:t>
            </a:r>
          </a:p>
        </p:txBody>
      </p:sp>
      <p:sp>
        <p:nvSpPr>
          <p:cNvPr id="36" name="Rectangle 35"/>
          <p:cNvSpPr/>
          <p:nvPr/>
        </p:nvSpPr>
        <p:spPr>
          <a:xfrm>
            <a:off x="2176272" y="3310128"/>
            <a:ext cx="1234440" cy="310896"/>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49424" y="3337560"/>
            <a:ext cx="1097280" cy="256032"/>
          </a:xfrm>
          <a:prstGeom prst="rect">
            <a:avLst/>
          </a:prstGeom>
          <a:noFill/>
        </p:spPr>
        <p:txBody>
          <a:bodyPr wrap="square">
            <a:spAutoFit/>
          </a:bodyPr>
          <a:lstStyle/>
          <a:p>
            <a:pPr algn="ctr"/>
            <a:r>
              <a:rPr sz="1050" b="1" i="0">
                <a:solidFill>
                  <a:srgbClr val="0B1623"/>
                </a:solidFill>
                <a:latin typeface="Calibri"/>
              </a:rPr>
              <a:t>✓ Approve &amp; Send</a:t>
            </a:r>
          </a:p>
        </p:txBody>
      </p:sp>
      <p:sp>
        <p:nvSpPr>
          <p:cNvPr id="38" name="Rectangle 37"/>
          <p:cNvSpPr/>
          <p:nvPr/>
        </p:nvSpPr>
        <p:spPr>
          <a:xfrm>
            <a:off x="3547872" y="3310128"/>
            <a:ext cx="1234440" cy="310896"/>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21024" y="3337560"/>
            <a:ext cx="1097280" cy="256032"/>
          </a:xfrm>
          <a:prstGeom prst="rect">
            <a:avLst/>
          </a:prstGeom>
          <a:noFill/>
        </p:spPr>
        <p:txBody>
          <a:bodyPr wrap="square">
            <a:spAutoFit/>
          </a:bodyPr>
          <a:lstStyle/>
          <a:p>
            <a:pPr algn="ctr"/>
            <a:r>
              <a:rPr sz="1050" b="0" i="0">
                <a:solidFill>
                  <a:srgbClr val="F1F5F9"/>
                </a:solidFill>
                <a:latin typeface="Calibri"/>
              </a:rPr>
              <a:t>✎ Edit</a:t>
            </a:r>
          </a:p>
        </p:txBody>
      </p:sp>
      <p:sp>
        <p:nvSpPr>
          <p:cNvPr id="40" name="Rectangle 39"/>
          <p:cNvSpPr/>
          <p:nvPr/>
        </p:nvSpPr>
        <p:spPr>
          <a:xfrm>
            <a:off x="4462272" y="3310128"/>
            <a:ext cx="1234440" cy="310896"/>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35424" y="3337560"/>
            <a:ext cx="1097280" cy="256032"/>
          </a:xfrm>
          <a:prstGeom prst="rect">
            <a:avLst/>
          </a:prstGeom>
          <a:noFill/>
        </p:spPr>
        <p:txBody>
          <a:bodyPr wrap="square">
            <a:spAutoFit/>
          </a:bodyPr>
          <a:lstStyle/>
          <a:p>
            <a:pPr algn="ctr"/>
            <a:r>
              <a:rPr sz="1050" b="0" i="0">
                <a:solidFill>
                  <a:srgbClr val="F1F5F9"/>
                </a:solidFill>
                <a:latin typeface="Calibri"/>
              </a:rPr>
              <a:t>Skip</a:t>
            </a:r>
          </a:p>
        </p:txBody>
      </p:sp>
      <p:sp>
        <p:nvSpPr>
          <p:cNvPr id="42" name="TextBox 41"/>
          <p:cNvSpPr txBox="1"/>
          <p:nvPr/>
        </p:nvSpPr>
        <p:spPr>
          <a:xfrm>
            <a:off x="6492240" y="914400"/>
            <a:ext cx="5212080" cy="274320"/>
          </a:xfrm>
          <a:prstGeom prst="rect">
            <a:avLst/>
          </a:prstGeom>
          <a:noFill/>
        </p:spPr>
        <p:txBody>
          <a:bodyPr wrap="square">
            <a:spAutoFit/>
          </a:bodyPr>
          <a:lstStyle/>
          <a:p>
            <a:pPr algn="l"/>
            <a:r>
              <a:rPr sz="1450" b="1" i="0">
                <a:solidFill>
                  <a:srgbClr val="2DB89E"/>
                </a:solidFill>
                <a:latin typeface="Calibri"/>
              </a:rPr>
              <a:t>Discovery Engine</a:t>
            </a:r>
          </a:p>
        </p:txBody>
      </p:sp>
      <p:sp>
        <p:nvSpPr>
          <p:cNvPr id="43" name="TextBox 42"/>
          <p:cNvSpPr txBox="1"/>
          <p:nvPr/>
        </p:nvSpPr>
        <p:spPr>
          <a:xfrm>
            <a:off x="6492240" y="1207008"/>
            <a:ext cx="5212080" cy="594360"/>
          </a:xfrm>
          <a:prstGeom prst="rect">
            <a:avLst/>
          </a:prstGeom>
          <a:noFill/>
        </p:spPr>
        <p:txBody>
          <a:bodyPr wrap="square">
            <a:spAutoFit/>
          </a:bodyPr>
          <a:lstStyle/>
          <a:p>
            <a:pPr algn="l"/>
            <a:r>
              <a:rPr sz="1150" b="0" i="0">
                <a:solidFill>
                  <a:srgbClr val="94A3B8"/>
                </a:solidFill>
                <a:latin typeface="Calibri"/>
              </a:rPr>
              <a:t>Graph pathfinding maps 1st, 2nd-degree and alumni nodes. Ranks every path by warmth score. Surfaces the strongest intro chain in &lt;100ms.</a:t>
            </a:r>
          </a:p>
        </p:txBody>
      </p:sp>
      <p:sp>
        <p:nvSpPr>
          <p:cNvPr id="44" name="Rectangle 43"/>
          <p:cNvSpPr/>
          <p:nvPr/>
        </p:nvSpPr>
        <p:spPr>
          <a:xfrm>
            <a:off x="6492240" y="1938528"/>
            <a:ext cx="5212080" cy="7315"/>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92240" y="2468880"/>
            <a:ext cx="5212080" cy="274320"/>
          </a:xfrm>
          <a:prstGeom prst="rect">
            <a:avLst/>
          </a:prstGeom>
          <a:noFill/>
        </p:spPr>
        <p:txBody>
          <a:bodyPr wrap="square">
            <a:spAutoFit/>
          </a:bodyPr>
          <a:lstStyle/>
          <a:p>
            <a:pPr algn="l"/>
            <a:r>
              <a:rPr sz="1450" b="1" i="0">
                <a:solidFill>
                  <a:srgbClr val="2DB89E"/>
                </a:solidFill>
                <a:latin typeface="Calibri"/>
              </a:rPr>
              <a:t>AI Personalisation</a:t>
            </a:r>
          </a:p>
        </p:txBody>
      </p:sp>
      <p:sp>
        <p:nvSpPr>
          <p:cNvPr id="46" name="TextBox 45"/>
          <p:cNvSpPr txBox="1"/>
          <p:nvPr/>
        </p:nvSpPr>
        <p:spPr>
          <a:xfrm>
            <a:off x="6492240" y="2761488"/>
            <a:ext cx="5212080" cy="594360"/>
          </a:xfrm>
          <a:prstGeom prst="rect">
            <a:avLst/>
          </a:prstGeom>
          <a:noFill/>
        </p:spPr>
        <p:txBody>
          <a:bodyPr wrap="square">
            <a:spAutoFit/>
          </a:bodyPr>
          <a:lstStyle/>
          <a:p>
            <a:pPr algn="l"/>
            <a:r>
              <a:rPr sz="1150" b="0" i="0">
                <a:solidFill>
                  <a:srgbClr val="94A3B8"/>
                </a:solidFill>
                <a:latin typeface="Calibri"/>
              </a:rPr>
              <a:t>Claude AI uses live company signals, mutual connection history, and your knowledge base to draft intros that feel human, not templated.</a:t>
            </a:r>
          </a:p>
        </p:txBody>
      </p:sp>
      <p:sp>
        <p:nvSpPr>
          <p:cNvPr id="47" name="Rectangle 46"/>
          <p:cNvSpPr/>
          <p:nvPr/>
        </p:nvSpPr>
        <p:spPr>
          <a:xfrm>
            <a:off x="6492240" y="3493008"/>
            <a:ext cx="5212080" cy="7315"/>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92240" y="4023360"/>
            <a:ext cx="5212080" cy="274320"/>
          </a:xfrm>
          <a:prstGeom prst="rect">
            <a:avLst/>
          </a:prstGeom>
          <a:noFill/>
        </p:spPr>
        <p:txBody>
          <a:bodyPr wrap="square">
            <a:spAutoFit/>
          </a:bodyPr>
          <a:lstStyle/>
          <a:p>
            <a:pPr algn="l"/>
            <a:r>
              <a:rPr sz="1450" b="1" i="0">
                <a:solidFill>
                  <a:srgbClr val="2DB89E"/>
                </a:solidFill>
                <a:latin typeface="Calibri"/>
              </a:rPr>
              <a:t>Omnichannel Queue</a:t>
            </a:r>
          </a:p>
        </p:txBody>
      </p:sp>
      <p:sp>
        <p:nvSpPr>
          <p:cNvPr id="49" name="TextBox 48"/>
          <p:cNvSpPr txBox="1"/>
          <p:nvPr/>
        </p:nvSpPr>
        <p:spPr>
          <a:xfrm>
            <a:off x="6492240" y="4315968"/>
            <a:ext cx="5212080" cy="594360"/>
          </a:xfrm>
          <a:prstGeom prst="rect">
            <a:avLst/>
          </a:prstGeom>
          <a:noFill/>
        </p:spPr>
        <p:txBody>
          <a:bodyPr wrap="square">
            <a:spAutoFit/>
          </a:bodyPr>
          <a:lstStyle/>
          <a:p>
            <a:pPr algn="l"/>
            <a:r>
              <a:rPr sz="1150" b="0" i="0">
                <a:solidFill>
                  <a:srgbClr val="94A3B8"/>
                </a:solidFill>
                <a:latin typeface="Calibri"/>
              </a:rPr>
              <a:t>Unified inbox across Email, LinkedIn, WhatsApp, Telegram, and Meta Ads. One approval flow — no tab-switching between 5 tools.</a:t>
            </a:r>
          </a:p>
        </p:txBody>
      </p:sp>
      <p:sp>
        <p:nvSpPr>
          <p:cNvPr id="50" name="Rectangle 49"/>
          <p:cNvSpPr/>
          <p:nvPr/>
        </p:nvSpPr>
        <p:spPr>
          <a:xfrm>
            <a:off x="6492240" y="5577840"/>
            <a:ext cx="5212080" cy="457200"/>
          </a:xfrm>
          <a:prstGeom prst="rect">
            <a:avLst/>
          </a:prstGeom>
          <a:solidFill>
            <a:srgbClr val="0D362E"/>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29400" y="5687568"/>
            <a:ext cx="4937760" cy="256032"/>
          </a:xfrm>
          <a:prstGeom prst="rect">
            <a:avLst/>
          </a:prstGeom>
          <a:noFill/>
        </p:spPr>
        <p:txBody>
          <a:bodyPr wrap="square">
            <a:spAutoFit/>
          </a:bodyPr>
          <a:lstStyle/>
          <a:p>
            <a:pPr algn="l"/>
            <a:r>
              <a:rPr sz="1150" b="0" i="0">
                <a:solidFill>
                  <a:srgbClr val="F1F5F9"/>
                </a:solidFill>
                <a:latin typeface="Calibri"/>
              </a:rPr>
              <a:t>MVP Status:  All 3 engines live  ·  Built solo in 3 months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The Pathfinding Engine</a:t>
            </a:r>
          </a:p>
        </p:txBody>
      </p:sp>
      <p:sp>
        <p:nvSpPr>
          <p:cNvPr id="4" name="TextBox 3"/>
          <p:cNvSpPr txBox="1"/>
          <p:nvPr/>
        </p:nvSpPr>
        <p:spPr>
          <a:xfrm>
            <a:off x="457200" y="868680"/>
            <a:ext cx="5349240" cy="274320"/>
          </a:xfrm>
          <a:prstGeom prst="rect">
            <a:avLst/>
          </a:prstGeom>
          <a:noFill/>
        </p:spPr>
        <p:txBody>
          <a:bodyPr wrap="square">
            <a:spAutoFit/>
          </a:bodyPr>
          <a:lstStyle/>
          <a:p>
            <a:pPr algn="l"/>
            <a:r>
              <a:rPr sz="1400" b="1" i="0">
                <a:solidFill>
                  <a:srgbClr val="F1F5F9"/>
                </a:solidFill>
                <a:latin typeface="Calibri"/>
              </a:rPr>
              <a:t>How the Engine Scores Paths</a:t>
            </a:r>
          </a:p>
        </p:txBody>
      </p:sp>
      <p:sp>
        <p:nvSpPr>
          <p:cNvPr id="5" name="TextBox 4"/>
          <p:cNvSpPr txBox="1"/>
          <p:nvPr/>
        </p:nvSpPr>
        <p:spPr>
          <a:xfrm>
            <a:off x="457200" y="1170432"/>
            <a:ext cx="5349240" cy="685800"/>
          </a:xfrm>
          <a:prstGeom prst="rect">
            <a:avLst/>
          </a:prstGeom>
          <a:noFill/>
        </p:spPr>
        <p:txBody>
          <a:bodyPr wrap="square">
            <a:spAutoFit/>
          </a:bodyPr>
          <a:lstStyle/>
          <a:p>
            <a:pPr algn="l"/>
            <a:r>
              <a:rPr sz="1200" b="0" i="0">
                <a:solidFill>
                  <a:srgbClr val="94A3B8"/>
                </a:solidFill>
                <a:latin typeface="Calibri"/>
              </a:rPr>
              <a:t>Most tools give you a list. WarmPath runs a real graph traversal scoring every path by relationship warmth, then ranking by the weakest link in the chain. Not a recommendation engine. An actual path.</a:t>
            </a:r>
          </a:p>
        </p:txBody>
      </p:sp>
      <p:sp>
        <p:nvSpPr>
          <p:cNvPr id="6" name="Rectangle 5"/>
          <p:cNvSpPr/>
          <p:nvPr/>
        </p:nvSpPr>
        <p:spPr>
          <a:xfrm>
            <a:off x="457200" y="1901952"/>
            <a:ext cx="5349240" cy="987552"/>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29968"/>
            <a:ext cx="4983480" cy="457200"/>
          </a:xfrm>
          <a:prstGeom prst="rect">
            <a:avLst/>
          </a:prstGeom>
          <a:noFill/>
        </p:spPr>
        <p:txBody>
          <a:bodyPr wrap="square">
            <a:spAutoFit/>
          </a:bodyPr>
          <a:lstStyle/>
          <a:p>
            <a:pPr algn="ctr"/>
            <a:r>
              <a:rPr sz="1900" b="1" i="0">
                <a:solidFill>
                  <a:srgbClr val="F1F5F9"/>
                </a:solidFill>
                <a:latin typeface="Calibri"/>
              </a:rPr>
              <a:t>W_path  =  min(W₁, W₂ … Wₙ)  ×  (1 / hops^0.5)</a:t>
            </a:r>
          </a:p>
        </p:txBody>
      </p:sp>
      <p:sp>
        <p:nvSpPr>
          <p:cNvPr id="8" name="TextBox 7"/>
          <p:cNvSpPr txBox="1"/>
          <p:nvPr/>
        </p:nvSpPr>
        <p:spPr>
          <a:xfrm>
            <a:off x="640080" y="2505456"/>
            <a:ext cx="4983480" cy="256032"/>
          </a:xfrm>
          <a:prstGeom prst="rect">
            <a:avLst/>
          </a:prstGeom>
          <a:noFill/>
        </p:spPr>
        <p:txBody>
          <a:bodyPr wrap="square">
            <a:spAutoFit/>
          </a:bodyPr>
          <a:lstStyle/>
          <a:p>
            <a:pPr algn="ctr"/>
            <a:r>
              <a:rPr sz="1000" b="0" i="0">
                <a:solidFill>
                  <a:srgbClr val="94A3B8"/>
                </a:solidFill>
                <a:latin typeface="Calibri"/>
              </a:rPr>
              <a:t>each Wᵢ = relationship_type  ×  recency  ×  strength</a:t>
            </a:r>
          </a:p>
        </p:txBody>
      </p:sp>
      <p:sp>
        <p:nvSpPr>
          <p:cNvPr id="9" name="Rectangle 8"/>
          <p:cNvSpPr/>
          <p:nvPr/>
        </p:nvSpPr>
        <p:spPr>
          <a:xfrm>
            <a:off x="457200" y="2999232"/>
            <a:ext cx="5349240" cy="438912"/>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090672"/>
            <a:ext cx="822960" cy="256032"/>
          </a:xfrm>
          <a:prstGeom prst="rect">
            <a:avLst/>
          </a:prstGeom>
          <a:noFill/>
        </p:spPr>
        <p:txBody>
          <a:bodyPr wrap="square">
            <a:spAutoFit/>
          </a:bodyPr>
          <a:lstStyle/>
          <a:p>
            <a:pPr algn="l"/>
            <a:r>
              <a:rPr sz="1300" b="1" i="0">
                <a:solidFill>
                  <a:srgbClr val="2DB89E"/>
                </a:solidFill>
                <a:latin typeface="Calibri"/>
              </a:rPr>
              <a:t>Wᵢ</a:t>
            </a:r>
          </a:p>
        </p:txBody>
      </p:sp>
      <p:sp>
        <p:nvSpPr>
          <p:cNvPr id="11" name="TextBox 10"/>
          <p:cNvSpPr txBox="1"/>
          <p:nvPr/>
        </p:nvSpPr>
        <p:spPr>
          <a:xfrm>
            <a:off x="1463040" y="3090672"/>
            <a:ext cx="4160520" cy="256032"/>
          </a:xfrm>
          <a:prstGeom prst="rect">
            <a:avLst/>
          </a:prstGeom>
          <a:noFill/>
        </p:spPr>
        <p:txBody>
          <a:bodyPr wrap="square">
            <a:spAutoFit/>
          </a:bodyPr>
          <a:lstStyle/>
          <a:p>
            <a:pPr algn="l"/>
            <a:r>
              <a:rPr sz="1100" b="0" i="0">
                <a:solidFill>
                  <a:srgbClr val="94A3B8"/>
                </a:solidFill>
                <a:latin typeface="Calibri"/>
              </a:rPr>
              <a:t>Recency × Frequency × Relationship type — scored per edge</a:t>
            </a:r>
          </a:p>
        </p:txBody>
      </p:sp>
      <p:sp>
        <p:nvSpPr>
          <p:cNvPr id="12" name="Rectangle 11"/>
          <p:cNvSpPr/>
          <p:nvPr/>
        </p:nvSpPr>
        <p:spPr>
          <a:xfrm>
            <a:off x="457200" y="3511296"/>
            <a:ext cx="5349240" cy="438912"/>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3602736"/>
            <a:ext cx="822960" cy="256032"/>
          </a:xfrm>
          <a:prstGeom prst="rect">
            <a:avLst/>
          </a:prstGeom>
          <a:noFill/>
        </p:spPr>
        <p:txBody>
          <a:bodyPr wrap="square">
            <a:spAutoFit/>
          </a:bodyPr>
          <a:lstStyle/>
          <a:p>
            <a:pPr algn="l"/>
            <a:r>
              <a:rPr sz="1300" b="1" i="0">
                <a:solidFill>
                  <a:srgbClr val="2DB89E"/>
                </a:solidFill>
                <a:latin typeface="Calibri"/>
              </a:rPr>
              <a:t>min()</a:t>
            </a:r>
          </a:p>
        </p:txBody>
      </p:sp>
      <p:sp>
        <p:nvSpPr>
          <p:cNvPr id="14" name="TextBox 13"/>
          <p:cNvSpPr txBox="1"/>
          <p:nvPr/>
        </p:nvSpPr>
        <p:spPr>
          <a:xfrm>
            <a:off x="1463040" y="3602736"/>
            <a:ext cx="4160520" cy="256032"/>
          </a:xfrm>
          <a:prstGeom prst="rect">
            <a:avLst/>
          </a:prstGeom>
          <a:noFill/>
        </p:spPr>
        <p:txBody>
          <a:bodyPr wrap="square">
            <a:spAutoFit/>
          </a:bodyPr>
          <a:lstStyle/>
          <a:p>
            <a:pPr algn="l"/>
            <a:r>
              <a:rPr sz="1100" b="0" i="0">
                <a:solidFill>
                  <a:srgbClr val="94A3B8"/>
                </a:solidFill>
                <a:latin typeface="Calibri"/>
              </a:rPr>
              <a:t>Weakest link wins — one cold handoff kills the entire path</a:t>
            </a:r>
          </a:p>
        </p:txBody>
      </p:sp>
      <p:sp>
        <p:nvSpPr>
          <p:cNvPr id="15" name="Rectangle 14"/>
          <p:cNvSpPr/>
          <p:nvPr/>
        </p:nvSpPr>
        <p:spPr>
          <a:xfrm>
            <a:off x="457200" y="4023360"/>
            <a:ext cx="5349240" cy="438912"/>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5216" y="4114800"/>
            <a:ext cx="822960" cy="256032"/>
          </a:xfrm>
          <a:prstGeom prst="rect">
            <a:avLst/>
          </a:prstGeom>
          <a:noFill/>
        </p:spPr>
        <p:txBody>
          <a:bodyPr wrap="square">
            <a:spAutoFit/>
          </a:bodyPr>
          <a:lstStyle/>
          <a:p>
            <a:pPr algn="l"/>
            <a:r>
              <a:rPr sz="1300" b="1" i="0">
                <a:solidFill>
                  <a:srgbClr val="2DB89E"/>
                </a:solidFill>
                <a:latin typeface="Calibri"/>
              </a:rPr>
              <a:t>hops^0.5</a:t>
            </a:r>
          </a:p>
        </p:txBody>
      </p:sp>
      <p:sp>
        <p:nvSpPr>
          <p:cNvPr id="17" name="TextBox 16"/>
          <p:cNvSpPr txBox="1"/>
          <p:nvPr/>
        </p:nvSpPr>
        <p:spPr>
          <a:xfrm>
            <a:off x="1463040" y="4114800"/>
            <a:ext cx="4160520" cy="256032"/>
          </a:xfrm>
          <a:prstGeom prst="rect">
            <a:avLst/>
          </a:prstGeom>
          <a:noFill/>
        </p:spPr>
        <p:txBody>
          <a:bodyPr wrap="square">
            <a:spAutoFit/>
          </a:bodyPr>
          <a:lstStyle/>
          <a:p>
            <a:pPr algn="l"/>
            <a:r>
              <a:rPr sz="1100" b="0" i="0">
                <a:solidFill>
                  <a:srgbClr val="94A3B8"/>
                </a:solidFill>
                <a:latin typeface="Calibri"/>
              </a:rPr>
              <a:t>Length penalty — shorter paths rank higher, all else equal</a:t>
            </a:r>
          </a:p>
        </p:txBody>
      </p:sp>
      <p:sp>
        <p:nvSpPr>
          <p:cNvPr id="18" name="TextBox 17"/>
          <p:cNvSpPr txBox="1"/>
          <p:nvPr/>
        </p:nvSpPr>
        <p:spPr>
          <a:xfrm>
            <a:off x="6217920" y="868680"/>
            <a:ext cx="5349240" cy="228600"/>
          </a:xfrm>
          <a:prstGeom prst="rect">
            <a:avLst/>
          </a:prstGeom>
          <a:noFill/>
        </p:spPr>
        <p:txBody>
          <a:bodyPr wrap="square">
            <a:spAutoFit/>
          </a:bodyPr>
          <a:lstStyle/>
          <a:p>
            <a:pPr algn="l"/>
            <a:r>
              <a:rPr sz="900" b="1" i="0">
                <a:solidFill>
                  <a:srgbClr val="2DB89E"/>
                </a:solidFill>
                <a:latin typeface="Calibri"/>
              </a:rPr>
              <a:t>LIVE PATH RANKING: "REACH RAHUL AT ZOMATO"</a:t>
            </a:r>
          </a:p>
        </p:txBody>
      </p:sp>
      <p:sp>
        <p:nvSpPr>
          <p:cNvPr id="19" name="Rectangle 18"/>
          <p:cNvSpPr/>
          <p:nvPr/>
        </p:nvSpPr>
        <p:spPr>
          <a:xfrm>
            <a:off x="6217920" y="1078992"/>
            <a:ext cx="5349240" cy="1005840"/>
          </a:xfrm>
          <a:prstGeom prst="rect">
            <a:avLst/>
          </a:prstGeom>
          <a:solidFill>
            <a:srgbClr val="0D362E"/>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1188720"/>
            <a:ext cx="3840480" cy="256032"/>
          </a:xfrm>
          <a:prstGeom prst="rect">
            <a:avLst/>
          </a:prstGeom>
          <a:noFill/>
        </p:spPr>
        <p:txBody>
          <a:bodyPr wrap="square">
            <a:spAutoFit/>
          </a:bodyPr>
          <a:lstStyle/>
          <a:p>
            <a:pPr algn="l"/>
            <a:r>
              <a:rPr sz="1250" b="1" i="0">
                <a:solidFill>
                  <a:srgbClr val="F1F5F9"/>
                </a:solidFill>
                <a:latin typeface="Calibri"/>
              </a:rPr>
              <a:t>You › Priya Mehta › Rahul</a:t>
            </a:r>
          </a:p>
        </p:txBody>
      </p:sp>
      <p:sp>
        <p:nvSpPr>
          <p:cNvPr id="21" name="Rectangle 20"/>
          <p:cNvSpPr/>
          <p:nvPr/>
        </p:nvSpPr>
        <p:spPr>
          <a:xfrm>
            <a:off x="10652760" y="1170432"/>
            <a:ext cx="822960" cy="237744"/>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71048" y="1188720"/>
            <a:ext cx="786384" cy="201168"/>
          </a:xfrm>
          <a:prstGeom prst="rect">
            <a:avLst/>
          </a:prstGeom>
          <a:noFill/>
        </p:spPr>
        <p:txBody>
          <a:bodyPr wrap="square">
            <a:spAutoFit/>
          </a:bodyPr>
          <a:lstStyle/>
          <a:p>
            <a:pPr algn="ctr"/>
            <a:r>
              <a:rPr sz="850" b="1" i="0">
                <a:solidFill>
                  <a:srgbClr val="0B1623"/>
                </a:solidFill>
                <a:latin typeface="Calibri"/>
              </a:rPr>
              <a:t>SELECTED</a:t>
            </a:r>
          </a:p>
        </p:txBody>
      </p:sp>
      <p:sp>
        <p:nvSpPr>
          <p:cNvPr id="23" name="TextBox 22"/>
          <p:cNvSpPr txBox="1"/>
          <p:nvPr/>
        </p:nvSpPr>
        <p:spPr>
          <a:xfrm>
            <a:off x="6382512" y="1517904"/>
            <a:ext cx="5074920" cy="256032"/>
          </a:xfrm>
          <a:prstGeom prst="rect">
            <a:avLst/>
          </a:prstGeom>
          <a:noFill/>
        </p:spPr>
        <p:txBody>
          <a:bodyPr wrap="square">
            <a:spAutoFit/>
          </a:bodyPr>
          <a:lstStyle/>
          <a:p>
            <a:pPr algn="l"/>
            <a:r>
              <a:rPr sz="1050" b="0" i="0">
                <a:solidFill>
                  <a:srgbClr val="2DB89E"/>
                </a:solidFill>
                <a:latin typeface="Calibri"/>
              </a:rPr>
              <a:t>Hops: 2    Recency: 14d    Freq: High    W = 91%</a:t>
            </a:r>
          </a:p>
        </p:txBody>
      </p:sp>
      <p:sp>
        <p:nvSpPr>
          <p:cNvPr id="24" name="Rectangle 23"/>
          <p:cNvSpPr/>
          <p:nvPr/>
        </p:nvSpPr>
        <p:spPr>
          <a:xfrm>
            <a:off x="6217920" y="2267712"/>
            <a:ext cx="5349240" cy="100584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2377440"/>
            <a:ext cx="3840480" cy="256032"/>
          </a:xfrm>
          <a:prstGeom prst="rect">
            <a:avLst/>
          </a:prstGeom>
          <a:noFill/>
        </p:spPr>
        <p:txBody>
          <a:bodyPr wrap="square">
            <a:spAutoFit/>
          </a:bodyPr>
          <a:lstStyle/>
          <a:p>
            <a:pPr algn="l"/>
            <a:r>
              <a:rPr sz="1250" b="0" i="0">
                <a:solidFill>
                  <a:srgbClr val="94A3B8"/>
                </a:solidFill>
                <a:latin typeface="Calibri"/>
              </a:rPr>
              <a:t>You › Raj Sharma › Ankit › Rahul</a:t>
            </a:r>
          </a:p>
        </p:txBody>
      </p:sp>
      <p:sp>
        <p:nvSpPr>
          <p:cNvPr id="26" name="TextBox 25"/>
          <p:cNvSpPr txBox="1"/>
          <p:nvPr/>
        </p:nvSpPr>
        <p:spPr>
          <a:xfrm>
            <a:off x="6382512" y="2706624"/>
            <a:ext cx="5074920" cy="256032"/>
          </a:xfrm>
          <a:prstGeom prst="rect">
            <a:avLst/>
          </a:prstGeom>
          <a:noFill/>
        </p:spPr>
        <p:txBody>
          <a:bodyPr wrap="square">
            <a:spAutoFit/>
          </a:bodyPr>
          <a:lstStyle/>
          <a:p>
            <a:pPr algn="l"/>
            <a:r>
              <a:rPr sz="1050" b="0" i="0">
                <a:solidFill>
                  <a:srgbClr val="64748B"/>
                </a:solidFill>
                <a:latin typeface="Calibri"/>
              </a:rPr>
              <a:t>Hops: 3    Recency: 62d    Freq: Low    W = 54%</a:t>
            </a:r>
          </a:p>
        </p:txBody>
      </p:sp>
      <p:sp>
        <p:nvSpPr>
          <p:cNvPr id="27" name="Rectangle 26"/>
          <p:cNvSpPr/>
          <p:nvPr/>
        </p:nvSpPr>
        <p:spPr>
          <a:xfrm>
            <a:off x="6217920" y="3456432"/>
            <a:ext cx="5349240" cy="100584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3566160"/>
            <a:ext cx="3840480" cy="256032"/>
          </a:xfrm>
          <a:prstGeom prst="rect">
            <a:avLst/>
          </a:prstGeom>
          <a:noFill/>
        </p:spPr>
        <p:txBody>
          <a:bodyPr wrap="square">
            <a:spAutoFit/>
          </a:bodyPr>
          <a:lstStyle/>
          <a:p>
            <a:pPr algn="l"/>
            <a:r>
              <a:rPr sz="1250" b="0" i="0">
                <a:solidFill>
                  <a:srgbClr val="94A3B8"/>
                </a:solidFill>
                <a:latin typeface="Calibri"/>
              </a:rPr>
              <a:t>You › LinkedIn contact › Unknown › Rahul</a:t>
            </a:r>
          </a:p>
        </p:txBody>
      </p:sp>
      <p:sp>
        <p:nvSpPr>
          <p:cNvPr id="29" name="TextBox 28"/>
          <p:cNvSpPr txBox="1"/>
          <p:nvPr/>
        </p:nvSpPr>
        <p:spPr>
          <a:xfrm>
            <a:off x="6382512" y="3895344"/>
            <a:ext cx="5074920" cy="256032"/>
          </a:xfrm>
          <a:prstGeom prst="rect">
            <a:avLst/>
          </a:prstGeom>
          <a:noFill/>
        </p:spPr>
        <p:txBody>
          <a:bodyPr wrap="square">
            <a:spAutoFit/>
          </a:bodyPr>
          <a:lstStyle/>
          <a:p>
            <a:pPr algn="l"/>
            <a:r>
              <a:rPr sz="1050" b="0" i="0">
                <a:solidFill>
                  <a:srgbClr val="F87171"/>
                </a:solidFill>
                <a:latin typeface="Calibri"/>
              </a:rPr>
              <a:t>Hops: 3    Recency: 180d+    Freq: None    W = 18%</a:t>
            </a:r>
          </a:p>
        </p:txBody>
      </p:sp>
      <p:sp>
        <p:nvSpPr>
          <p:cNvPr id="30" name="Rectangle 29"/>
          <p:cNvSpPr/>
          <p:nvPr/>
        </p:nvSpPr>
        <p:spPr>
          <a:xfrm>
            <a:off x="6217920" y="4681728"/>
            <a:ext cx="5349240" cy="384048"/>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4754880"/>
            <a:ext cx="5074920" cy="256032"/>
          </a:xfrm>
          <a:prstGeom prst="rect">
            <a:avLst/>
          </a:prstGeom>
          <a:noFill/>
        </p:spPr>
        <p:txBody>
          <a:bodyPr wrap="square">
            <a:spAutoFit/>
          </a:bodyPr>
          <a:lstStyle/>
          <a:p>
            <a:pPr algn="l"/>
            <a:r>
              <a:rPr sz="1050" b="0" i="0">
                <a:solidFill>
                  <a:srgbClr val="94A3B8"/>
                </a:solidFill>
                <a:latin typeface="Calibri"/>
              </a:rPr>
              <a:t>Algorithm evaluates every candidate path in &lt;100ms. Only the strongest warm path reaches your approval queue.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Who We Serve First</a:t>
            </a:r>
          </a:p>
        </p:txBody>
      </p:sp>
      <p:sp>
        <p:nvSpPr>
          <p:cNvPr id="4" name="Rectangle 3"/>
          <p:cNvSpPr/>
          <p:nvPr/>
        </p:nvSpPr>
        <p:spPr>
          <a:xfrm>
            <a:off x="457200" y="841248"/>
            <a:ext cx="5486400" cy="5669280"/>
          </a:xfrm>
          <a:prstGeom prst="rect">
            <a:avLst/>
          </a:prstGeom>
          <a:solidFill>
            <a:srgbClr val="0D362E"/>
          </a:solidFill>
          <a:ln w="9525">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987552"/>
            <a:ext cx="5120640" cy="228600"/>
          </a:xfrm>
          <a:prstGeom prst="rect">
            <a:avLst/>
          </a:prstGeom>
          <a:noFill/>
        </p:spPr>
        <p:txBody>
          <a:bodyPr wrap="square">
            <a:spAutoFit/>
          </a:bodyPr>
          <a:lstStyle/>
          <a:p>
            <a:pPr algn="l"/>
            <a:r>
              <a:rPr sz="900" b="1" i="0">
                <a:solidFill>
                  <a:srgbClr val="2DB89E"/>
                </a:solidFill>
                <a:latin typeface="Calibri"/>
              </a:rPr>
              <a:t>PRIMARY ICP  ·  SEED WEDGE</a:t>
            </a:r>
          </a:p>
        </p:txBody>
      </p:sp>
      <p:sp>
        <p:nvSpPr>
          <p:cNvPr id="6" name="TextBox 5"/>
          <p:cNvSpPr txBox="1"/>
          <p:nvPr/>
        </p:nvSpPr>
        <p:spPr>
          <a:xfrm>
            <a:off x="658368" y="1234440"/>
            <a:ext cx="5120640" cy="914400"/>
          </a:xfrm>
          <a:prstGeom prst="rect">
            <a:avLst/>
          </a:prstGeom>
          <a:noFill/>
        </p:spPr>
        <p:txBody>
          <a:bodyPr wrap="square">
            <a:spAutoFit/>
          </a:bodyPr>
          <a:lstStyle/>
          <a:p>
            <a:pPr algn="l"/>
            <a:r>
              <a:rPr sz="2200" b="1" i="0">
                <a:solidFill>
                  <a:srgbClr val="F1F5F9"/>
                </a:solidFill>
                <a:latin typeface="Calibri Light"/>
              </a:rPr>
              <a:t>Indian B2B Founders
Selling into US &amp; Singapore Enterprise</a:t>
            </a:r>
          </a:p>
        </p:txBody>
      </p:sp>
      <p:sp>
        <p:nvSpPr>
          <p:cNvPr id="7" name="TextBox 6"/>
          <p:cNvSpPr txBox="1"/>
          <p:nvPr/>
        </p:nvSpPr>
        <p:spPr>
          <a:xfrm>
            <a:off x="658368" y="2240280"/>
            <a:ext cx="5120640" cy="274320"/>
          </a:xfrm>
          <a:prstGeom prst="rect">
            <a:avLst/>
          </a:prstGeom>
          <a:noFill/>
        </p:spPr>
        <p:txBody>
          <a:bodyPr wrap="square">
            <a:spAutoFit/>
          </a:bodyPr>
          <a:lstStyle/>
          <a:p>
            <a:pPr algn="l"/>
            <a:r>
              <a:rPr sz="1200" b="0" i="0">
                <a:solidFill>
                  <a:srgbClr val="94A3B8"/>
                </a:solidFill>
                <a:latin typeface="Calibri"/>
              </a:rPr>
              <a:t>Seed · Series B  ·  Founder-led sales  ·  High-value enterprise deals</a:t>
            </a:r>
          </a:p>
        </p:txBody>
      </p:sp>
      <p:sp>
        <p:nvSpPr>
          <p:cNvPr id="8" name="Rectangle 7"/>
          <p:cNvSpPr/>
          <p:nvPr/>
        </p:nvSpPr>
        <p:spPr>
          <a:xfrm>
            <a:off x="658368" y="2633472"/>
            <a:ext cx="5120640" cy="7315"/>
          </a:xfrm>
          <a:prstGeom prst="rect">
            <a:avLst/>
          </a:prstGeom>
          <a:solidFill>
            <a:srgbClr val="20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816352"/>
            <a:ext cx="109728" cy="109728"/>
          </a:xfrm>
          <a:prstGeom prst="ellipse">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761488"/>
            <a:ext cx="4809744" cy="566928"/>
          </a:xfrm>
          <a:prstGeom prst="rect">
            <a:avLst/>
          </a:prstGeom>
          <a:noFill/>
        </p:spPr>
        <p:txBody>
          <a:bodyPr wrap="square">
            <a:spAutoFit/>
          </a:bodyPr>
          <a:lstStyle/>
          <a:p>
            <a:pPr algn="l"/>
            <a:r>
              <a:rPr sz="1200" b="0" i="0">
                <a:solidFill>
                  <a:srgbClr val="F1F5F9"/>
                </a:solidFill>
                <a:latin typeface="Calibri"/>
              </a:rPr>
              <a:t>10+ hrs/week on manual research and cold outreach with &lt;2% reply rates</a:t>
            </a:r>
          </a:p>
        </p:txBody>
      </p:sp>
      <p:sp>
        <p:nvSpPr>
          <p:cNvPr id="11" name="Oval 10"/>
          <p:cNvSpPr/>
          <p:nvPr/>
        </p:nvSpPr>
        <p:spPr>
          <a:xfrm>
            <a:off x="658368" y="3493008"/>
            <a:ext cx="109728" cy="109728"/>
          </a:xfrm>
          <a:prstGeom prst="ellipse">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438144"/>
            <a:ext cx="4809744" cy="566928"/>
          </a:xfrm>
          <a:prstGeom prst="rect">
            <a:avLst/>
          </a:prstGeom>
          <a:noFill/>
        </p:spPr>
        <p:txBody>
          <a:bodyPr wrap="square">
            <a:spAutoFit/>
          </a:bodyPr>
          <a:lstStyle/>
          <a:p>
            <a:pPr algn="l"/>
            <a:r>
              <a:rPr sz="1200" b="0" i="0">
                <a:solidFill>
                  <a:srgbClr val="F1F5F9"/>
                </a:solidFill>
                <a:latin typeface="Calibri"/>
              </a:rPr>
              <a:t>No systematic way to find who in their BITS/IIT/investor network connects to the target VP</a:t>
            </a:r>
          </a:p>
        </p:txBody>
      </p:sp>
      <p:sp>
        <p:nvSpPr>
          <p:cNvPr id="13" name="Oval 12"/>
          <p:cNvSpPr/>
          <p:nvPr/>
        </p:nvSpPr>
        <p:spPr>
          <a:xfrm>
            <a:off x="658368" y="4169664"/>
            <a:ext cx="109728" cy="109728"/>
          </a:xfrm>
          <a:prstGeom prst="ellipse">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114800"/>
            <a:ext cx="4809744" cy="566928"/>
          </a:xfrm>
          <a:prstGeom prst="rect">
            <a:avLst/>
          </a:prstGeom>
          <a:noFill/>
        </p:spPr>
        <p:txBody>
          <a:bodyPr wrap="square">
            <a:spAutoFit/>
          </a:bodyPr>
          <a:lstStyle/>
          <a:p>
            <a:pPr algn="l"/>
            <a:r>
              <a:rPr sz="1200" b="0" i="0">
                <a:solidFill>
                  <a:srgbClr val="F1F5F9"/>
                </a:solidFill>
                <a:latin typeface="Calibri"/>
              </a:rPr>
              <a:t>US tools (Apollo, Clay, SalesNav) cost $150–500/month and ignore Indian relationship networks</a:t>
            </a:r>
          </a:p>
        </p:txBody>
      </p:sp>
      <p:sp>
        <p:nvSpPr>
          <p:cNvPr id="15" name="TextBox 14"/>
          <p:cNvSpPr txBox="1"/>
          <p:nvPr/>
        </p:nvSpPr>
        <p:spPr>
          <a:xfrm>
            <a:off x="6309360" y="841248"/>
            <a:ext cx="5486400" cy="228600"/>
          </a:xfrm>
          <a:prstGeom prst="rect">
            <a:avLst/>
          </a:prstGeom>
          <a:noFill/>
        </p:spPr>
        <p:txBody>
          <a:bodyPr wrap="square">
            <a:spAutoFit/>
          </a:bodyPr>
          <a:lstStyle/>
          <a:p>
            <a:pPr algn="l"/>
            <a:r>
              <a:rPr sz="900" b="1" i="0">
                <a:solidFill>
                  <a:srgbClr val="2DB89E"/>
                </a:solidFill>
                <a:latin typeface="Calibri"/>
              </a:rPr>
              <a:t>YEAR 2 EXPANSION</a:t>
            </a:r>
          </a:p>
        </p:txBody>
      </p:sp>
      <p:sp>
        <p:nvSpPr>
          <p:cNvPr id="16" name="Rectangle 15"/>
          <p:cNvSpPr/>
          <p:nvPr/>
        </p:nvSpPr>
        <p:spPr>
          <a:xfrm>
            <a:off x="6309360" y="1024128"/>
            <a:ext cx="5486400" cy="1152144"/>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1133856"/>
            <a:ext cx="5120640" cy="274320"/>
          </a:xfrm>
          <a:prstGeom prst="rect">
            <a:avLst/>
          </a:prstGeom>
          <a:noFill/>
        </p:spPr>
        <p:txBody>
          <a:bodyPr wrap="square">
            <a:spAutoFit/>
          </a:bodyPr>
          <a:lstStyle/>
          <a:p>
            <a:pPr algn="l"/>
            <a:r>
              <a:rPr sz="1350" b="1" i="0">
                <a:solidFill>
                  <a:srgbClr val="F1F5F9"/>
                </a:solidFill>
                <a:latin typeface="Calibri"/>
              </a:rPr>
              <a:t>SDRs &amp; AEs  ·  B2B SaaS Teams</a:t>
            </a:r>
          </a:p>
        </p:txBody>
      </p:sp>
      <p:sp>
        <p:nvSpPr>
          <p:cNvPr id="18" name="TextBox 17"/>
          <p:cNvSpPr txBox="1"/>
          <p:nvPr/>
        </p:nvSpPr>
        <p:spPr>
          <a:xfrm>
            <a:off x="6473952" y="1463040"/>
            <a:ext cx="5120640" cy="566928"/>
          </a:xfrm>
          <a:prstGeom prst="rect">
            <a:avLst/>
          </a:prstGeom>
          <a:noFill/>
        </p:spPr>
        <p:txBody>
          <a:bodyPr wrap="square">
            <a:spAutoFit/>
          </a:bodyPr>
          <a:lstStyle/>
          <a:p>
            <a:pPr algn="l"/>
            <a:r>
              <a:rPr sz="1150" b="0" i="0">
                <a:solidFill>
                  <a:srgbClr val="94A3B8"/>
                </a:solidFill>
                <a:latin typeface="Calibri"/>
              </a:rPr>
              <a:t>1–2 replies per 100 cold emails. 65% of quota misses are an access problem, not an effort problem.</a:t>
            </a:r>
          </a:p>
        </p:txBody>
      </p:sp>
      <p:sp>
        <p:nvSpPr>
          <p:cNvPr id="19" name="Rectangle 18"/>
          <p:cNvSpPr/>
          <p:nvPr/>
        </p:nvSpPr>
        <p:spPr>
          <a:xfrm>
            <a:off x="6309360" y="2322576"/>
            <a:ext cx="5486400" cy="1152144"/>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2432304"/>
            <a:ext cx="5120640" cy="274320"/>
          </a:xfrm>
          <a:prstGeom prst="rect">
            <a:avLst/>
          </a:prstGeom>
          <a:noFill/>
        </p:spPr>
        <p:txBody>
          <a:bodyPr wrap="square">
            <a:spAutoFit/>
          </a:bodyPr>
          <a:lstStyle/>
          <a:p>
            <a:pPr algn="l"/>
            <a:r>
              <a:rPr sz="1350" b="1" i="0">
                <a:solidFill>
                  <a:srgbClr val="F1F5F9"/>
                </a:solidFill>
                <a:latin typeface="Calibri"/>
              </a:rPr>
              <a:t>Sales Leaders  ·  VP Sales / Head of Growth</a:t>
            </a:r>
          </a:p>
        </p:txBody>
      </p:sp>
      <p:sp>
        <p:nvSpPr>
          <p:cNvPr id="21" name="TextBox 20"/>
          <p:cNvSpPr txBox="1"/>
          <p:nvPr/>
        </p:nvSpPr>
        <p:spPr>
          <a:xfrm>
            <a:off x="6473952" y="2761488"/>
            <a:ext cx="5120640" cy="566928"/>
          </a:xfrm>
          <a:prstGeom prst="rect">
            <a:avLst/>
          </a:prstGeom>
          <a:noFill/>
        </p:spPr>
        <p:txBody>
          <a:bodyPr wrap="square">
            <a:spAutoFit/>
          </a:bodyPr>
          <a:lstStyle/>
          <a:p>
            <a:pPr algn="l"/>
            <a:r>
              <a:rPr sz="1150" b="0" i="0">
                <a:solidFill>
                  <a:srgbClr val="94A3B8"/>
                </a:solidFill>
                <a:latin typeface="Calibri"/>
              </a:rPr>
              <a:t>6.8 stakeholders per enterprise deal, no shared graph, 3 subscriptions — still no warm path.</a:t>
            </a:r>
          </a:p>
        </p:txBody>
      </p:sp>
      <p:sp>
        <p:nvSpPr>
          <p:cNvPr id="22" name="Rectangle 21"/>
          <p:cNvSpPr/>
          <p:nvPr/>
        </p:nvSpPr>
        <p:spPr>
          <a:xfrm>
            <a:off x="6309360" y="3621024"/>
            <a:ext cx="5486400" cy="1152144"/>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730752"/>
            <a:ext cx="5120640" cy="274320"/>
          </a:xfrm>
          <a:prstGeom prst="rect">
            <a:avLst/>
          </a:prstGeom>
          <a:noFill/>
        </p:spPr>
        <p:txBody>
          <a:bodyPr wrap="square">
            <a:spAutoFit/>
          </a:bodyPr>
          <a:lstStyle/>
          <a:p>
            <a:pPr algn="l"/>
            <a:r>
              <a:rPr sz="1350" b="1" i="0">
                <a:solidFill>
                  <a:srgbClr val="F1F5F9"/>
                </a:solidFill>
                <a:latin typeface="Calibri"/>
              </a:rPr>
              <a:t>IT Services &amp; Agencies  ·  ₹10Cr–₹100Cr</a:t>
            </a:r>
          </a:p>
        </p:txBody>
      </p:sp>
      <p:sp>
        <p:nvSpPr>
          <p:cNvPr id="24" name="TextBox 23"/>
          <p:cNvSpPr txBox="1"/>
          <p:nvPr/>
        </p:nvSpPr>
        <p:spPr>
          <a:xfrm>
            <a:off x="6473952" y="4059936"/>
            <a:ext cx="5120640" cy="566928"/>
          </a:xfrm>
          <a:prstGeom prst="rect">
            <a:avLst/>
          </a:prstGeom>
          <a:noFill/>
        </p:spPr>
        <p:txBody>
          <a:bodyPr wrap="square">
            <a:spAutoFit/>
          </a:bodyPr>
          <a:lstStyle/>
          <a:p>
            <a:pPr algn="l"/>
            <a:r>
              <a:rPr sz="1150" b="0" i="0">
                <a:solidFill>
                  <a:srgbClr val="94A3B8"/>
                </a:solidFill>
                <a:latin typeface="Calibri"/>
              </a:rPr>
              <a:t>60% of IT revenue comes from referrals — but that network lives in WhatsApp chats, not any system.</a:t>
            </a:r>
          </a:p>
        </p:txBody>
      </p:sp>
      <p:sp>
        <p:nvSpPr>
          <p:cNvPr id="25" name="Rectangle 24"/>
          <p:cNvSpPr/>
          <p:nvPr/>
        </p:nvSpPr>
        <p:spPr>
          <a:xfrm>
            <a:off x="6309360" y="4956048"/>
            <a:ext cx="5486400" cy="502920"/>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5074920"/>
            <a:ext cx="5303520" cy="274320"/>
          </a:xfrm>
          <a:prstGeom prst="rect">
            <a:avLst/>
          </a:prstGeom>
          <a:noFill/>
        </p:spPr>
        <p:txBody>
          <a:bodyPr wrap="square">
            <a:spAutoFit/>
          </a:bodyPr>
          <a:lstStyle/>
          <a:p>
            <a:pPr algn="l"/>
            <a:r>
              <a:rPr sz="1150" b="1" i="0">
                <a:solidFill>
                  <a:srgbClr val="F1F5F9"/>
                </a:solidFill>
                <a:latin typeface="Calibri"/>
              </a:rPr>
              <a:t>Why this wedge:  First 100 users from BITS/IIT/IIM alumni networks. Direct founder access, high trust, high deal value.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Market Size &amp; Opportunity</a:t>
            </a:r>
          </a:p>
        </p:txBody>
      </p:sp>
      <p:sp>
        <p:nvSpPr>
          <p:cNvPr id="4" name="Oval 3"/>
          <p:cNvSpPr/>
          <p:nvPr/>
        </p:nvSpPr>
        <p:spPr>
          <a:xfrm>
            <a:off x="365760" y="1097280"/>
            <a:ext cx="5120640" cy="5120640"/>
          </a:xfrm>
          <a:prstGeom prst="ellipse">
            <a:avLst/>
          </a:prstGeom>
          <a:noFill/>
          <a:ln w="19050">
            <a:solidFill>
              <a:srgbClr val="205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34440" y="1965960"/>
            <a:ext cx="3383280" cy="3383280"/>
          </a:xfrm>
          <a:prstGeom prst="ellipse">
            <a:avLst/>
          </a:prstGeom>
          <a:solidFill>
            <a:srgbClr val="0D221A"/>
          </a:solidFill>
          <a:ln w="190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11680" y="2743200"/>
            <a:ext cx="1828800" cy="1828800"/>
          </a:xfrm>
          <a:prstGeom prst="ellipse">
            <a:avLst/>
          </a:prstGeom>
          <a:solidFill>
            <a:srgbClr val="154D42"/>
          </a:solidFill>
          <a:ln w="2540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1051560"/>
            <a:ext cx="2926080" cy="228600"/>
          </a:xfrm>
          <a:prstGeom prst="rect">
            <a:avLst/>
          </a:prstGeom>
          <a:noFill/>
        </p:spPr>
        <p:txBody>
          <a:bodyPr wrap="square">
            <a:spAutoFit/>
          </a:bodyPr>
          <a:lstStyle/>
          <a:p>
            <a:pPr algn="ctr"/>
            <a:r>
              <a:rPr sz="1000" b="0" i="0">
                <a:solidFill>
                  <a:srgbClr val="94A3B8"/>
                </a:solidFill>
                <a:latin typeface="Calibri"/>
              </a:rPr>
              <a:t>TAM Global</a:t>
            </a:r>
          </a:p>
        </p:txBody>
      </p:sp>
      <p:sp>
        <p:nvSpPr>
          <p:cNvPr id="8" name="TextBox 7"/>
          <p:cNvSpPr txBox="1"/>
          <p:nvPr/>
        </p:nvSpPr>
        <p:spPr>
          <a:xfrm>
            <a:off x="1463040" y="1298448"/>
            <a:ext cx="2926080" cy="347472"/>
          </a:xfrm>
          <a:prstGeom prst="rect">
            <a:avLst/>
          </a:prstGeom>
          <a:noFill/>
        </p:spPr>
        <p:txBody>
          <a:bodyPr wrap="square">
            <a:spAutoFit/>
          </a:bodyPr>
          <a:lstStyle/>
          <a:p>
            <a:pPr algn="ctr"/>
            <a:r>
              <a:rPr sz="2200" b="1" i="0">
                <a:solidFill>
                  <a:srgbClr val="34D399"/>
                </a:solidFill>
                <a:latin typeface="Calibri"/>
              </a:rPr>
              <a:t>$8.3B</a:t>
            </a:r>
          </a:p>
        </p:txBody>
      </p:sp>
      <p:sp>
        <p:nvSpPr>
          <p:cNvPr id="9" name="TextBox 8"/>
          <p:cNvSpPr txBox="1"/>
          <p:nvPr/>
        </p:nvSpPr>
        <p:spPr>
          <a:xfrm>
            <a:off x="1737360" y="2057400"/>
            <a:ext cx="2377440" cy="219456"/>
          </a:xfrm>
          <a:prstGeom prst="rect">
            <a:avLst/>
          </a:prstGeom>
          <a:noFill/>
        </p:spPr>
        <p:txBody>
          <a:bodyPr wrap="square">
            <a:spAutoFit/>
          </a:bodyPr>
          <a:lstStyle/>
          <a:p>
            <a:pPr algn="ctr"/>
            <a:r>
              <a:rPr sz="1000" b="0" i="0">
                <a:solidFill>
                  <a:srgbClr val="94A3B8"/>
                </a:solidFill>
                <a:latin typeface="Calibri"/>
              </a:rPr>
              <a:t>SAM India+SE Asia</a:t>
            </a:r>
          </a:p>
        </p:txBody>
      </p:sp>
      <p:sp>
        <p:nvSpPr>
          <p:cNvPr id="10" name="TextBox 9"/>
          <p:cNvSpPr txBox="1"/>
          <p:nvPr/>
        </p:nvSpPr>
        <p:spPr>
          <a:xfrm>
            <a:off x="1737360" y="2286000"/>
            <a:ext cx="2377440" cy="329184"/>
          </a:xfrm>
          <a:prstGeom prst="rect">
            <a:avLst/>
          </a:prstGeom>
          <a:noFill/>
        </p:spPr>
        <p:txBody>
          <a:bodyPr wrap="square">
            <a:spAutoFit/>
          </a:bodyPr>
          <a:lstStyle/>
          <a:p>
            <a:pPr algn="ctr"/>
            <a:r>
              <a:rPr sz="2000" b="1" i="0">
                <a:solidFill>
                  <a:srgbClr val="2DB89E"/>
                </a:solidFill>
                <a:latin typeface="Calibri"/>
              </a:rPr>
              <a:t>$650M</a:t>
            </a:r>
          </a:p>
        </p:txBody>
      </p:sp>
      <p:sp>
        <p:nvSpPr>
          <p:cNvPr id="11" name="TextBox 10"/>
          <p:cNvSpPr txBox="1"/>
          <p:nvPr/>
        </p:nvSpPr>
        <p:spPr>
          <a:xfrm>
            <a:off x="2240280" y="3063240"/>
            <a:ext cx="1371600" cy="201168"/>
          </a:xfrm>
          <a:prstGeom prst="rect">
            <a:avLst/>
          </a:prstGeom>
          <a:noFill/>
        </p:spPr>
        <p:txBody>
          <a:bodyPr wrap="square">
            <a:spAutoFit/>
          </a:bodyPr>
          <a:lstStyle/>
          <a:p>
            <a:pPr algn="ctr"/>
            <a:r>
              <a:rPr sz="900" b="0" i="0">
                <a:solidFill>
                  <a:srgbClr val="F1F5F9"/>
                </a:solidFill>
                <a:latin typeface="Calibri"/>
              </a:rPr>
              <a:t>SOM  Yr1–3</a:t>
            </a:r>
          </a:p>
        </p:txBody>
      </p:sp>
      <p:sp>
        <p:nvSpPr>
          <p:cNvPr id="12" name="TextBox 11"/>
          <p:cNvSpPr txBox="1"/>
          <p:nvPr/>
        </p:nvSpPr>
        <p:spPr>
          <a:xfrm>
            <a:off x="2240280" y="3273552"/>
            <a:ext cx="1371600" cy="274320"/>
          </a:xfrm>
          <a:prstGeom prst="rect">
            <a:avLst/>
          </a:prstGeom>
          <a:noFill/>
        </p:spPr>
        <p:txBody>
          <a:bodyPr wrap="square">
            <a:spAutoFit/>
          </a:bodyPr>
          <a:lstStyle/>
          <a:p>
            <a:pPr algn="ctr"/>
            <a:r>
              <a:rPr sz="1800" b="1" i="0">
                <a:solidFill>
                  <a:srgbClr val="2DB89E"/>
                </a:solidFill>
                <a:latin typeface="Calibri"/>
              </a:rPr>
              <a:t>$32M</a:t>
            </a:r>
          </a:p>
        </p:txBody>
      </p:sp>
      <p:sp>
        <p:nvSpPr>
          <p:cNvPr id="13" name="Rectangle 12"/>
          <p:cNvSpPr/>
          <p:nvPr/>
        </p:nvSpPr>
        <p:spPr>
          <a:xfrm>
            <a:off x="6217920" y="960120"/>
            <a:ext cx="5577840" cy="146304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960120"/>
            <a:ext cx="38404" cy="14630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069848"/>
            <a:ext cx="5303520" cy="228600"/>
          </a:xfrm>
          <a:prstGeom prst="rect">
            <a:avLst/>
          </a:prstGeom>
          <a:noFill/>
        </p:spPr>
        <p:txBody>
          <a:bodyPr wrap="square">
            <a:spAutoFit/>
          </a:bodyPr>
          <a:lstStyle/>
          <a:p>
            <a:pPr algn="l"/>
            <a:r>
              <a:rPr sz="900" b="1" i="0">
                <a:solidFill>
                  <a:srgbClr val="2DB89E"/>
                </a:solidFill>
                <a:latin typeface="Calibri"/>
              </a:rPr>
              <a:t>TAM  ·  GLOBAL MARKET</a:t>
            </a:r>
          </a:p>
        </p:txBody>
      </p:sp>
      <p:sp>
        <p:nvSpPr>
          <p:cNvPr id="16" name="TextBox 15"/>
          <p:cNvSpPr txBox="1"/>
          <p:nvPr/>
        </p:nvSpPr>
        <p:spPr>
          <a:xfrm>
            <a:off x="6382512" y="1307592"/>
            <a:ext cx="5303520" cy="530352"/>
          </a:xfrm>
          <a:prstGeom prst="rect">
            <a:avLst/>
          </a:prstGeom>
          <a:noFill/>
        </p:spPr>
        <p:txBody>
          <a:bodyPr wrap="square">
            <a:spAutoFit/>
          </a:bodyPr>
          <a:lstStyle/>
          <a:p>
            <a:pPr algn="l"/>
            <a:r>
              <a:rPr sz="2800" b="1" i="0">
                <a:solidFill>
                  <a:srgbClr val="34D399"/>
                </a:solidFill>
                <a:latin typeface="Calibri"/>
              </a:rPr>
              <a:t>$8.3 Billion</a:t>
            </a:r>
          </a:p>
        </p:txBody>
      </p:sp>
      <p:sp>
        <p:nvSpPr>
          <p:cNvPr id="17" name="TextBox 16"/>
          <p:cNvSpPr txBox="1"/>
          <p:nvPr/>
        </p:nvSpPr>
        <p:spPr>
          <a:xfrm>
            <a:off x="6382512" y="1911096"/>
            <a:ext cx="5303520" cy="420624"/>
          </a:xfrm>
          <a:prstGeom prst="rect">
            <a:avLst/>
          </a:prstGeom>
          <a:noFill/>
        </p:spPr>
        <p:txBody>
          <a:bodyPr wrap="square">
            <a:spAutoFit/>
          </a:bodyPr>
          <a:lstStyle/>
          <a:p>
            <a:pPr algn="l"/>
            <a:r>
              <a:rPr sz="1100" b="0" i="0">
                <a:solidFill>
                  <a:srgbClr val="94A3B8"/>
                </a:solidFill>
                <a:latin typeface="Calibri"/>
              </a:rPr>
              <a:t>B2B Sales Intelligence &amp; Outreach Automation (2025) — MarketsandMarkets</a:t>
            </a:r>
          </a:p>
        </p:txBody>
      </p:sp>
      <p:sp>
        <p:nvSpPr>
          <p:cNvPr id="18" name="Rectangle 17"/>
          <p:cNvSpPr/>
          <p:nvPr/>
        </p:nvSpPr>
        <p:spPr>
          <a:xfrm>
            <a:off x="6217920" y="2606040"/>
            <a:ext cx="5577840" cy="146304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606040"/>
            <a:ext cx="38404" cy="1463040"/>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715768"/>
            <a:ext cx="5303520" cy="228600"/>
          </a:xfrm>
          <a:prstGeom prst="rect">
            <a:avLst/>
          </a:prstGeom>
          <a:noFill/>
        </p:spPr>
        <p:txBody>
          <a:bodyPr wrap="square">
            <a:spAutoFit/>
          </a:bodyPr>
          <a:lstStyle/>
          <a:p>
            <a:pPr algn="l"/>
            <a:r>
              <a:rPr sz="900" b="1" i="0">
                <a:solidFill>
                  <a:srgbClr val="2DB89E"/>
                </a:solidFill>
                <a:latin typeface="Calibri"/>
              </a:rPr>
              <a:t>SAM  ·  INDIA + SE ASIA</a:t>
            </a:r>
          </a:p>
        </p:txBody>
      </p:sp>
      <p:sp>
        <p:nvSpPr>
          <p:cNvPr id="21" name="TextBox 20"/>
          <p:cNvSpPr txBox="1"/>
          <p:nvPr/>
        </p:nvSpPr>
        <p:spPr>
          <a:xfrm>
            <a:off x="6382512" y="2953512"/>
            <a:ext cx="5303520" cy="530352"/>
          </a:xfrm>
          <a:prstGeom prst="rect">
            <a:avLst/>
          </a:prstGeom>
          <a:noFill/>
        </p:spPr>
        <p:txBody>
          <a:bodyPr wrap="square">
            <a:spAutoFit/>
          </a:bodyPr>
          <a:lstStyle/>
          <a:p>
            <a:pPr algn="l"/>
            <a:r>
              <a:rPr sz="2800" b="1" i="0">
                <a:solidFill>
                  <a:srgbClr val="2DB89E"/>
                </a:solidFill>
                <a:latin typeface="Calibri"/>
              </a:rPr>
              <a:t>$650 Million</a:t>
            </a:r>
          </a:p>
        </p:txBody>
      </p:sp>
      <p:sp>
        <p:nvSpPr>
          <p:cNvPr id="22" name="TextBox 21"/>
          <p:cNvSpPr txBox="1"/>
          <p:nvPr/>
        </p:nvSpPr>
        <p:spPr>
          <a:xfrm>
            <a:off x="6382512" y="3557016"/>
            <a:ext cx="5303520" cy="420624"/>
          </a:xfrm>
          <a:prstGeom prst="rect">
            <a:avLst/>
          </a:prstGeom>
          <a:noFill/>
        </p:spPr>
        <p:txBody>
          <a:bodyPr wrap="square">
            <a:spAutoFit/>
          </a:bodyPr>
          <a:lstStyle/>
          <a:p>
            <a:pPr algn="l"/>
            <a:r>
              <a:rPr sz="1100" b="0" i="0">
                <a:solidFill>
                  <a:srgbClr val="94A3B8"/>
                </a:solidFill>
                <a:latin typeface="Calibri"/>
              </a:rPr>
              <a:t>1.2M+ B2B startups using or evaluating sales automation — DPIIT 2024</a:t>
            </a:r>
          </a:p>
        </p:txBody>
      </p:sp>
      <p:sp>
        <p:nvSpPr>
          <p:cNvPr id="23" name="Rectangle 22"/>
          <p:cNvSpPr/>
          <p:nvPr/>
        </p:nvSpPr>
        <p:spPr>
          <a:xfrm>
            <a:off x="6217920" y="4251960"/>
            <a:ext cx="5577840" cy="146304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4251960"/>
            <a:ext cx="38404" cy="1463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4361688"/>
            <a:ext cx="5303520" cy="228600"/>
          </a:xfrm>
          <a:prstGeom prst="rect">
            <a:avLst/>
          </a:prstGeom>
          <a:noFill/>
        </p:spPr>
        <p:txBody>
          <a:bodyPr wrap="square">
            <a:spAutoFit/>
          </a:bodyPr>
          <a:lstStyle/>
          <a:p>
            <a:pPr algn="l"/>
            <a:r>
              <a:rPr sz="900" b="1" i="0">
                <a:solidFill>
                  <a:srgbClr val="2DB89E"/>
                </a:solidFill>
                <a:latin typeface="Calibri"/>
              </a:rPr>
              <a:t>SOM  ·  INITIAL WEDGE</a:t>
            </a:r>
          </a:p>
        </p:txBody>
      </p:sp>
      <p:sp>
        <p:nvSpPr>
          <p:cNvPr id="26" name="TextBox 25"/>
          <p:cNvSpPr txBox="1"/>
          <p:nvPr/>
        </p:nvSpPr>
        <p:spPr>
          <a:xfrm>
            <a:off x="6382512" y="4599432"/>
            <a:ext cx="5303520" cy="530352"/>
          </a:xfrm>
          <a:prstGeom prst="rect">
            <a:avLst/>
          </a:prstGeom>
          <a:noFill/>
        </p:spPr>
        <p:txBody>
          <a:bodyPr wrap="square">
            <a:spAutoFit/>
          </a:bodyPr>
          <a:lstStyle/>
          <a:p>
            <a:pPr algn="l"/>
            <a:r>
              <a:rPr sz="2800" b="1" i="0">
                <a:solidFill>
                  <a:srgbClr val="F1F5F9"/>
                </a:solidFill>
                <a:latin typeface="Calibri"/>
              </a:rPr>
              <a:t>$32 Million</a:t>
            </a:r>
          </a:p>
        </p:txBody>
      </p:sp>
      <p:sp>
        <p:nvSpPr>
          <p:cNvPr id="27" name="TextBox 26"/>
          <p:cNvSpPr txBox="1"/>
          <p:nvPr/>
        </p:nvSpPr>
        <p:spPr>
          <a:xfrm>
            <a:off x="6382512" y="5202936"/>
            <a:ext cx="5303520" cy="420624"/>
          </a:xfrm>
          <a:prstGeom prst="rect">
            <a:avLst/>
          </a:prstGeom>
          <a:noFill/>
        </p:spPr>
        <p:txBody>
          <a:bodyPr wrap="square">
            <a:spAutoFit/>
          </a:bodyPr>
          <a:lstStyle/>
          <a:p>
            <a:pPr algn="l"/>
            <a:r>
              <a:rPr sz="1100" b="0" i="0">
                <a:solidFill>
                  <a:srgbClr val="94A3B8"/>
                </a:solidFill>
                <a:latin typeface="Calibri"/>
              </a:rPr>
              <a:t>50K Indian startups × $600 ARPU × 5% penetration in 3 years (bottom-up)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Every Competitor Stops Here. WarmPath Starts Here.</a:t>
            </a:r>
          </a:p>
        </p:txBody>
      </p:sp>
      <p:sp>
        <p:nvSpPr>
          <p:cNvPr id="4" name="Rectangle 3"/>
          <p:cNvSpPr/>
          <p:nvPr/>
        </p:nvSpPr>
        <p:spPr>
          <a:xfrm>
            <a:off x="457200" y="960120"/>
            <a:ext cx="10744200" cy="475488"/>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1088136"/>
            <a:ext cx="1828800" cy="274320"/>
          </a:xfrm>
          <a:prstGeom prst="rect">
            <a:avLst/>
          </a:prstGeom>
          <a:noFill/>
        </p:spPr>
        <p:txBody>
          <a:bodyPr wrap="square">
            <a:spAutoFit/>
          </a:bodyPr>
          <a:lstStyle/>
          <a:p>
            <a:pPr algn="l"/>
            <a:r>
              <a:rPr sz="900" b="1" i="0">
                <a:solidFill>
                  <a:srgbClr val="64748B"/>
                </a:solidFill>
                <a:latin typeface="Calibri"/>
              </a:rPr>
              <a:t>Capability</a:t>
            </a:r>
          </a:p>
        </p:txBody>
      </p:sp>
      <p:sp>
        <p:nvSpPr>
          <p:cNvPr id="6" name="TextBox 5"/>
          <p:cNvSpPr txBox="1"/>
          <p:nvPr/>
        </p:nvSpPr>
        <p:spPr>
          <a:xfrm>
            <a:off x="2450592" y="1088136"/>
            <a:ext cx="1554480" cy="274320"/>
          </a:xfrm>
          <a:prstGeom prst="rect">
            <a:avLst/>
          </a:prstGeom>
          <a:noFill/>
        </p:spPr>
        <p:txBody>
          <a:bodyPr wrap="square">
            <a:spAutoFit/>
          </a:bodyPr>
          <a:lstStyle/>
          <a:p>
            <a:pPr algn="l"/>
            <a:r>
              <a:rPr sz="900" b="1" i="0">
                <a:solidFill>
                  <a:srgbClr val="2DB89E"/>
                </a:solidFill>
                <a:latin typeface="Calibri"/>
              </a:rPr>
              <a:t>WarmPath</a:t>
            </a:r>
          </a:p>
        </p:txBody>
      </p:sp>
      <p:sp>
        <p:nvSpPr>
          <p:cNvPr id="7" name="TextBox 6"/>
          <p:cNvSpPr txBox="1"/>
          <p:nvPr/>
        </p:nvSpPr>
        <p:spPr>
          <a:xfrm>
            <a:off x="4096512" y="1088136"/>
            <a:ext cx="1280160" cy="274320"/>
          </a:xfrm>
          <a:prstGeom prst="rect">
            <a:avLst/>
          </a:prstGeom>
          <a:noFill/>
        </p:spPr>
        <p:txBody>
          <a:bodyPr wrap="square">
            <a:spAutoFit/>
          </a:bodyPr>
          <a:lstStyle/>
          <a:p>
            <a:pPr algn="l"/>
            <a:r>
              <a:rPr sz="900" b="1" i="0">
                <a:solidFill>
                  <a:srgbClr val="64748B"/>
                </a:solidFill>
                <a:latin typeface="Calibri"/>
              </a:rPr>
              <a:t>Apollo.io</a:t>
            </a:r>
          </a:p>
        </p:txBody>
      </p:sp>
      <p:sp>
        <p:nvSpPr>
          <p:cNvPr id="8" name="TextBox 7"/>
          <p:cNvSpPr txBox="1"/>
          <p:nvPr/>
        </p:nvSpPr>
        <p:spPr>
          <a:xfrm>
            <a:off x="5468112" y="1088136"/>
            <a:ext cx="1280160" cy="274320"/>
          </a:xfrm>
          <a:prstGeom prst="rect">
            <a:avLst/>
          </a:prstGeom>
          <a:noFill/>
        </p:spPr>
        <p:txBody>
          <a:bodyPr wrap="square">
            <a:spAutoFit/>
          </a:bodyPr>
          <a:lstStyle/>
          <a:p>
            <a:pPr algn="l"/>
            <a:r>
              <a:rPr sz="900" b="1" i="0">
                <a:solidFill>
                  <a:srgbClr val="64748B"/>
                </a:solidFill>
                <a:latin typeface="Calibri"/>
              </a:rPr>
              <a:t>Clay.com</a:t>
            </a:r>
          </a:p>
        </p:txBody>
      </p:sp>
      <p:sp>
        <p:nvSpPr>
          <p:cNvPr id="9" name="TextBox 8"/>
          <p:cNvSpPr txBox="1"/>
          <p:nvPr/>
        </p:nvSpPr>
        <p:spPr>
          <a:xfrm>
            <a:off x="6839712" y="1088136"/>
            <a:ext cx="1280160" cy="274320"/>
          </a:xfrm>
          <a:prstGeom prst="rect">
            <a:avLst/>
          </a:prstGeom>
          <a:noFill/>
        </p:spPr>
        <p:txBody>
          <a:bodyPr wrap="square">
            <a:spAutoFit/>
          </a:bodyPr>
          <a:lstStyle/>
          <a:p>
            <a:pPr algn="l"/>
            <a:r>
              <a:rPr sz="900" b="1" i="0">
                <a:solidFill>
                  <a:srgbClr val="64748B"/>
                </a:solidFill>
                <a:latin typeface="Calibri"/>
              </a:rPr>
              <a:t>Warmly.ai</a:t>
            </a:r>
          </a:p>
        </p:txBody>
      </p:sp>
      <p:sp>
        <p:nvSpPr>
          <p:cNvPr id="10" name="TextBox 9"/>
          <p:cNvSpPr txBox="1"/>
          <p:nvPr/>
        </p:nvSpPr>
        <p:spPr>
          <a:xfrm>
            <a:off x="8211312" y="1088136"/>
            <a:ext cx="1417320" cy="274320"/>
          </a:xfrm>
          <a:prstGeom prst="rect">
            <a:avLst/>
          </a:prstGeom>
          <a:noFill/>
        </p:spPr>
        <p:txBody>
          <a:bodyPr wrap="square">
            <a:spAutoFit/>
          </a:bodyPr>
          <a:lstStyle/>
          <a:p>
            <a:pPr algn="l"/>
            <a:r>
              <a:rPr sz="900" b="1" i="0">
                <a:solidFill>
                  <a:srgbClr val="64748B"/>
                </a:solidFill>
                <a:latin typeface="Calibri"/>
              </a:rPr>
              <a:t>LinkedIn Nav</a:t>
            </a:r>
          </a:p>
        </p:txBody>
      </p:sp>
      <p:sp>
        <p:nvSpPr>
          <p:cNvPr id="11" name="TextBox 10"/>
          <p:cNvSpPr txBox="1"/>
          <p:nvPr/>
        </p:nvSpPr>
        <p:spPr>
          <a:xfrm>
            <a:off x="9720072" y="1088136"/>
            <a:ext cx="1463040" cy="274320"/>
          </a:xfrm>
          <a:prstGeom prst="rect">
            <a:avLst/>
          </a:prstGeom>
          <a:noFill/>
        </p:spPr>
        <p:txBody>
          <a:bodyPr wrap="square">
            <a:spAutoFit/>
          </a:bodyPr>
          <a:lstStyle/>
          <a:p>
            <a:pPr algn="l"/>
            <a:r>
              <a:rPr sz="900" b="1" i="0">
                <a:solidFill>
                  <a:srgbClr val="64748B"/>
                </a:solidFill>
                <a:latin typeface="Calibri"/>
              </a:rPr>
              <a:t>Outreach.io</a:t>
            </a:r>
          </a:p>
        </p:txBody>
      </p:sp>
      <p:sp>
        <p:nvSpPr>
          <p:cNvPr id="12" name="Rectangle 11"/>
          <p:cNvSpPr/>
          <p:nvPr/>
        </p:nvSpPr>
        <p:spPr>
          <a:xfrm>
            <a:off x="457200" y="1435608"/>
            <a:ext cx="10744200" cy="475488"/>
          </a:xfrm>
          <a:prstGeom prst="rect">
            <a:avLst/>
          </a:prstGeom>
          <a:solidFill>
            <a:srgbClr val="0D362E"/>
          </a:solidFill>
          <a:ln w="3175">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572768"/>
            <a:ext cx="1810512" cy="256032"/>
          </a:xfrm>
          <a:prstGeom prst="rect">
            <a:avLst/>
          </a:prstGeom>
          <a:noFill/>
        </p:spPr>
        <p:txBody>
          <a:bodyPr wrap="square">
            <a:spAutoFit/>
          </a:bodyPr>
          <a:lstStyle/>
          <a:p>
            <a:pPr algn="l"/>
            <a:r>
              <a:rPr sz="1050" b="1" i="0">
                <a:solidFill>
                  <a:srgbClr val="F1F5F9"/>
                </a:solidFill>
                <a:latin typeface="Calibri"/>
              </a:rPr>
              <a:t>Warm Path Discovery</a:t>
            </a:r>
          </a:p>
        </p:txBody>
      </p:sp>
      <p:sp>
        <p:nvSpPr>
          <p:cNvPr id="14" name="TextBox 13"/>
          <p:cNvSpPr txBox="1"/>
          <p:nvPr/>
        </p:nvSpPr>
        <p:spPr>
          <a:xfrm>
            <a:off x="2450592" y="1572768"/>
            <a:ext cx="1536192" cy="256032"/>
          </a:xfrm>
          <a:prstGeom prst="rect">
            <a:avLst/>
          </a:prstGeom>
          <a:noFill/>
        </p:spPr>
        <p:txBody>
          <a:bodyPr wrap="square">
            <a:spAutoFit/>
          </a:bodyPr>
          <a:lstStyle/>
          <a:p>
            <a:pPr algn="l"/>
            <a:r>
              <a:rPr sz="1050" b="1" i="0">
                <a:solidFill>
                  <a:srgbClr val="2DB89E"/>
                </a:solidFill>
                <a:latin typeface="Calibri"/>
              </a:rPr>
              <a:t>✓ Algorithmic</a:t>
            </a:r>
          </a:p>
        </p:txBody>
      </p:sp>
      <p:sp>
        <p:nvSpPr>
          <p:cNvPr id="15" name="TextBox 14"/>
          <p:cNvSpPr txBox="1"/>
          <p:nvPr/>
        </p:nvSpPr>
        <p:spPr>
          <a:xfrm>
            <a:off x="4096512" y="1572768"/>
            <a:ext cx="1261872" cy="256032"/>
          </a:xfrm>
          <a:prstGeom prst="rect">
            <a:avLst/>
          </a:prstGeom>
          <a:noFill/>
        </p:spPr>
        <p:txBody>
          <a:bodyPr wrap="square">
            <a:spAutoFit/>
          </a:bodyPr>
          <a:lstStyle/>
          <a:p>
            <a:pPr algn="l"/>
            <a:r>
              <a:rPr sz="1050" b="0" i="0">
                <a:solidFill>
                  <a:srgbClr val="F87171"/>
                </a:solidFill>
                <a:latin typeface="Calibri"/>
              </a:rPr>
              <a:t>✗</a:t>
            </a:r>
          </a:p>
        </p:txBody>
      </p:sp>
      <p:sp>
        <p:nvSpPr>
          <p:cNvPr id="16" name="TextBox 15"/>
          <p:cNvSpPr txBox="1"/>
          <p:nvPr/>
        </p:nvSpPr>
        <p:spPr>
          <a:xfrm>
            <a:off x="5468112" y="1572768"/>
            <a:ext cx="1261872" cy="256032"/>
          </a:xfrm>
          <a:prstGeom prst="rect">
            <a:avLst/>
          </a:prstGeom>
          <a:noFill/>
        </p:spPr>
        <p:txBody>
          <a:bodyPr wrap="square">
            <a:spAutoFit/>
          </a:bodyPr>
          <a:lstStyle/>
          <a:p>
            <a:pPr algn="l"/>
            <a:r>
              <a:rPr sz="1050" b="0" i="0">
                <a:solidFill>
                  <a:srgbClr val="F87171"/>
                </a:solidFill>
                <a:latin typeface="Calibri"/>
              </a:rPr>
              <a:t>✗</a:t>
            </a:r>
          </a:p>
        </p:txBody>
      </p:sp>
      <p:sp>
        <p:nvSpPr>
          <p:cNvPr id="17" name="TextBox 16"/>
          <p:cNvSpPr txBox="1"/>
          <p:nvPr/>
        </p:nvSpPr>
        <p:spPr>
          <a:xfrm>
            <a:off x="6839712" y="1572768"/>
            <a:ext cx="1261872" cy="256032"/>
          </a:xfrm>
          <a:prstGeom prst="rect">
            <a:avLst/>
          </a:prstGeom>
          <a:noFill/>
        </p:spPr>
        <p:txBody>
          <a:bodyPr wrap="square">
            <a:spAutoFit/>
          </a:bodyPr>
          <a:lstStyle/>
          <a:p>
            <a:pPr algn="l"/>
            <a:r>
              <a:rPr sz="1050" b="0" i="0">
                <a:solidFill>
                  <a:srgbClr val="FBBF24"/>
                </a:solidFill>
                <a:latin typeface="Calibri"/>
              </a:rPr>
              <a:t>~ Visitor only</a:t>
            </a:r>
          </a:p>
        </p:txBody>
      </p:sp>
      <p:sp>
        <p:nvSpPr>
          <p:cNvPr id="18" name="TextBox 17"/>
          <p:cNvSpPr txBox="1"/>
          <p:nvPr/>
        </p:nvSpPr>
        <p:spPr>
          <a:xfrm>
            <a:off x="8211312" y="1572768"/>
            <a:ext cx="1399032" cy="256032"/>
          </a:xfrm>
          <a:prstGeom prst="rect">
            <a:avLst/>
          </a:prstGeom>
          <a:noFill/>
        </p:spPr>
        <p:txBody>
          <a:bodyPr wrap="square">
            <a:spAutoFit/>
          </a:bodyPr>
          <a:lstStyle/>
          <a:p>
            <a:pPr algn="l"/>
            <a:r>
              <a:rPr sz="1050" b="0" i="0">
                <a:solidFill>
                  <a:srgbClr val="FBBF24"/>
                </a:solidFill>
                <a:latin typeface="Calibri"/>
              </a:rPr>
              <a:t>~ Restricted</a:t>
            </a:r>
          </a:p>
        </p:txBody>
      </p:sp>
      <p:sp>
        <p:nvSpPr>
          <p:cNvPr id="19" name="TextBox 18"/>
          <p:cNvSpPr txBox="1"/>
          <p:nvPr/>
        </p:nvSpPr>
        <p:spPr>
          <a:xfrm>
            <a:off x="9720072" y="1572768"/>
            <a:ext cx="1444752" cy="256032"/>
          </a:xfrm>
          <a:prstGeom prst="rect">
            <a:avLst/>
          </a:prstGeom>
          <a:noFill/>
        </p:spPr>
        <p:txBody>
          <a:bodyPr wrap="square">
            <a:spAutoFit/>
          </a:bodyPr>
          <a:lstStyle/>
          <a:p>
            <a:pPr algn="l"/>
            <a:r>
              <a:rPr sz="1050" b="0" i="0">
                <a:solidFill>
                  <a:srgbClr val="F87171"/>
                </a:solidFill>
                <a:latin typeface="Calibri"/>
              </a:rPr>
              <a:t>✗</a:t>
            </a:r>
          </a:p>
        </p:txBody>
      </p:sp>
      <p:sp>
        <p:nvSpPr>
          <p:cNvPr id="20" name="Rectangle 19"/>
          <p:cNvSpPr/>
          <p:nvPr/>
        </p:nvSpPr>
        <p:spPr>
          <a:xfrm>
            <a:off x="457200" y="1911096"/>
            <a:ext cx="10744200" cy="475488"/>
          </a:xfrm>
          <a:prstGeom prst="rect">
            <a:avLst/>
          </a:prstGeom>
          <a:solidFill>
            <a:srgbClr val="0F1C2C"/>
          </a:solidFill>
          <a:ln w="3175">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2048256"/>
            <a:ext cx="1810512" cy="256032"/>
          </a:xfrm>
          <a:prstGeom prst="rect">
            <a:avLst/>
          </a:prstGeom>
          <a:noFill/>
        </p:spPr>
        <p:txBody>
          <a:bodyPr wrap="square">
            <a:spAutoFit/>
          </a:bodyPr>
          <a:lstStyle/>
          <a:p>
            <a:pPr algn="l"/>
            <a:r>
              <a:rPr sz="1050" b="1" i="0">
                <a:solidFill>
                  <a:srgbClr val="F1F5F9"/>
                </a:solidFill>
                <a:latin typeface="Calibri"/>
              </a:rPr>
              <a:t>Relationship Graph</a:t>
            </a:r>
          </a:p>
        </p:txBody>
      </p:sp>
      <p:sp>
        <p:nvSpPr>
          <p:cNvPr id="22" name="TextBox 21"/>
          <p:cNvSpPr txBox="1"/>
          <p:nvPr/>
        </p:nvSpPr>
        <p:spPr>
          <a:xfrm>
            <a:off x="2450592" y="2048256"/>
            <a:ext cx="1536192" cy="256032"/>
          </a:xfrm>
          <a:prstGeom prst="rect">
            <a:avLst/>
          </a:prstGeom>
          <a:noFill/>
        </p:spPr>
        <p:txBody>
          <a:bodyPr wrap="square">
            <a:spAutoFit/>
          </a:bodyPr>
          <a:lstStyle/>
          <a:p>
            <a:pPr algn="l"/>
            <a:r>
              <a:rPr sz="1050" b="1" i="0">
                <a:solidFill>
                  <a:srgbClr val="2DB89E"/>
                </a:solidFill>
                <a:latin typeface="Calibri"/>
              </a:rPr>
              <a:t>✓ Full BFS</a:t>
            </a:r>
          </a:p>
        </p:txBody>
      </p:sp>
      <p:sp>
        <p:nvSpPr>
          <p:cNvPr id="23" name="TextBox 22"/>
          <p:cNvSpPr txBox="1"/>
          <p:nvPr/>
        </p:nvSpPr>
        <p:spPr>
          <a:xfrm>
            <a:off x="4096512" y="2048256"/>
            <a:ext cx="1261872" cy="256032"/>
          </a:xfrm>
          <a:prstGeom prst="rect">
            <a:avLst/>
          </a:prstGeom>
          <a:noFill/>
        </p:spPr>
        <p:txBody>
          <a:bodyPr wrap="square">
            <a:spAutoFit/>
          </a:bodyPr>
          <a:lstStyle/>
          <a:p>
            <a:pPr algn="l"/>
            <a:r>
              <a:rPr sz="1050" b="0" i="0">
                <a:solidFill>
                  <a:srgbClr val="F87171"/>
                </a:solidFill>
                <a:latin typeface="Calibri"/>
              </a:rPr>
              <a:t>✗</a:t>
            </a:r>
          </a:p>
        </p:txBody>
      </p:sp>
      <p:sp>
        <p:nvSpPr>
          <p:cNvPr id="24" name="TextBox 23"/>
          <p:cNvSpPr txBox="1"/>
          <p:nvPr/>
        </p:nvSpPr>
        <p:spPr>
          <a:xfrm>
            <a:off x="5468112" y="2048256"/>
            <a:ext cx="1261872" cy="256032"/>
          </a:xfrm>
          <a:prstGeom prst="rect">
            <a:avLst/>
          </a:prstGeom>
          <a:noFill/>
        </p:spPr>
        <p:txBody>
          <a:bodyPr wrap="square">
            <a:spAutoFit/>
          </a:bodyPr>
          <a:lstStyle/>
          <a:p>
            <a:pPr algn="l"/>
            <a:r>
              <a:rPr sz="1050" b="0" i="0">
                <a:solidFill>
                  <a:srgbClr val="F87171"/>
                </a:solidFill>
                <a:latin typeface="Calibri"/>
              </a:rPr>
              <a:t>✗</a:t>
            </a:r>
          </a:p>
        </p:txBody>
      </p:sp>
      <p:sp>
        <p:nvSpPr>
          <p:cNvPr id="25" name="TextBox 24"/>
          <p:cNvSpPr txBox="1"/>
          <p:nvPr/>
        </p:nvSpPr>
        <p:spPr>
          <a:xfrm>
            <a:off x="6839712" y="2048256"/>
            <a:ext cx="1261872" cy="256032"/>
          </a:xfrm>
          <a:prstGeom prst="rect">
            <a:avLst/>
          </a:prstGeom>
          <a:noFill/>
        </p:spPr>
        <p:txBody>
          <a:bodyPr wrap="square">
            <a:spAutoFit/>
          </a:bodyPr>
          <a:lstStyle/>
          <a:p>
            <a:pPr algn="l"/>
            <a:r>
              <a:rPr sz="1050" b="0" i="0">
                <a:solidFill>
                  <a:srgbClr val="FBBF24"/>
                </a:solidFill>
                <a:latin typeface="Calibri"/>
              </a:rPr>
              <a:t>~ Partial</a:t>
            </a:r>
          </a:p>
        </p:txBody>
      </p:sp>
      <p:sp>
        <p:nvSpPr>
          <p:cNvPr id="26" name="TextBox 25"/>
          <p:cNvSpPr txBox="1"/>
          <p:nvPr/>
        </p:nvSpPr>
        <p:spPr>
          <a:xfrm>
            <a:off x="8211312" y="2048256"/>
            <a:ext cx="1399032" cy="256032"/>
          </a:xfrm>
          <a:prstGeom prst="rect">
            <a:avLst/>
          </a:prstGeom>
          <a:noFill/>
        </p:spPr>
        <p:txBody>
          <a:bodyPr wrap="square">
            <a:spAutoFit/>
          </a:bodyPr>
          <a:lstStyle/>
          <a:p>
            <a:pPr algn="l"/>
            <a:r>
              <a:rPr sz="1050" b="0" i="0">
                <a:solidFill>
                  <a:srgbClr val="FBBF24"/>
                </a:solidFill>
                <a:latin typeface="Calibri"/>
              </a:rPr>
              <a:t>~ Siloed</a:t>
            </a:r>
          </a:p>
        </p:txBody>
      </p:sp>
      <p:sp>
        <p:nvSpPr>
          <p:cNvPr id="27" name="TextBox 26"/>
          <p:cNvSpPr txBox="1"/>
          <p:nvPr/>
        </p:nvSpPr>
        <p:spPr>
          <a:xfrm>
            <a:off x="9720072" y="2048256"/>
            <a:ext cx="1444752" cy="256032"/>
          </a:xfrm>
          <a:prstGeom prst="rect">
            <a:avLst/>
          </a:prstGeom>
          <a:noFill/>
        </p:spPr>
        <p:txBody>
          <a:bodyPr wrap="square">
            <a:spAutoFit/>
          </a:bodyPr>
          <a:lstStyle/>
          <a:p>
            <a:pPr algn="l"/>
            <a:r>
              <a:rPr sz="1050" b="0" i="0">
                <a:solidFill>
                  <a:srgbClr val="F87171"/>
                </a:solidFill>
                <a:latin typeface="Calibri"/>
              </a:rPr>
              <a:t>✗</a:t>
            </a:r>
          </a:p>
        </p:txBody>
      </p:sp>
      <p:sp>
        <p:nvSpPr>
          <p:cNvPr id="28" name="Rectangle 27"/>
          <p:cNvSpPr/>
          <p:nvPr/>
        </p:nvSpPr>
        <p:spPr>
          <a:xfrm>
            <a:off x="457200" y="2386584"/>
            <a:ext cx="10744200" cy="475488"/>
          </a:xfrm>
          <a:prstGeom prst="rect">
            <a:avLst/>
          </a:prstGeom>
          <a:solidFill>
            <a:srgbClr val="0F1C2C"/>
          </a:solidFill>
          <a:ln w="3175">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2523744"/>
            <a:ext cx="1810512" cy="256032"/>
          </a:xfrm>
          <a:prstGeom prst="rect">
            <a:avLst/>
          </a:prstGeom>
          <a:noFill/>
        </p:spPr>
        <p:txBody>
          <a:bodyPr wrap="square">
            <a:spAutoFit/>
          </a:bodyPr>
          <a:lstStyle/>
          <a:p>
            <a:pPr algn="l"/>
            <a:r>
              <a:rPr sz="1050" b="1" i="0">
                <a:solidFill>
                  <a:srgbClr val="F1F5F9"/>
                </a:solidFill>
                <a:latin typeface="Calibri"/>
              </a:rPr>
              <a:t>Omnichannel Queue</a:t>
            </a:r>
          </a:p>
        </p:txBody>
      </p:sp>
      <p:sp>
        <p:nvSpPr>
          <p:cNvPr id="30" name="TextBox 29"/>
          <p:cNvSpPr txBox="1"/>
          <p:nvPr/>
        </p:nvSpPr>
        <p:spPr>
          <a:xfrm>
            <a:off x="2450592" y="2523744"/>
            <a:ext cx="1536192" cy="256032"/>
          </a:xfrm>
          <a:prstGeom prst="rect">
            <a:avLst/>
          </a:prstGeom>
          <a:noFill/>
        </p:spPr>
        <p:txBody>
          <a:bodyPr wrap="square">
            <a:spAutoFit/>
          </a:bodyPr>
          <a:lstStyle/>
          <a:p>
            <a:pPr algn="l"/>
            <a:r>
              <a:rPr sz="1050" b="1" i="0">
                <a:solidFill>
                  <a:srgbClr val="2DB89E"/>
                </a:solidFill>
                <a:latin typeface="Calibri"/>
              </a:rPr>
              <a:t>✓ 5 channels</a:t>
            </a:r>
          </a:p>
        </p:txBody>
      </p:sp>
      <p:sp>
        <p:nvSpPr>
          <p:cNvPr id="31" name="TextBox 30"/>
          <p:cNvSpPr txBox="1"/>
          <p:nvPr/>
        </p:nvSpPr>
        <p:spPr>
          <a:xfrm>
            <a:off x="4096512" y="2523744"/>
            <a:ext cx="1261872" cy="256032"/>
          </a:xfrm>
          <a:prstGeom prst="rect">
            <a:avLst/>
          </a:prstGeom>
          <a:noFill/>
        </p:spPr>
        <p:txBody>
          <a:bodyPr wrap="square">
            <a:spAutoFit/>
          </a:bodyPr>
          <a:lstStyle/>
          <a:p>
            <a:pPr algn="l"/>
            <a:r>
              <a:rPr sz="1050" b="0" i="0">
                <a:solidFill>
                  <a:srgbClr val="F87171"/>
                </a:solidFill>
                <a:latin typeface="Calibri"/>
              </a:rPr>
              <a:t>✗</a:t>
            </a:r>
          </a:p>
        </p:txBody>
      </p:sp>
      <p:sp>
        <p:nvSpPr>
          <p:cNvPr id="32" name="TextBox 31"/>
          <p:cNvSpPr txBox="1"/>
          <p:nvPr/>
        </p:nvSpPr>
        <p:spPr>
          <a:xfrm>
            <a:off x="5468112" y="2523744"/>
            <a:ext cx="1261872" cy="256032"/>
          </a:xfrm>
          <a:prstGeom prst="rect">
            <a:avLst/>
          </a:prstGeom>
          <a:noFill/>
        </p:spPr>
        <p:txBody>
          <a:bodyPr wrap="square">
            <a:spAutoFit/>
          </a:bodyPr>
          <a:lstStyle/>
          <a:p>
            <a:pPr algn="l"/>
            <a:r>
              <a:rPr sz="1050" b="0" i="0">
                <a:solidFill>
                  <a:srgbClr val="F87171"/>
                </a:solidFill>
                <a:latin typeface="Calibri"/>
              </a:rPr>
              <a:t>✗</a:t>
            </a:r>
          </a:p>
        </p:txBody>
      </p:sp>
      <p:sp>
        <p:nvSpPr>
          <p:cNvPr id="33" name="TextBox 32"/>
          <p:cNvSpPr txBox="1"/>
          <p:nvPr/>
        </p:nvSpPr>
        <p:spPr>
          <a:xfrm>
            <a:off x="6839712" y="2523744"/>
            <a:ext cx="1261872" cy="256032"/>
          </a:xfrm>
          <a:prstGeom prst="rect">
            <a:avLst/>
          </a:prstGeom>
          <a:noFill/>
        </p:spPr>
        <p:txBody>
          <a:bodyPr wrap="square">
            <a:spAutoFit/>
          </a:bodyPr>
          <a:lstStyle/>
          <a:p>
            <a:pPr algn="l"/>
            <a:r>
              <a:rPr sz="1050" b="0" i="0">
                <a:solidFill>
                  <a:srgbClr val="F87171"/>
                </a:solidFill>
                <a:latin typeface="Calibri"/>
              </a:rPr>
              <a:t>✗</a:t>
            </a:r>
          </a:p>
        </p:txBody>
      </p:sp>
      <p:sp>
        <p:nvSpPr>
          <p:cNvPr id="34" name="TextBox 33"/>
          <p:cNvSpPr txBox="1"/>
          <p:nvPr/>
        </p:nvSpPr>
        <p:spPr>
          <a:xfrm>
            <a:off x="8211312" y="2523744"/>
            <a:ext cx="1399032" cy="256032"/>
          </a:xfrm>
          <a:prstGeom prst="rect">
            <a:avLst/>
          </a:prstGeom>
          <a:noFill/>
        </p:spPr>
        <p:txBody>
          <a:bodyPr wrap="square">
            <a:spAutoFit/>
          </a:bodyPr>
          <a:lstStyle/>
          <a:p>
            <a:pPr algn="l"/>
            <a:r>
              <a:rPr sz="1050" b="0" i="0">
                <a:solidFill>
                  <a:srgbClr val="F87171"/>
                </a:solidFill>
                <a:latin typeface="Calibri"/>
              </a:rPr>
              <a:t>✗</a:t>
            </a:r>
          </a:p>
        </p:txBody>
      </p:sp>
      <p:sp>
        <p:nvSpPr>
          <p:cNvPr id="35" name="TextBox 34"/>
          <p:cNvSpPr txBox="1"/>
          <p:nvPr/>
        </p:nvSpPr>
        <p:spPr>
          <a:xfrm>
            <a:off x="9720072" y="2523744"/>
            <a:ext cx="1444752" cy="256032"/>
          </a:xfrm>
          <a:prstGeom prst="rect">
            <a:avLst/>
          </a:prstGeom>
          <a:noFill/>
        </p:spPr>
        <p:txBody>
          <a:bodyPr wrap="square">
            <a:spAutoFit/>
          </a:bodyPr>
          <a:lstStyle/>
          <a:p>
            <a:pPr algn="l"/>
            <a:r>
              <a:rPr sz="1050" b="0" i="0">
                <a:solidFill>
                  <a:srgbClr val="FBBF24"/>
                </a:solidFill>
                <a:latin typeface="Calibri"/>
              </a:rPr>
              <a:t>~ 3 channels</a:t>
            </a:r>
          </a:p>
        </p:txBody>
      </p:sp>
      <p:sp>
        <p:nvSpPr>
          <p:cNvPr id="36" name="Rectangle 35"/>
          <p:cNvSpPr/>
          <p:nvPr/>
        </p:nvSpPr>
        <p:spPr>
          <a:xfrm>
            <a:off x="457200" y="2862072"/>
            <a:ext cx="10744200" cy="475488"/>
          </a:xfrm>
          <a:prstGeom prst="rect">
            <a:avLst/>
          </a:prstGeom>
          <a:solidFill>
            <a:srgbClr val="0F1C2C"/>
          </a:solidFill>
          <a:ln w="3175">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0352" y="2999232"/>
            <a:ext cx="1810512" cy="256032"/>
          </a:xfrm>
          <a:prstGeom prst="rect">
            <a:avLst/>
          </a:prstGeom>
          <a:noFill/>
        </p:spPr>
        <p:txBody>
          <a:bodyPr wrap="square">
            <a:spAutoFit/>
          </a:bodyPr>
          <a:lstStyle/>
          <a:p>
            <a:pPr algn="l"/>
            <a:r>
              <a:rPr sz="1050" b="1" i="0">
                <a:solidFill>
                  <a:srgbClr val="F1F5F9"/>
                </a:solidFill>
                <a:latin typeface="Calibri"/>
              </a:rPr>
              <a:t>Context-Aware AI</a:t>
            </a:r>
          </a:p>
        </p:txBody>
      </p:sp>
      <p:sp>
        <p:nvSpPr>
          <p:cNvPr id="38" name="TextBox 37"/>
          <p:cNvSpPr txBox="1"/>
          <p:nvPr/>
        </p:nvSpPr>
        <p:spPr>
          <a:xfrm>
            <a:off x="2450592" y="2999232"/>
            <a:ext cx="1536192" cy="256032"/>
          </a:xfrm>
          <a:prstGeom prst="rect">
            <a:avLst/>
          </a:prstGeom>
          <a:noFill/>
        </p:spPr>
        <p:txBody>
          <a:bodyPr wrap="square">
            <a:spAutoFit/>
          </a:bodyPr>
          <a:lstStyle/>
          <a:p>
            <a:pPr algn="l"/>
            <a:r>
              <a:rPr sz="1050" b="1" i="0">
                <a:solidFill>
                  <a:srgbClr val="2DB89E"/>
                </a:solidFill>
                <a:latin typeface="Calibri"/>
              </a:rPr>
              <a:t>✓ Live signals</a:t>
            </a:r>
          </a:p>
        </p:txBody>
      </p:sp>
      <p:sp>
        <p:nvSpPr>
          <p:cNvPr id="39" name="TextBox 38"/>
          <p:cNvSpPr txBox="1"/>
          <p:nvPr/>
        </p:nvSpPr>
        <p:spPr>
          <a:xfrm>
            <a:off x="4096512" y="2999232"/>
            <a:ext cx="1261872" cy="256032"/>
          </a:xfrm>
          <a:prstGeom prst="rect">
            <a:avLst/>
          </a:prstGeom>
          <a:noFill/>
        </p:spPr>
        <p:txBody>
          <a:bodyPr wrap="square">
            <a:spAutoFit/>
          </a:bodyPr>
          <a:lstStyle/>
          <a:p>
            <a:pPr algn="l"/>
            <a:r>
              <a:rPr sz="1050" b="0" i="0">
                <a:solidFill>
                  <a:srgbClr val="FBBF24"/>
                </a:solidFill>
                <a:latin typeface="Calibri"/>
              </a:rPr>
              <a:t>~ Static</a:t>
            </a:r>
          </a:p>
        </p:txBody>
      </p:sp>
      <p:sp>
        <p:nvSpPr>
          <p:cNvPr id="40" name="TextBox 39"/>
          <p:cNvSpPr txBox="1"/>
          <p:nvPr/>
        </p:nvSpPr>
        <p:spPr>
          <a:xfrm>
            <a:off x="5468112" y="2999232"/>
            <a:ext cx="1261872" cy="256032"/>
          </a:xfrm>
          <a:prstGeom prst="rect">
            <a:avLst/>
          </a:prstGeom>
          <a:noFill/>
        </p:spPr>
        <p:txBody>
          <a:bodyPr wrap="square">
            <a:spAutoFit/>
          </a:bodyPr>
          <a:lstStyle/>
          <a:p>
            <a:pPr algn="l"/>
            <a:r>
              <a:rPr sz="1050" b="0" i="0">
                <a:solidFill>
                  <a:srgbClr val="FBBF24"/>
                </a:solidFill>
                <a:latin typeface="Calibri"/>
              </a:rPr>
              <a:t>~ Complex</a:t>
            </a:r>
          </a:p>
        </p:txBody>
      </p:sp>
      <p:sp>
        <p:nvSpPr>
          <p:cNvPr id="41" name="TextBox 40"/>
          <p:cNvSpPr txBox="1"/>
          <p:nvPr/>
        </p:nvSpPr>
        <p:spPr>
          <a:xfrm>
            <a:off x="6839712" y="2999232"/>
            <a:ext cx="1261872" cy="256032"/>
          </a:xfrm>
          <a:prstGeom prst="rect">
            <a:avLst/>
          </a:prstGeom>
          <a:noFill/>
        </p:spPr>
        <p:txBody>
          <a:bodyPr wrap="square">
            <a:spAutoFit/>
          </a:bodyPr>
          <a:lstStyle/>
          <a:p>
            <a:pPr algn="l"/>
            <a:r>
              <a:rPr sz="1050" b="0" i="0">
                <a:solidFill>
                  <a:srgbClr val="FBBF24"/>
                </a:solidFill>
                <a:latin typeface="Calibri"/>
              </a:rPr>
              <a:t>~ Basic</a:t>
            </a:r>
          </a:p>
        </p:txBody>
      </p:sp>
      <p:sp>
        <p:nvSpPr>
          <p:cNvPr id="42" name="TextBox 41"/>
          <p:cNvSpPr txBox="1"/>
          <p:nvPr/>
        </p:nvSpPr>
        <p:spPr>
          <a:xfrm>
            <a:off x="8211312" y="2999232"/>
            <a:ext cx="1399032" cy="256032"/>
          </a:xfrm>
          <a:prstGeom prst="rect">
            <a:avLst/>
          </a:prstGeom>
          <a:noFill/>
        </p:spPr>
        <p:txBody>
          <a:bodyPr wrap="square">
            <a:spAutoFit/>
          </a:bodyPr>
          <a:lstStyle/>
          <a:p>
            <a:pPr algn="l"/>
            <a:r>
              <a:rPr sz="1050" b="0" i="0">
                <a:solidFill>
                  <a:srgbClr val="F87171"/>
                </a:solidFill>
                <a:latin typeface="Calibri"/>
              </a:rPr>
              <a:t>✗</a:t>
            </a:r>
          </a:p>
        </p:txBody>
      </p:sp>
      <p:sp>
        <p:nvSpPr>
          <p:cNvPr id="43" name="TextBox 42"/>
          <p:cNvSpPr txBox="1"/>
          <p:nvPr/>
        </p:nvSpPr>
        <p:spPr>
          <a:xfrm>
            <a:off x="9720072" y="2999232"/>
            <a:ext cx="1444752" cy="256032"/>
          </a:xfrm>
          <a:prstGeom prst="rect">
            <a:avLst/>
          </a:prstGeom>
          <a:noFill/>
        </p:spPr>
        <p:txBody>
          <a:bodyPr wrap="square">
            <a:spAutoFit/>
          </a:bodyPr>
          <a:lstStyle/>
          <a:p>
            <a:pPr algn="l"/>
            <a:r>
              <a:rPr sz="1050" b="0" i="0">
                <a:solidFill>
                  <a:srgbClr val="FBBF24"/>
                </a:solidFill>
                <a:latin typeface="Calibri"/>
              </a:rPr>
              <a:t>~ Templates</a:t>
            </a:r>
          </a:p>
        </p:txBody>
      </p:sp>
      <p:sp>
        <p:nvSpPr>
          <p:cNvPr id="44" name="Rectangle 43"/>
          <p:cNvSpPr/>
          <p:nvPr/>
        </p:nvSpPr>
        <p:spPr>
          <a:xfrm>
            <a:off x="457200" y="3337560"/>
            <a:ext cx="10744200" cy="475488"/>
          </a:xfrm>
          <a:prstGeom prst="rect">
            <a:avLst/>
          </a:prstGeom>
          <a:solidFill>
            <a:srgbClr val="0F1C2C"/>
          </a:solidFill>
          <a:ln w="3175">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0352" y="3474720"/>
            <a:ext cx="1810512" cy="256032"/>
          </a:xfrm>
          <a:prstGeom prst="rect">
            <a:avLst/>
          </a:prstGeom>
          <a:noFill/>
        </p:spPr>
        <p:txBody>
          <a:bodyPr wrap="square">
            <a:spAutoFit/>
          </a:bodyPr>
          <a:lstStyle/>
          <a:p>
            <a:pPr algn="l"/>
            <a:r>
              <a:rPr sz="1050" b="1" i="0">
                <a:solidFill>
                  <a:srgbClr val="F1F5F9"/>
                </a:solidFill>
                <a:latin typeface="Calibri"/>
              </a:rPr>
              <a:t>India-First Pricing</a:t>
            </a:r>
          </a:p>
        </p:txBody>
      </p:sp>
      <p:sp>
        <p:nvSpPr>
          <p:cNvPr id="46" name="TextBox 45"/>
          <p:cNvSpPr txBox="1"/>
          <p:nvPr/>
        </p:nvSpPr>
        <p:spPr>
          <a:xfrm>
            <a:off x="2450592" y="3474720"/>
            <a:ext cx="1536192" cy="256032"/>
          </a:xfrm>
          <a:prstGeom prst="rect">
            <a:avLst/>
          </a:prstGeom>
          <a:noFill/>
        </p:spPr>
        <p:txBody>
          <a:bodyPr wrap="square">
            <a:spAutoFit/>
          </a:bodyPr>
          <a:lstStyle/>
          <a:p>
            <a:pPr algn="l"/>
            <a:r>
              <a:rPr sz="1050" b="1" i="0">
                <a:solidFill>
                  <a:srgbClr val="2DB89E"/>
                </a:solidFill>
                <a:latin typeface="Calibri"/>
              </a:rPr>
              <a:t>✓ Freemium</a:t>
            </a:r>
          </a:p>
        </p:txBody>
      </p:sp>
      <p:sp>
        <p:nvSpPr>
          <p:cNvPr id="47" name="TextBox 46"/>
          <p:cNvSpPr txBox="1"/>
          <p:nvPr/>
        </p:nvSpPr>
        <p:spPr>
          <a:xfrm>
            <a:off x="4096512" y="3474720"/>
            <a:ext cx="1261872" cy="256032"/>
          </a:xfrm>
          <a:prstGeom prst="rect">
            <a:avLst/>
          </a:prstGeom>
          <a:noFill/>
        </p:spPr>
        <p:txBody>
          <a:bodyPr wrap="square">
            <a:spAutoFit/>
          </a:bodyPr>
          <a:lstStyle/>
          <a:p>
            <a:pPr algn="l"/>
            <a:r>
              <a:rPr sz="1050" b="0" i="0">
                <a:solidFill>
                  <a:srgbClr val="94A3B8"/>
                </a:solidFill>
                <a:latin typeface="Calibri"/>
              </a:rPr>
              <a:t>$49–99/mo</a:t>
            </a:r>
          </a:p>
        </p:txBody>
      </p:sp>
      <p:sp>
        <p:nvSpPr>
          <p:cNvPr id="48" name="TextBox 47"/>
          <p:cNvSpPr txBox="1"/>
          <p:nvPr/>
        </p:nvSpPr>
        <p:spPr>
          <a:xfrm>
            <a:off x="5468112" y="3474720"/>
            <a:ext cx="1261872" cy="256032"/>
          </a:xfrm>
          <a:prstGeom prst="rect">
            <a:avLst/>
          </a:prstGeom>
          <a:noFill/>
        </p:spPr>
        <p:txBody>
          <a:bodyPr wrap="square">
            <a:spAutoFit/>
          </a:bodyPr>
          <a:lstStyle/>
          <a:p>
            <a:pPr algn="l"/>
            <a:r>
              <a:rPr sz="1050" b="0" i="0">
                <a:solidFill>
                  <a:srgbClr val="94A3B8"/>
                </a:solidFill>
                <a:latin typeface="Calibri"/>
              </a:rPr>
              <a:t>$149+/mo</a:t>
            </a:r>
          </a:p>
        </p:txBody>
      </p:sp>
      <p:sp>
        <p:nvSpPr>
          <p:cNvPr id="49" name="TextBox 48"/>
          <p:cNvSpPr txBox="1"/>
          <p:nvPr/>
        </p:nvSpPr>
        <p:spPr>
          <a:xfrm>
            <a:off x="6839712" y="3474720"/>
            <a:ext cx="1261872" cy="256032"/>
          </a:xfrm>
          <a:prstGeom prst="rect">
            <a:avLst/>
          </a:prstGeom>
          <a:noFill/>
        </p:spPr>
        <p:txBody>
          <a:bodyPr wrap="square">
            <a:spAutoFit/>
          </a:bodyPr>
          <a:lstStyle/>
          <a:p>
            <a:pPr algn="l"/>
            <a:r>
              <a:rPr sz="1050" b="0" i="0">
                <a:solidFill>
                  <a:srgbClr val="94A3B8"/>
                </a:solidFill>
                <a:latin typeface="Calibri"/>
              </a:rPr>
              <a:t>$500+/mo</a:t>
            </a:r>
          </a:p>
        </p:txBody>
      </p:sp>
      <p:sp>
        <p:nvSpPr>
          <p:cNvPr id="50" name="TextBox 49"/>
          <p:cNvSpPr txBox="1"/>
          <p:nvPr/>
        </p:nvSpPr>
        <p:spPr>
          <a:xfrm>
            <a:off x="8211312" y="3474720"/>
            <a:ext cx="1399032" cy="256032"/>
          </a:xfrm>
          <a:prstGeom prst="rect">
            <a:avLst/>
          </a:prstGeom>
          <a:noFill/>
        </p:spPr>
        <p:txBody>
          <a:bodyPr wrap="square">
            <a:spAutoFit/>
          </a:bodyPr>
          <a:lstStyle/>
          <a:p>
            <a:pPr algn="l"/>
            <a:r>
              <a:rPr sz="1050" b="0" i="0">
                <a:solidFill>
                  <a:srgbClr val="94A3B8"/>
                </a:solidFill>
                <a:latin typeface="Calibri"/>
              </a:rPr>
              <a:t>$80/mo</a:t>
            </a:r>
          </a:p>
        </p:txBody>
      </p:sp>
      <p:sp>
        <p:nvSpPr>
          <p:cNvPr id="51" name="TextBox 50"/>
          <p:cNvSpPr txBox="1"/>
          <p:nvPr/>
        </p:nvSpPr>
        <p:spPr>
          <a:xfrm>
            <a:off x="9720072" y="3474720"/>
            <a:ext cx="1444752" cy="256032"/>
          </a:xfrm>
          <a:prstGeom prst="rect">
            <a:avLst/>
          </a:prstGeom>
          <a:noFill/>
        </p:spPr>
        <p:txBody>
          <a:bodyPr wrap="square">
            <a:spAutoFit/>
          </a:bodyPr>
          <a:lstStyle/>
          <a:p>
            <a:pPr algn="l"/>
            <a:r>
              <a:rPr sz="1050" b="0" i="0">
                <a:solidFill>
                  <a:srgbClr val="94A3B8"/>
                </a:solidFill>
                <a:latin typeface="Calibri"/>
              </a:rPr>
              <a:t>$100+/mo</a:t>
            </a:r>
          </a:p>
        </p:txBody>
      </p:sp>
      <p:sp>
        <p:nvSpPr>
          <p:cNvPr id="52" name="Rectangle 51"/>
          <p:cNvSpPr/>
          <p:nvPr/>
        </p:nvSpPr>
        <p:spPr>
          <a:xfrm>
            <a:off x="457200" y="3977640"/>
            <a:ext cx="5486400" cy="566928"/>
          </a:xfrm>
          <a:prstGeom prst="rect">
            <a:avLst/>
          </a:prstGeom>
          <a:solidFill>
            <a:srgbClr val="0D362E"/>
          </a:solidFill>
          <a:ln w="9525">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4069080"/>
            <a:ext cx="3291840" cy="274320"/>
          </a:xfrm>
          <a:prstGeom prst="rect">
            <a:avLst/>
          </a:prstGeom>
          <a:noFill/>
        </p:spPr>
        <p:txBody>
          <a:bodyPr wrap="square">
            <a:spAutoFit/>
          </a:bodyPr>
          <a:lstStyle/>
          <a:p>
            <a:pPr algn="l"/>
            <a:r>
              <a:rPr sz="1250" b="1" i="0">
                <a:solidFill>
                  <a:srgbClr val="F1F5F9"/>
                </a:solidFill>
                <a:latin typeface="Calibri"/>
              </a:rPr>
              <a:t>Only platform with true warm path discovery</a:t>
            </a:r>
          </a:p>
        </p:txBody>
      </p:sp>
      <p:sp>
        <p:nvSpPr>
          <p:cNvPr id="54" name="TextBox 53"/>
          <p:cNvSpPr txBox="1"/>
          <p:nvPr/>
        </p:nvSpPr>
        <p:spPr>
          <a:xfrm>
            <a:off x="3931920" y="4069080"/>
            <a:ext cx="1920240" cy="274320"/>
          </a:xfrm>
          <a:prstGeom prst="rect">
            <a:avLst/>
          </a:prstGeom>
          <a:noFill/>
        </p:spPr>
        <p:txBody>
          <a:bodyPr wrap="square">
            <a:spAutoFit/>
          </a:bodyPr>
          <a:lstStyle/>
          <a:p>
            <a:pPr algn="l"/>
            <a:r>
              <a:rPr sz="1150" b="0" i="0">
                <a:solidFill>
                  <a:srgbClr val="2DB89E"/>
                </a:solidFill>
                <a:latin typeface="Calibri"/>
              </a:rPr>
              <a:t>no competitor has built this layer</a:t>
            </a:r>
          </a:p>
        </p:txBody>
      </p:sp>
      <p:sp>
        <p:nvSpPr>
          <p:cNvPr id="55" name="Rectangle 54"/>
          <p:cNvSpPr/>
          <p:nvPr/>
        </p:nvSpPr>
        <p:spPr>
          <a:xfrm>
            <a:off x="6263640" y="3977640"/>
            <a:ext cx="5486400" cy="566928"/>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28232" y="4069080"/>
            <a:ext cx="2560320" cy="274320"/>
          </a:xfrm>
          <a:prstGeom prst="rect">
            <a:avLst/>
          </a:prstGeom>
          <a:noFill/>
        </p:spPr>
        <p:txBody>
          <a:bodyPr wrap="square">
            <a:spAutoFit/>
          </a:bodyPr>
          <a:lstStyle/>
          <a:p>
            <a:pPr algn="l"/>
            <a:r>
              <a:rPr sz="1250" b="1" i="0">
                <a:solidFill>
                  <a:srgbClr val="F1F5F9"/>
                </a:solidFill>
                <a:latin typeface="Calibri"/>
              </a:rPr>
              <a:t>10× cheaper than US tools</a:t>
            </a:r>
          </a:p>
        </p:txBody>
      </p:sp>
      <p:sp>
        <p:nvSpPr>
          <p:cNvPr id="57" name="TextBox 56"/>
          <p:cNvSpPr txBox="1"/>
          <p:nvPr/>
        </p:nvSpPr>
        <p:spPr>
          <a:xfrm>
            <a:off x="9052560" y="4069080"/>
            <a:ext cx="2560320" cy="274320"/>
          </a:xfrm>
          <a:prstGeom prst="rect">
            <a:avLst/>
          </a:prstGeom>
          <a:noFill/>
        </p:spPr>
        <p:txBody>
          <a:bodyPr wrap="square">
            <a:spAutoFit/>
          </a:bodyPr>
          <a:lstStyle/>
          <a:p>
            <a:pPr algn="l"/>
            <a:r>
              <a:rPr sz="1150" b="0" i="0">
                <a:solidFill>
                  <a:srgbClr val="94A3B8"/>
                </a:solidFill>
                <a:latin typeface="Calibri"/>
              </a:rPr>
              <a:t>built for Indian startup budgets from day 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Business Model &amp; Network Effects</a:t>
            </a:r>
          </a:p>
        </p:txBody>
      </p:sp>
      <p:sp>
        <p:nvSpPr>
          <p:cNvPr id="4" name="Rectangle 3"/>
          <p:cNvSpPr/>
          <p:nvPr/>
        </p:nvSpPr>
        <p:spPr>
          <a:xfrm>
            <a:off x="457200" y="868680"/>
            <a:ext cx="5486400" cy="2395728"/>
          </a:xfrm>
          <a:prstGeom prst="rect">
            <a:avLst/>
          </a:prstGeom>
          <a:solidFill>
            <a:srgbClr val="0D362E"/>
          </a:solidFill>
          <a:ln w="9525">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868680"/>
            <a:ext cx="5486400" cy="22860"/>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987552"/>
            <a:ext cx="1828800" cy="228600"/>
          </a:xfrm>
          <a:prstGeom prst="rect">
            <a:avLst/>
          </a:prstGeom>
          <a:noFill/>
        </p:spPr>
        <p:txBody>
          <a:bodyPr wrap="square">
            <a:spAutoFit/>
          </a:bodyPr>
          <a:lstStyle/>
          <a:p>
            <a:pPr algn="l"/>
            <a:r>
              <a:rPr sz="900" b="1" i="0">
                <a:solidFill>
                  <a:srgbClr val="2DB89E"/>
                </a:solidFill>
                <a:latin typeface="Calibri"/>
              </a:rPr>
              <a:t>LAUNCH MODEL</a:t>
            </a:r>
          </a:p>
        </p:txBody>
      </p:sp>
      <p:sp>
        <p:nvSpPr>
          <p:cNvPr id="7" name="TextBox 6"/>
          <p:cNvSpPr txBox="1"/>
          <p:nvPr/>
        </p:nvSpPr>
        <p:spPr>
          <a:xfrm>
            <a:off x="658368" y="1207008"/>
            <a:ext cx="2743200" cy="502920"/>
          </a:xfrm>
          <a:prstGeom prst="rect">
            <a:avLst/>
          </a:prstGeom>
          <a:noFill/>
        </p:spPr>
        <p:txBody>
          <a:bodyPr wrap="square">
            <a:spAutoFit/>
          </a:bodyPr>
          <a:lstStyle/>
          <a:p>
            <a:pPr algn="l"/>
            <a:r>
              <a:rPr sz="2400" b="1" i="0">
                <a:solidFill>
                  <a:srgbClr val="F1F5F9"/>
                </a:solidFill>
                <a:latin typeface="Calibri"/>
              </a:rPr>
              <a:t>Free</a:t>
            </a:r>
          </a:p>
        </p:txBody>
      </p:sp>
      <p:sp>
        <p:nvSpPr>
          <p:cNvPr id="8" name="TextBox 7"/>
          <p:cNvSpPr txBox="1"/>
          <p:nvPr/>
        </p:nvSpPr>
        <p:spPr>
          <a:xfrm>
            <a:off x="4846320" y="1170432"/>
            <a:ext cx="914400" cy="502920"/>
          </a:xfrm>
          <a:prstGeom prst="rect">
            <a:avLst/>
          </a:prstGeom>
          <a:noFill/>
        </p:spPr>
        <p:txBody>
          <a:bodyPr wrap="square">
            <a:spAutoFit/>
          </a:bodyPr>
          <a:lstStyle/>
          <a:p>
            <a:pPr algn="r"/>
            <a:r>
              <a:rPr sz="2800" b="1" i="0">
                <a:solidFill>
                  <a:srgbClr val="2DB89E"/>
                </a:solidFill>
                <a:latin typeface="Calibri"/>
              </a:rPr>
              <a:t>₹0</a:t>
            </a:r>
          </a:p>
        </p:txBody>
      </p:sp>
      <p:sp>
        <p:nvSpPr>
          <p:cNvPr id="9" name="Oval 8"/>
          <p:cNvSpPr/>
          <p:nvPr/>
        </p:nvSpPr>
        <p:spPr>
          <a:xfrm>
            <a:off x="658368" y="1847088"/>
            <a:ext cx="82296" cy="82296"/>
          </a:xfrm>
          <a:prstGeom prst="ellipse">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83080"/>
            <a:ext cx="2468880" cy="219456"/>
          </a:xfrm>
          <a:prstGeom prst="rect">
            <a:avLst/>
          </a:prstGeom>
          <a:noFill/>
        </p:spPr>
        <p:txBody>
          <a:bodyPr wrap="square">
            <a:spAutoFit/>
          </a:bodyPr>
          <a:lstStyle/>
          <a:p>
            <a:pPr algn="l"/>
            <a:r>
              <a:rPr sz="1150" b="0" i="0">
                <a:solidFill>
                  <a:srgbClr val="94A3B8"/>
                </a:solidFill>
                <a:latin typeface="Calibri"/>
              </a:rPr>
              <a:t>Unlimited contacts</a:t>
            </a:r>
          </a:p>
        </p:txBody>
      </p:sp>
      <p:sp>
        <p:nvSpPr>
          <p:cNvPr id="11" name="Oval 10"/>
          <p:cNvSpPr/>
          <p:nvPr/>
        </p:nvSpPr>
        <p:spPr>
          <a:xfrm>
            <a:off x="3401568" y="1847088"/>
            <a:ext cx="82296" cy="82296"/>
          </a:xfrm>
          <a:prstGeom prst="ellipse">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783080"/>
            <a:ext cx="2468880" cy="219456"/>
          </a:xfrm>
          <a:prstGeom prst="rect">
            <a:avLst/>
          </a:prstGeom>
          <a:noFill/>
        </p:spPr>
        <p:txBody>
          <a:bodyPr wrap="square">
            <a:spAutoFit/>
          </a:bodyPr>
          <a:lstStyle/>
          <a:p>
            <a:pPr algn="l"/>
            <a:r>
              <a:rPr sz="1150" b="0" i="0">
                <a:solidFill>
                  <a:srgbClr val="94A3B8"/>
                </a:solidFill>
                <a:latin typeface="Calibri"/>
              </a:rPr>
              <a:t>Graph visualisation</a:t>
            </a:r>
          </a:p>
        </p:txBody>
      </p:sp>
      <p:sp>
        <p:nvSpPr>
          <p:cNvPr id="13" name="Oval 12"/>
          <p:cNvSpPr/>
          <p:nvPr/>
        </p:nvSpPr>
        <p:spPr>
          <a:xfrm>
            <a:off x="658368" y="2148839"/>
            <a:ext cx="82296" cy="82296"/>
          </a:xfrm>
          <a:prstGeom prst="ellipse">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084831"/>
            <a:ext cx="2468880" cy="219456"/>
          </a:xfrm>
          <a:prstGeom prst="rect">
            <a:avLst/>
          </a:prstGeom>
          <a:noFill/>
        </p:spPr>
        <p:txBody>
          <a:bodyPr wrap="square">
            <a:spAutoFit/>
          </a:bodyPr>
          <a:lstStyle/>
          <a:p>
            <a:pPr algn="l"/>
            <a:r>
              <a:rPr sz="1150" b="0" i="0">
                <a:solidFill>
                  <a:srgbClr val="94A3B8"/>
                </a:solidFill>
                <a:latin typeface="Calibri"/>
              </a:rPr>
              <a:t>25 warm paths/month</a:t>
            </a:r>
          </a:p>
        </p:txBody>
      </p:sp>
      <p:sp>
        <p:nvSpPr>
          <p:cNvPr id="15" name="Oval 14"/>
          <p:cNvSpPr/>
          <p:nvPr/>
        </p:nvSpPr>
        <p:spPr>
          <a:xfrm>
            <a:off x="3401568" y="2148839"/>
            <a:ext cx="82296" cy="82296"/>
          </a:xfrm>
          <a:prstGeom prst="ellipse">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2084831"/>
            <a:ext cx="2468880" cy="219456"/>
          </a:xfrm>
          <a:prstGeom prst="rect">
            <a:avLst/>
          </a:prstGeom>
          <a:noFill/>
        </p:spPr>
        <p:txBody>
          <a:bodyPr wrap="square">
            <a:spAutoFit/>
          </a:bodyPr>
          <a:lstStyle/>
          <a:p>
            <a:pPr algn="l"/>
            <a:r>
              <a:rPr sz="1150" b="0" i="0">
                <a:solidFill>
                  <a:srgbClr val="94A3B8"/>
                </a:solidFill>
                <a:latin typeface="Calibri"/>
              </a:rPr>
              <a:t>Email channel</a:t>
            </a:r>
          </a:p>
        </p:txBody>
      </p:sp>
      <p:sp>
        <p:nvSpPr>
          <p:cNvPr id="17" name="Rectangle 16"/>
          <p:cNvSpPr/>
          <p:nvPr/>
        </p:nvSpPr>
        <p:spPr>
          <a:xfrm>
            <a:off x="457200" y="3364992"/>
            <a:ext cx="5486400" cy="214884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364992"/>
            <a:ext cx="5486400" cy="16459"/>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493008"/>
            <a:ext cx="1828800" cy="228600"/>
          </a:xfrm>
          <a:prstGeom prst="rect">
            <a:avLst/>
          </a:prstGeom>
          <a:noFill/>
        </p:spPr>
        <p:txBody>
          <a:bodyPr wrap="square">
            <a:spAutoFit/>
          </a:bodyPr>
          <a:lstStyle/>
          <a:p>
            <a:pPr algn="l"/>
            <a:r>
              <a:rPr sz="900" b="1" i="0">
                <a:solidFill>
                  <a:srgbClr val="2DB89E"/>
                </a:solidFill>
                <a:latin typeface="Calibri"/>
              </a:rPr>
              <a:t>PILOT ACCESS</a:t>
            </a:r>
          </a:p>
        </p:txBody>
      </p:sp>
      <p:sp>
        <p:nvSpPr>
          <p:cNvPr id="20" name="TextBox 19"/>
          <p:cNvSpPr txBox="1"/>
          <p:nvPr/>
        </p:nvSpPr>
        <p:spPr>
          <a:xfrm>
            <a:off x="658368" y="3712463"/>
            <a:ext cx="2743200" cy="457200"/>
          </a:xfrm>
          <a:prstGeom prst="rect">
            <a:avLst/>
          </a:prstGeom>
          <a:noFill/>
        </p:spPr>
        <p:txBody>
          <a:bodyPr wrap="square">
            <a:spAutoFit/>
          </a:bodyPr>
          <a:lstStyle/>
          <a:p>
            <a:pPr algn="l"/>
            <a:r>
              <a:rPr sz="2400" b="1" i="0">
                <a:solidFill>
                  <a:srgbClr val="F1F5F9"/>
                </a:solidFill>
                <a:latin typeface="Calibri"/>
              </a:rPr>
              <a:t>Paid</a:t>
            </a:r>
          </a:p>
        </p:txBody>
      </p:sp>
      <p:sp>
        <p:nvSpPr>
          <p:cNvPr id="21" name="Rectangle 20"/>
          <p:cNvSpPr/>
          <p:nvPr/>
        </p:nvSpPr>
        <p:spPr>
          <a:xfrm>
            <a:off x="4297680" y="3749039"/>
            <a:ext cx="1463040" cy="329184"/>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3803904"/>
            <a:ext cx="1371600" cy="219456"/>
          </a:xfrm>
          <a:prstGeom prst="rect">
            <a:avLst/>
          </a:prstGeom>
          <a:noFill/>
        </p:spPr>
        <p:txBody>
          <a:bodyPr wrap="square">
            <a:spAutoFit/>
          </a:bodyPr>
          <a:lstStyle/>
          <a:p>
            <a:pPr algn="ctr"/>
            <a:r>
              <a:rPr sz="1050" b="0" i="0">
                <a:solidFill>
                  <a:srgbClr val="94A3B8"/>
                </a:solidFill>
                <a:latin typeface="Calibri"/>
              </a:rPr>
              <a:t>TBD with cohort</a:t>
            </a:r>
          </a:p>
        </p:txBody>
      </p:sp>
      <p:sp>
        <p:nvSpPr>
          <p:cNvPr id="23" name="Oval 22"/>
          <p:cNvSpPr/>
          <p:nvPr/>
        </p:nvSpPr>
        <p:spPr>
          <a:xfrm>
            <a:off x="658368" y="4343400"/>
            <a:ext cx="82296" cy="82296"/>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279392"/>
            <a:ext cx="2468880" cy="219456"/>
          </a:xfrm>
          <a:prstGeom prst="rect">
            <a:avLst/>
          </a:prstGeom>
          <a:noFill/>
        </p:spPr>
        <p:txBody>
          <a:bodyPr wrap="square">
            <a:spAutoFit/>
          </a:bodyPr>
          <a:lstStyle/>
          <a:p>
            <a:pPr algn="l"/>
            <a:r>
              <a:rPr sz="1150" b="0" i="0">
                <a:solidFill>
                  <a:srgbClr val="94A3B8"/>
                </a:solidFill>
                <a:latin typeface="Calibri"/>
              </a:rPr>
              <a:t>All 5 channels</a:t>
            </a:r>
          </a:p>
        </p:txBody>
      </p:sp>
      <p:sp>
        <p:nvSpPr>
          <p:cNvPr id="25" name="Oval 24"/>
          <p:cNvSpPr/>
          <p:nvPr/>
        </p:nvSpPr>
        <p:spPr>
          <a:xfrm>
            <a:off x="3401568" y="4343400"/>
            <a:ext cx="82296" cy="82296"/>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0" y="4279392"/>
            <a:ext cx="2468880" cy="219456"/>
          </a:xfrm>
          <a:prstGeom prst="rect">
            <a:avLst/>
          </a:prstGeom>
          <a:noFill/>
        </p:spPr>
        <p:txBody>
          <a:bodyPr wrap="square">
            <a:spAutoFit/>
          </a:bodyPr>
          <a:lstStyle/>
          <a:p>
            <a:pPr algn="l"/>
            <a:r>
              <a:rPr sz="1150" b="0" i="0">
                <a:solidFill>
                  <a:srgbClr val="94A3B8"/>
                </a:solidFill>
                <a:latin typeface="Calibri"/>
              </a:rPr>
              <a:t>Unlimited paths</a:t>
            </a:r>
          </a:p>
        </p:txBody>
      </p:sp>
      <p:sp>
        <p:nvSpPr>
          <p:cNvPr id="27" name="Oval 26"/>
          <p:cNvSpPr/>
          <p:nvPr/>
        </p:nvSpPr>
        <p:spPr>
          <a:xfrm>
            <a:off x="658368" y="4645152"/>
            <a:ext cx="82296" cy="82296"/>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581144"/>
            <a:ext cx="2468880" cy="219456"/>
          </a:xfrm>
          <a:prstGeom prst="rect">
            <a:avLst/>
          </a:prstGeom>
          <a:noFill/>
        </p:spPr>
        <p:txBody>
          <a:bodyPr wrap="square">
            <a:spAutoFit/>
          </a:bodyPr>
          <a:lstStyle/>
          <a:p>
            <a:pPr algn="l"/>
            <a:r>
              <a:rPr sz="1150" b="0" i="0">
                <a:solidFill>
                  <a:srgbClr val="94A3B8"/>
                </a:solidFill>
                <a:latin typeface="Calibri"/>
              </a:rPr>
              <a:t>Full AI queue</a:t>
            </a:r>
          </a:p>
        </p:txBody>
      </p:sp>
      <p:sp>
        <p:nvSpPr>
          <p:cNvPr id="29" name="Oval 28"/>
          <p:cNvSpPr/>
          <p:nvPr/>
        </p:nvSpPr>
        <p:spPr>
          <a:xfrm>
            <a:off x="3401568" y="4645152"/>
            <a:ext cx="82296" cy="82296"/>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66160" y="4581144"/>
            <a:ext cx="2468880" cy="219456"/>
          </a:xfrm>
          <a:prstGeom prst="rect">
            <a:avLst/>
          </a:prstGeom>
          <a:noFill/>
        </p:spPr>
        <p:txBody>
          <a:bodyPr wrap="square">
            <a:spAutoFit/>
          </a:bodyPr>
          <a:lstStyle/>
          <a:p>
            <a:pPr algn="l"/>
            <a:r>
              <a:rPr sz="1150" b="0" i="0">
                <a:solidFill>
                  <a:srgbClr val="94A3B8"/>
                </a:solidFill>
                <a:latin typeface="Calibri"/>
              </a:rPr>
              <a:t>Team workspace</a:t>
            </a:r>
          </a:p>
        </p:txBody>
      </p:sp>
      <p:sp>
        <p:nvSpPr>
          <p:cNvPr id="31" name="Rectangle 30"/>
          <p:cNvSpPr/>
          <p:nvPr/>
        </p:nvSpPr>
        <p:spPr>
          <a:xfrm>
            <a:off x="457200" y="5596128"/>
            <a:ext cx="5486400" cy="502920"/>
          </a:xfrm>
          <a:prstGeom prst="rect">
            <a:avLst/>
          </a:prstGeom>
          <a:solidFill>
            <a:srgbClr val="0D362E"/>
          </a:solidFill>
          <a:ln w="6350">
            <a:solidFill>
              <a:srgbClr val="206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5705856"/>
            <a:ext cx="5212080" cy="274320"/>
          </a:xfrm>
          <a:prstGeom prst="rect">
            <a:avLst/>
          </a:prstGeom>
          <a:noFill/>
        </p:spPr>
        <p:txBody>
          <a:bodyPr wrap="square">
            <a:spAutoFit/>
          </a:bodyPr>
          <a:lstStyle/>
          <a:p>
            <a:pPr algn="l"/>
            <a:r>
              <a:rPr sz="1100" b="0" i="0">
                <a:solidFill>
                  <a:srgbClr val="94A3B8"/>
                </a:solidFill>
                <a:latin typeface="Calibri"/>
              </a:rPr>
              <a:t>Free to grow the graph. Paid tier pricing locked in with first pilot cohort feedback — not guessed upfront.</a:t>
            </a:r>
          </a:p>
        </p:txBody>
      </p:sp>
      <p:sp>
        <p:nvSpPr>
          <p:cNvPr id="33" name="TextBox 32"/>
          <p:cNvSpPr txBox="1"/>
          <p:nvPr/>
        </p:nvSpPr>
        <p:spPr>
          <a:xfrm>
            <a:off x="6400800" y="868680"/>
            <a:ext cx="5486400" cy="320040"/>
          </a:xfrm>
          <a:prstGeom prst="rect">
            <a:avLst/>
          </a:prstGeom>
          <a:noFill/>
        </p:spPr>
        <p:txBody>
          <a:bodyPr wrap="square">
            <a:spAutoFit/>
          </a:bodyPr>
          <a:lstStyle/>
          <a:p>
            <a:pPr algn="l"/>
            <a:r>
              <a:rPr sz="1600" b="1" i="0">
                <a:solidFill>
                  <a:srgbClr val="F1F5F9"/>
                </a:solidFill>
                <a:latin typeface="Calibri"/>
              </a:rPr>
              <a:t>The Data Flywheel</a:t>
            </a:r>
          </a:p>
        </p:txBody>
      </p:sp>
      <p:sp>
        <p:nvSpPr>
          <p:cNvPr id="34" name="TextBox 33"/>
          <p:cNvSpPr txBox="1"/>
          <p:nvPr/>
        </p:nvSpPr>
        <p:spPr>
          <a:xfrm>
            <a:off x="6400800" y="1234440"/>
            <a:ext cx="5486400" cy="640080"/>
          </a:xfrm>
          <a:prstGeom prst="rect">
            <a:avLst/>
          </a:prstGeom>
          <a:noFill/>
        </p:spPr>
        <p:txBody>
          <a:bodyPr wrap="square">
            <a:spAutoFit/>
          </a:bodyPr>
          <a:lstStyle/>
          <a:p>
            <a:pPr algn="l"/>
            <a:r>
              <a:rPr sz="1200" b="0" i="0">
                <a:solidFill>
                  <a:srgbClr val="94A3B8"/>
                </a:solidFill>
                <a:latin typeface="Calibri"/>
              </a:rPr>
              <a:t>Every new user adds nodes to the global warm graph. Paths shorten, conversion rises, the network becomes impossible to leave. Identical to how LinkedIn's graph became irreplaceable.</a:t>
            </a:r>
          </a:p>
        </p:txBody>
      </p:sp>
      <p:sp>
        <p:nvSpPr>
          <p:cNvPr id="35" name="Rectangle 34"/>
          <p:cNvSpPr/>
          <p:nvPr/>
        </p:nvSpPr>
        <p:spPr>
          <a:xfrm>
            <a:off x="6400800" y="2029968"/>
            <a:ext cx="5486400" cy="233172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65392" y="2176272"/>
            <a:ext cx="3657600" cy="228600"/>
          </a:xfrm>
          <a:prstGeom prst="rect">
            <a:avLst/>
          </a:prstGeom>
          <a:noFill/>
        </p:spPr>
        <p:txBody>
          <a:bodyPr wrap="square">
            <a:spAutoFit/>
          </a:bodyPr>
          <a:lstStyle/>
          <a:p>
            <a:pPr algn="l"/>
            <a:r>
              <a:rPr sz="900" b="1" i="0">
                <a:solidFill>
                  <a:srgbClr val="2DB89E"/>
                </a:solidFill>
                <a:latin typeface="Calibri"/>
              </a:rPr>
              <a:t>NETWORK EFFECT FLYWHEEL</a:t>
            </a:r>
          </a:p>
        </p:txBody>
      </p:sp>
      <p:sp>
        <p:nvSpPr>
          <p:cNvPr id="37" name="Rectangle 36"/>
          <p:cNvSpPr/>
          <p:nvPr/>
        </p:nvSpPr>
        <p:spPr>
          <a:xfrm>
            <a:off x="6565392" y="2487168"/>
            <a:ext cx="1143000" cy="329184"/>
          </a:xfrm>
          <a:prstGeom prst="rect">
            <a:avLst/>
          </a:prstGeom>
          <a:solidFill>
            <a:srgbClr val="0D362E"/>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5392" y="2542032"/>
            <a:ext cx="1143000" cy="237744"/>
          </a:xfrm>
          <a:prstGeom prst="rect">
            <a:avLst/>
          </a:prstGeom>
          <a:noFill/>
        </p:spPr>
        <p:txBody>
          <a:bodyPr wrap="square">
            <a:spAutoFit/>
          </a:bodyPr>
          <a:lstStyle/>
          <a:p>
            <a:pPr algn="ctr"/>
            <a:r>
              <a:rPr sz="1100" b="1" i="0">
                <a:solidFill>
                  <a:srgbClr val="2DB89E"/>
                </a:solidFill>
                <a:latin typeface="Calibri"/>
              </a:rPr>
              <a:t>More Users</a:t>
            </a:r>
          </a:p>
        </p:txBody>
      </p:sp>
      <p:sp>
        <p:nvSpPr>
          <p:cNvPr id="39" name="TextBox 38"/>
          <p:cNvSpPr txBox="1"/>
          <p:nvPr/>
        </p:nvSpPr>
        <p:spPr>
          <a:xfrm>
            <a:off x="7735824" y="2523744"/>
            <a:ext cx="164592" cy="274320"/>
          </a:xfrm>
          <a:prstGeom prst="rect">
            <a:avLst/>
          </a:prstGeom>
          <a:noFill/>
        </p:spPr>
        <p:txBody>
          <a:bodyPr wrap="square">
            <a:spAutoFit/>
          </a:bodyPr>
          <a:lstStyle/>
          <a:p>
            <a:pPr algn="ctr"/>
            <a:r>
              <a:rPr sz="1400" b="0" i="0">
                <a:solidFill>
                  <a:srgbClr val="2DB89E"/>
                </a:solidFill>
                <a:latin typeface="Calibri"/>
              </a:rPr>
              <a:t>›</a:t>
            </a:r>
          </a:p>
        </p:txBody>
      </p:sp>
      <p:sp>
        <p:nvSpPr>
          <p:cNvPr id="40" name="Rectangle 39"/>
          <p:cNvSpPr/>
          <p:nvPr/>
        </p:nvSpPr>
        <p:spPr>
          <a:xfrm>
            <a:off x="7900416" y="2487168"/>
            <a:ext cx="1143000" cy="329184"/>
          </a:xfrm>
          <a:prstGeom prst="rect">
            <a:avLst/>
          </a:prstGeom>
          <a:solidFill>
            <a:srgbClr val="0D362E"/>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00416" y="2542032"/>
            <a:ext cx="1143000" cy="237744"/>
          </a:xfrm>
          <a:prstGeom prst="rect">
            <a:avLst/>
          </a:prstGeom>
          <a:noFill/>
        </p:spPr>
        <p:txBody>
          <a:bodyPr wrap="square">
            <a:spAutoFit/>
          </a:bodyPr>
          <a:lstStyle/>
          <a:p>
            <a:pPr algn="ctr"/>
            <a:r>
              <a:rPr sz="1100" b="1" i="0">
                <a:solidFill>
                  <a:srgbClr val="2DB89E"/>
                </a:solidFill>
                <a:latin typeface="Calibri"/>
              </a:rPr>
              <a:t>Bigger Graph</a:t>
            </a:r>
          </a:p>
        </p:txBody>
      </p:sp>
      <p:sp>
        <p:nvSpPr>
          <p:cNvPr id="42" name="TextBox 41"/>
          <p:cNvSpPr txBox="1"/>
          <p:nvPr/>
        </p:nvSpPr>
        <p:spPr>
          <a:xfrm>
            <a:off x="9070848" y="2523744"/>
            <a:ext cx="164592" cy="274320"/>
          </a:xfrm>
          <a:prstGeom prst="rect">
            <a:avLst/>
          </a:prstGeom>
          <a:noFill/>
        </p:spPr>
        <p:txBody>
          <a:bodyPr wrap="square">
            <a:spAutoFit/>
          </a:bodyPr>
          <a:lstStyle/>
          <a:p>
            <a:pPr algn="ctr"/>
            <a:r>
              <a:rPr sz="1400" b="0" i="0">
                <a:solidFill>
                  <a:srgbClr val="2DB89E"/>
                </a:solidFill>
                <a:latin typeface="Calibri"/>
              </a:rPr>
              <a:t>›</a:t>
            </a:r>
          </a:p>
        </p:txBody>
      </p:sp>
      <p:sp>
        <p:nvSpPr>
          <p:cNvPr id="43" name="Rectangle 42"/>
          <p:cNvSpPr/>
          <p:nvPr/>
        </p:nvSpPr>
        <p:spPr>
          <a:xfrm>
            <a:off x="9235440" y="2487168"/>
            <a:ext cx="1143000" cy="329184"/>
          </a:xfrm>
          <a:prstGeom prst="rect">
            <a:avLst/>
          </a:prstGeom>
          <a:solidFill>
            <a:srgbClr val="0D362E"/>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35440" y="2542032"/>
            <a:ext cx="1143000" cy="237744"/>
          </a:xfrm>
          <a:prstGeom prst="rect">
            <a:avLst/>
          </a:prstGeom>
          <a:noFill/>
        </p:spPr>
        <p:txBody>
          <a:bodyPr wrap="square">
            <a:spAutoFit/>
          </a:bodyPr>
          <a:lstStyle/>
          <a:p>
            <a:pPr algn="ctr"/>
            <a:r>
              <a:rPr sz="1100" b="1" i="0">
                <a:solidFill>
                  <a:srgbClr val="2DB89E"/>
                </a:solidFill>
                <a:latin typeface="Calibri"/>
              </a:rPr>
              <a:t>Better Paths</a:t>
            </a:r>
          </a:p>
        </p:txBody>
      </p:sp>
      <p:sp>
        <p:nvSpPr>
          <p:cNvPr id="45" name="TextBox 44"/>
          <p:cNvSpPr txBox="1"/>
          <p:nvPr/>
        </p:nvSpPr>
        <p:spPr>
          <a:xfrm>
            <a:off x="10405872" y="2523744"/>
            <a:ext cx="164592" cy="274320"/>
          </a:xfrm>
          <a:prstGeom prst="rect">
            <a:avLst/>
          </a:prstGeom>
          <a:noFill/>
        </p:spPr>
        <p:txBody>
          <a:bodyPr wrap="square">
            <a:spAutoFit/>
          </a:bodyPr>
          <a:lstStyle/>
          <a:p>
            <a:pPr algn="ctr"/>
            <a:r>
              <a:rPr sz="1400" b="0" i="0">
                <a:solidFill>
                  <a:srgbClr val="2DB89E"/>
                </a:solidFill>
                <a:latin typeface="Calibri"/>
              </a:rPr>
              <a:t>›</a:t>
            </a:r>
          </a:p>
        </p:txBody>
      </p:sp>
      <p:sp>
        <p:nvSpPr>
          <p:cNvPr id="46" name="Rectangle 45"/>
          <p:cNvSpPr/>
          <p:nvPr/>
        </p:nvSpPr>
        <p:spPr>
          <a:xfrm>
            <a:off x="10570464" y="2487168"/>
            <a:ext cx="1143000" cy="329184"/>
          </a:xfrm>
          <a:prstGeom prst="rect">
            <a:avLst/>
          </a:prstGeom>
          <a:solidFill>
            <a:srgbClr val="0D362E"/>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70464" y="2542032"/>
            <a:ext cx="1143000" cy="237744"/>
          </a:xfrm>
          <a:prstGeom prst="rect">
            <a:avLst/>
          </a:prstGeom>
          <a:noFill/>
        </p:spPr>
        <p:txBody>
          <a:bodyPr wrap="square">
            <a:spAutoFit/>
          </a:bodyPr>
          <a:lstStyle/>
          <a:p>
            <a:pPr algn="ctr"/>
            <a:r>
              <a:rPr sz="1100" b="1" i="0">
                <a:solidFill>
                  <a:srgbClr val="2DB89E"/>
                </a:solidFill>
                <a:latin typeface="Calibri"/>
              </a:rPr>
              <a:t>More Closes</a:t>
            </a:r>
          </a:p>
        </p:txBody>
      </p:sp>
      <p:sp>
        <p:nvSpPr>
          <p:cNvPr id="48" name="TextBox 47"/>
          <p:cNvSpPr txBox="1"/>
          <p:nvPr/>
        </p:nvSpPr>
        <p:spPr>
          <a:xfrm>
            <a:off x="6565392" y="2944368"/>
            <a:ext cx="5212080" cy="274320"/>
          </a:xfrm>
          <a:prstGeom prst="rect">
            <a:avLst/>
          </a:prstGeom>
          <a:noFill/>
        </p:spPr>
        <p:txBody>
          <a:bodyPr wrap="square">
            <a:spAutoFit/>
          </a:bodyPr>
          <a:lstStyle/>
          <a:p>
            <a:pPr algn="l"/>
            <a:r>
              <a:rPr sz="1100" b="0" i="0">
                <a:solidFill>
                  <a:srgbClr val="2DB89E"/>
                </a:solidFill>
                <a:latin typeface="Calibri"/>
              </a:rPr>
              <a:t>Every intro sent strengthens the graph. The moat compounds with usage.</a:t>
            </a:r>
          </a:p>
        </p:txBody>
      </p:sp>
      <p:sp>
        <p:nvSpPr>
          <p:cNvPr id="49" name="Rectangle 48"/>
          <p:cNvSpPr/>
          <p:nvPr/>
        </p:nvSpPr>
        <p:spPr>
          <a:xfrm>
            <a:off x="6400800" y="4526280"/>
            <a:ext cx="5486400" cy="566928"/>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65392" y="4599432"/>
            <a:ext cx="5212080" cy="219456"/>
          </a:xfrm>
          <a:prstGeom prst="rect">
            <a:avLst/>
          </a:prstGeom>
          <a:noFill/>
        </p:spPr>
        <p:txBody>
          <a:bodyPr wrap="square">
            <a:spAutoFit/>
          </a:bodyPr>
          <a:lstStyle/>
          <a:p>
            <a:pPr algn="l"/>
            <a:r>
              <a:rPr sz="1200" b="1" i="0">
                <a:solidFill>
                  <a:srgbClr val="F1F5F9"/>
                </a:solidFill>
                <a:latin typeface="Calibri"/>
              </a:rPr>
              <a:t>WarmPath charges per user seat</a:t>
            </a:r>
          </a:p>
        </p:txBody>
      </p:sp>
      <p:sp>
        <p:nvSpPr>
          <p:cNvPr id="51" name="TextBox 50"/>
          <p:cNvSpPr txBox="1"/>
          <p:nvPr/>
        </p:nvSpPr>
        <p:spPr>
          <a:xfrm>
            <a:off x="6565392" y="4837176"/>
            <a:ext cx="5212080" cy="201168"/>
          </a:xfrm>
          <a:prstGeom prst="rect">
            <a:avLst/>
          </a:prstGeom>
          <a:noFill/>
        </p:spPr>
        <p:txBody>
          <a:bodyPr wrap="square">
            <a:spAutoFit/>
          </a:bodyPr>
          <a:lstStyle/>
          <a:p>
            <a:pPr algn="l"/>
            <a:r>
              <a:rPr sz="1050" b="0" i="0">
                <a:solidFill>
                  <a:srgbClr val="94A3B8"/>
                </a:solidFill>
                <a:latin typeface="Calibri"/>
              </a:rPr>
              <a:t>Predictable SaaS MRR. As team grows, revenue grows proportionally.</a:t>
            </a:r>
          </a:p>
        </p:txBody>
      </p:sp>
      <p:sp>
        <p:nvSpPr>
          <p:cNvPr id="52" name="Rectangle 51"/>
          <p:cNvSpPr/>
          <p:nvPr/>
        </p:nvSpPr>
        <p:spPr>
          <a:xfrm>
            <a:off x="6400800" y="5184648"/>
            <a:ext cx="5486400" cy="566928"/>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65392" y="5257800"/>
            <a:ext cx="5212080" cy="219456"/>
          </a:xfrm>
          <a:prstGeom prst="rect">
            <a:avLst/>
          </a:prstGeom>
          <a:noFill/>
        </p:spPr>
        <p:txBody>
          <a:bodyPr wrap="square">
            <a:spAutoFit/>
          </a:bodyPr>
          <a:lstStyle/>
          <a:p>
            <a:pPr algn="l"/>
            <a:r>
              <a:rPr sz="1200" b="1" i="0">
                <a:solidFill>
                  <a:srgbClr val="F1F5F9"/>
                </a:solidFill>
                <a:latin typeface="Calibri"/>
              </a:rPr>
              <a:t>API access tier for CRMs</a:t>
            </a:r>
          </a:p>
        </p:txBody>
      </p:sp>
      <p:sp>
        <p:nvSpPr>
          <p:cNvPr id="54" name="TextBox 53"/>
          <p:cNvSpPr txBox="1"/>
          <p:nvPr/>
        </p:nvSpPr>
        <p:spPr>
          <a:xfrm>
            <a:off x="6565392" y="5495544"/>
            <a:ext cx="5212080" cy="201168"/>
          </a:xfrm>
          <a:prstGeom prst="rect">
            <a:avLst/>
          </a:prstGeom>
          <a:noFill/>
        </p:spPr>
        <p:txBody>
          <a:bodyPr wrap="square">
            <a:spAutoFit/>
          </a:bodyPr>
          <a:lstStyle/>
          <a:p>
            <a:pPr algn="l"/>
            <a:r>
              <a:rPr sz="1050" b="0" i="0">
                <a:solidFill>
                  <a:srgbClr val="94A3B8"/>
                </a:solidFill>
                <a:latin typeface="Calibri"/>
              </a:rPr>
              <a:t>Enterprise add-on: HubSpot, Zoho, Salesforce connectors at premium.</a:t>
            </a:r>
          </a:p>
        </p:txBody>
      </p:sp>
      <p:sp>
        <p:nvSpPr>
          <p:cNvPr id="55" name="Rectangle 54"/>
          <p:cNvSpPr/>
          <p:nvPr/>
        </p:nvSpPr>
        <p:spPr>
          <a:xfrm>
            <a:off x="6400800" y="5843016"/>
            <a:ext cx="5486400" cy="566928"/>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65392" y="5916168"/>
            <a:ext cx="5212080" cy="219456"/>
          </a:xfrm>
          <a:prstGeom prst="rect">
            <a:avLst/>
          </a:prstGeom>
          <a:noFill/>
        </p:spPr>
        <p:txBody>
          <a:bodyPr wrap="square">
            <a:spAutoFit/>
          </a:bodyPr>
          <a:lstStyle/>
          <a:p>
            <a:pPr algn="l"/>
            <a:r>
              <a:rPr sz="1200" b="1" i="0">
                <a:solidFill>
                  <a:srgbClr val="F1F5F9"/>
                </a:solidFill>
                <a:latin typeface="Calibri"/>
              </a:rPr>
              <a:t>Relationship data marketplace</a:t>
            </a:r>
          </a:p>
        </p:txBody>
      </p:sp>
      <p:sp>
        <p:nvSpPr>
          <p:cNvPr id="57" name="TextBox 56"/>
          <p:cNvSpPr txBox="1"/>
          <p:nvPr/>
        </p:nvSpPr>
        <p:spPr>
          <a:xfrm>
            <a:off x="6565392" y="6153912"/>
            <a:ext cx="5212080" cy="201168"/>
          </a:xfrm>
          <a:prstGeom prst="rect">
            <a:avLst/>
          </a:prstGeom>
          <a:noFill/>
        </p:spPr>
        <p:txBody>
          <a:bodyPr wrap="square">
            <a:spAutoFit/>
          </a:bodyPr>
          <a:lstStyle/>
          <a:p>
            <a:pPr algn="l"/>
            <a:r>
              <a:rPr sz="1050" b="0" i="0">
                <a:solidFill>
                  <a:srgbClr val="94A3B8"/>
                </a:solidFill>
                <a:latin typeface="Calibri"/>
              </a:rPr>
              <a:t>Aggregated anonymised graph signals sold to VC/PE firms at scale.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Traction &amp; Team</a:t>
            </a:r>
          </a:p>
        </p:txBody>
      </p:sp>
      <p:sp>
        <p:nvSpPr>
          <p:cNvPr id="4" name="TextBox 3"/>
          <p:cNvSpPr txBox="1"/>
          <p:nvPr/>
        </p:nvSpPr>
        <p:spPr>
          <a:xfrm>
            <a:off x="457200" y="914400"/>
            <a:ext cx="5440680" cy="228600"/>
          </a:xfrm>
          <a:prstGeom prst="rect">
            <a:avLst/>
          </a:prstGeom>
          <a:noFill/>
        </p:spPr>
        <p:txBody>
          <a:bodyPr wrap="square">
            <a:spAutoFit/>
          </a:bodyPr>
          <a:lstStyle/>
          <a:p>
            <a:pPr algn="l"/>
            <a:r>
              <a:rPr sz="900" b="1" i="0">
                <a:solidFill>
                  <a:srgbClr val="2DB89E"/>
                </a:solidFill>
                <a:latin typeface="Calibri"/>
              </a:rPr>
              <a:t>WHAT EXISTS NOW</a:t>
            </a:r>
          </a:p>
        </p:txBody>
      </p:sp>
      <p:sp>
        <p:nvSpPr>
          <p:cNvPr id="5" name="Rectangle 4"/>
          <p:cNvSpPr/>
          <p:nvPr/>
        </p:nvSpPr>
        <p:spPr>
          <a:xfrm>
            <a:off x="457200" y="1115568"/>
            <a:ext cx="5440680" cy="274320"/>
          </a:xfrm>
          <a:prstGeom prst="rect">
            <a:avLst/>
          </a:prstGeom>
          <a:solidFill>
            <a:srgbClr val="0D362E"/>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152144"/>
            <a:ext cx="182880" cy="219456"/>
          </a:xfrm>
          <a:prstGeom prst="rect">
            <a:avLst/>
          </a:prstGeom>
          <a:noFill/>
        </p:spPr>
        <p:txBody>
          <a:bodyPr wrap="square">
            <a:spAutoFit/>
          </a:bodyPr>
          <a:lstStyle/>
          <a:p>
            <a:pPr algn="l"/>
            <a:r>
              <a:rPr sz="1100" b="1" i="0">
                <a:solidFill>
                  <a:srgbClr val="2DB89E"/>
                </a:solidFill>
                <a:latin typeface="Calibri"/>
              </a:rPr>
              <a:t>✓</a:t>
            </a:r>
          </a:p>
        </p:txBody>
      </p:sp>
      <p:sp>
        <p:nvSpPr>
          <p:cNvPr id="7" name="TextBox 6"/>
          <p:cNvSpPr txBox="1"/>
          <p:nvPr/>
        </p:nvSpPr>
        <p:spPr>
          <a:xfrm>
            <a:off x="777240" y="1152144"/>
            <a:ext cx="5001768" cy="219456"/>
          </a:xfrm>
          <a:prstGeom prst="rect">
            <a:avLst/>
          </a:prstGeom>
          <a:noFill/>
        </p:spPr>
        <p:txBody>
          <a:bodyPr wrap="square">
            <a:spAutoFit/>
          </a:bodyPr>
          <a:lstStyle/>
          <a:p>
            <a:pPr algn="l"/>
            <a:r>
              <a:rPr sz="1050" b="0" i="0">
                <a:solidFill>
                  <a:srgbClr val="F1F5F9"/>
                </a:solidFill>
                <a:latin typeface="Calibri"/>
              </a:rPr>
              <a:t>Live MVP — pathfinding, AI personalisation, omnichannel all running</a:t>
            </a:r>
          </a:p>
        </p:txBody>
      </p:sp>
      <p:sp>
        <p:nvSpPr>
          <p:cNvPr id="8" name="Rectangle 7"/>
          <p:cNvSpPr/>
          <p:nvPr/>
        </p:nvSpPr>
        <p:spPr>
          <a:xfrm>
            <a:off x="457200" y="1517904"/>
            <a:ext cx="5440680" cy="274320"/>
          </a:xfrm>
          <a:prstGeom prst="rect">
            <a:avLst/>
          </a:prstGeom>
          <a:solidFill>
            <a:srgbClr val="0D362E"/>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554480"/>
            <a:ext cx="182880" cy="219456"/>
          </a:xfrm>
          <a:prstGeom prst="rect">
            <a:avLst/>
          </a:prstGeom>
          <a:noFill/>
        </p:spPr>
        <p:txBody>
          <a:bodyPr wrap="square">
            <a:spAutoFit/>
          </a:bodyPr>
          <a:lstStyle/>
          <a:p>
            <a:pPr algn="l"/>
            <a:r>
              <a:rPr sz="1100" b="1" i="0">
                <a:solidFill>
                  <a:srgbClr val="2DB89E"/>
                </a:solidFill>
                <a:latin typeface="Calibri"/>
              </a:rPr>
              <a:t>✓</a:t>
            </a:r>
          </a:p>
        </p:txBody>
      </p:sp>
      <p:sp>
        <p:nvSpPr>
          <p:cNvPr id="10" name="TextBox 9"/>
          <p:cNvSpPr txBox="1"/>
          <p:nvPr/>
        </p:nvSpPr>
        <p:spPr>
          <a:xfrm>
            <a:off x="777240" y="1554480"/>
            <a:ext cx="5001768" cy="219456"/>
          </a:xfrm>
          <a:prstGeom prst="rect">
            <a:avLst/>
          </a:prstGeom>
          <a:noFill/>
        </p:spPr>
        <p:txBody>
          <a:bodyPr wrap="square">
            <a:spAutoFit/>
          </a:bodyPr>
          <a:lstStyle/>
          <a:p>
            <a:pPr algn="l"/>
            <a:r>
              <a:rPr sz="1050" b="0" i="0">
                <a:solidFill>
                  <a:srgbClr val="F1F5F9"/>
                </a:solidFill>
                <a:latin typeface="Calibri"/>
              </a:rPr>
              <a:t>Real graph pathfinding: not a recommendation engine, sub-100ms on demo graph</a:t>
            </a:r>
          </a:p>
        </p:txBody>
      </p:sp>
      <p:sp>
        <p:nvSpPr>
          <p:cNvPr id="11" name="Rectangle 10"/>
          <p:cNvSpPr/>
          <p:nvPr/>
        </p:nvSpPr>
        <p:spPr>
          <a:xfrm>
            <a:off x="457200" y="1920240"/>
            <a:ext cx="5440680" cy="274320"/>
          </a:xfrm>
          <a:prstGeom prst="rect">
            <a:avLst/>
          </a:prstGeom>
          <a:solidFill>
            <a:srgbClr val="0D362E"/>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956816"/>
            <a:ext cx="182880" cy="219456"/>
          </a:xfrm>
          <a:prstGeom prst="rect">
            <a:avLst/>
          </a:prstGeom>
          <a:noFill/>
        </p:spPr>
        <p:txBody>
          <a:bodyPr wrap="square">
            <a:spAutoFit/>
          </a:bodyPr>
          <a:lstStyle/>
          <a:p>
            <a:pPr algn="l"/>
            <a:r>
              <a:rPr sz="1100" b="1" i="0">
                <a:solidFill>
                  <a:srgbClr val="2DB89E"/>
                </a:solidFill>
                <a:latin typeface="Calibri"/>
              </a:rPr>
              <a:t>✓</a:t>
            </a:r>
          </a:p>
        </p:txBody>
      </p:sp>
      <p:sp>
        <p:nvSpPr>
          <p:cNvPr id="13" name="TextBox 12"/>
          <p:cNvSpPr txBox="1"/>
          <p:nvPr/>
        </p:nvSpPr>
        <p:spPr>
          <a:xfrm>
            <a:off x="777240" y="1956816"/>
            <a:ext cx="5001768" cy="219456"/>
          </a:xfrm>
          <a:prstGeom prst="rect">
            <a:avLst/>
          </a:prstGeom>
          <a:noFill/>
        </p:spPr>
        <p:txBody>
          <a:bodyPr wrap="square">
            <a:spAutoFit/>
          </a:bodyPr>
          <a:lstStyle/>
          <a:p>
            <a:pPr algn="l"/>
            <a:r>
              <a:rPr sz="1050" b="0" i="0">
                <a:solidFill>
                  <a:srgbClr val="F1F5F9"/>
                </a:solidFill>
                <a:latin typeface="Calibri"/>
              </a:rPr>
              <a:t>5 channels live: Email, LinkedIn, WhatsApp, Telegram, Meta Ads</a:t>
            </a:r>
          </a:p>
        </p:txBody>
      </p:sp>
      <p:sp>
        <p:nvSpPr>
          <p:cNvPr id="14" name="Rectangle 13"/>
          <p:cNvSpPr/>
          <p:nvPr/>
        </p:nvSpPr>
        <p:spPr>
          <a:xfrm>
            <a:off x="457200" y="2322576"/>
            <a:ext cx="5440680" cy="274320"/>
          </a:xfrm>
          <a:prstGeom prst="rect">
            <a:avLst/>
          </a:prstGeom>
          <a:solidFill>
            <a:srgbClr val="0D362E"/>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359152"/>
            <a:ext cx="182880" cy="219456"/>
          </a:xfrm>
          <a:prstGeom prst="rect">
            <a:avLst/>
          </a:prstGeom>
          <a:noFill/>
        </p:spPr>
        <p:txBody>
          <a:bodyPr wrap="square">
            <a:spAutoFit/>
          </a:bodyPr>
          <a:lstStyle/>
          <a:p>
            <a:pPr algn="l"/>
            <a:r>
              <a:rPr sz="1100" b="1" i="0">
                <a:solidFill>
                  <a:srgbClr val="2DB89E"/>
                </a:solidFill>
                <a:latin typeface="Calibri"/>
              </a:rPr>
              <a:t>✓</a:t>
            </a:r>
          </a:p>
        </p:txBody>
      </p:sp>
      <p:sp>
        <p:nvSpPr>
          <p:cNvPr id="16" name="TextBox 15"/>
          <p:cNvSpPr txBox="1"/>
          <p:nvPr/>
        </p:nvSpPr>
        <p:spPr>
          <a:xfrm>
            <a:off x="777240" y="2359152"/>
            <a:ext cx="5001768" cy="219456"/>
          </a:xfrm>
          <a:prstGeom prst="rect">
            <a:avLst/>
          </a:prstGeom>
          <a:noFill/>
        </p:spPr>
        <p:txBody>
          <a:bodyPr wrap="square">
            <a:spAutoFit/>
          </a:bodyPr>
          <a:lstStyle/>
          <a:p>
            <a:pPr algn="l"/>
            <a:r>
              <a:rPr sz="1050" b="0" i="0">
                <a:solidFill>
                  <a:srgbClr val="F1F5F9"/>
                </a:solidFill>
                <a:latin typeface="Calibri"/>
              </a:rPr>
              <a:t>$270K in platform credits: Anthropic, Vercel, AWS, GCP, GitHub</a:t>
            </a:r>
          </a:p>
        </p:txBody>
      </p:sp>
      <p:sp>
        <p:nvSpPr>
          <p:cNvPr id="17" name="TextBox 16"/>
          <p:cNvSpPr txBox="1"/>
          <p:nvPr/>
        </p:nvSpPr>
        <p:spPr>
          <a:xfrm>
            <a:off x="457200" y="2852928"/>
            <a:ext cx="5440680" cy="228600"/>
          </a:xfrm>
          <a:prstGeom prst="rect">
            <a:avLst/>
          </a:prstGeom>
          <a:noFill/>
        </p:spPr>
        <p:txBody>
          <a:bodyPr wrap="square">
            <a:spAutoFit/>
          </a:bodyPr>
          <a:lstStyle/>
          <a:p>
            <a:pPr algn="l"/>
            <a:r>
              <a:rPr sz="900" b="1" i="0">
                <a:solidFill>
                  <a:srgbClr val="2DB89E"/>
                </a:solidFill>
                <a:latin typeface="Calibri"/>
              </a:rPr>
              <a:t>NEXT 90 DAYS</a:t>
            </a:r>
          </a:p>
        </p:txBody>
      </p:sp>
      <p:sp>
        <p:nvSpPr>
          <p:cNvPr id="18" name="Rectangle 17"/>
          <p:cNvSpPr/>
          <p:nvPr/>
        </p:nvSpPr>
        <p:spPr>
          <a:xfrm>
            <a:off x="457200" y="3054096"/>
            <a:ext cx="5440680" cy="274320"/>
          </a:xfrm>
          <a:prstGeom prst="rect">
            <a:avLst/>
          </a:prstGeom>
          <a:solidFill>
            <a:srgbClr val="261E08"/>
          </a:solidFill>
          <a:ln w="6350">
            <a:solidFill>
              <a:srgbClr val="605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90672"/>
            <a:ext cx="182880" cy="219456"/>
          </a:xfrm>
          <a:prstGeom prst="rect">
            <a:avLst/>
          </a:prstGeom>
          <a:noFill/>
        </p:spPr>
        <p:txBody>
          <a:bodyPr wrap="square">
            <a:spAutoFit/>
          </a:bodyPr>
          <a:lstStyle/>
          <a:p>
            <a:pPr algn="l"/>
            <a:r>
              <a:rPr sz="1100" b="1" i="0">
                <a:solidFill>
                  <a:srgbClr val="2DB89E"/>
                </a:solidFill>
                <a:latin typeface="Calibri"/>
              </a:rPr>
              <a:t>✓</a:t>
            </a:r>
          </a:p>
        </p:txBody>
      </p:sp>
      <p:sp>
        <p:nvSpPr>
          <p:cNvPr id="20" name="TextBox 19"/>
          <p:cNvSpPr txBox="1"/>
          <p:nvPr/>
        </p:nvSpPr>
        <p:spPr>
          <a:xfrm>
            <a:off x="777240" y="3090672"/>
            <a:ext cx="5001768" cy="219456"/>
          </a:xfrm>
          <a:prstGeom prst="rect">
            <a:avLst/>
          </a:prstGeom>
          <a:noFill/>
        </p:spPr>
        <p:txBody>
          <a:bodyPr wrap="square">
            <a:spAutoFit/>
          </a:bodyPr>
          <a:lstStyle/>
          <a:p>
            <a:pPr algn="l"/>
            <a:r>
              <a:rPr sz="1050" b="0" i="0">
                <a:solidFill>
                  <a:srgbClr val="F1F5F9"/>
                </a:solidFill>
                <a:latin typeface="Calibri"/>
              </a:rPr>
              <a:t>Beta cohort: 8 BITS/IIT/IIM founders onboarding Aug 2026</a:t>
            </a:r>
          </a:p>
        </p:txBody>
      </p:sp>
      <p:sp>
        <p:nvSpPr>
          <p:cNvPr id="21" name="Rectangle 20"/>
          <p:cNvSpPr/>
          <p:nvPr/>
        </p:nvSpPr>
        <p:spPr>
          <a:xfrm>
            <a:off x="457200" y="3456432"/>
            <a:ext cx="5440680" cy="274320"/>
          </a:xfrm>
          <a:prstGeom prst="rect">
            <a:avLst/>
          </a:prstGeom>
          <a:solidFill>
            <a:srgbClr val="261E08"/>
          </a:solidFill>
          <a:ln w="6350">
            <a:solidFill>
              <a:srgbClr val="605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493008"/>
            <a:ext cx="182880" cy="219456"/>
          </a:xfrm>
          <a:prstGeom prst="rect">
            <a:avLst/>
          </a:prstGeom>
          <a:noFill/>
        </p:spPr>
        <p:txBody>
          <a:bodyPr wrap="square">
            <a:spAutoFit/>
          </a:bodyPr>
          <a:lstStyle/>
          <a:p>
            <a:pPr algn="l"/>
            <a:r>
              <a:rPr sz="1100" b="1" i="0">
                <a:solidFill>
                  <a:srgbClr val="2DB89E"/>
                </a:solidFill>
                <a:latin typeface="Calibri"/>
              </a:rPr>
              <a:t>✓</a:t>
            </a:r>
          </a:p>
        </p:txBody>
      </p:sp>
      <p:sp>
        <p:nvSpPr>
          <p:cNvPr id="23" name="TextBox 22"/>
          <p:cNvSpPr txBox="1"/>
          <p:nvPr/>
        </p:nvSpPr>
        <p:spPr>
          <a:xfrm>
            <a:off x="777240" y="3493008"/>
            <a:ext cx="5001768" cy="219456"/>
          </a:xfrm>
          <a:prstGeom prst="rect">
            <a:avLst/>
          </a:prstGeom>
          <a:noFill/>
        </p:spPr>
        <p:txBody>
          <a:bodyPr wrap="square">
            <a:spAutoFit/>
          </a:bodyPr>
          <a:lstStyle/>
          <a:p>
            <a:pPr algn="l"/>
            <a:r>
              <a:rPr sz="1050" b="0" i="0">
                <a:solidFill>
                  <a:srgbClr val="F1F5F9"/>
                </a:solidFill>
                <a:latin typeface="Calibri"/>
              </a:rPr>
              <a:t>3 pilot contracts in negotiation (2 B2B SaaS, 1 IT services firm)</a:t>
            </a:r>
          </a:p>
        </p:txBody>
      </p:sp>
      <p:sp>
        <p:nvSpPr>
          <p:cNvPr id="24" name="Rectangle 23"/>
          <p:cNvSpPr/>
          <p:nvPr/>
        </p:nvSpPr>
        <p:spPr>
          <a:xfrm>
            <a:off x="457200" y="3977639"/>
            <a:ext cx="5440680" cy="475488"/>
          </a:xfrm>
          <a:prstGeom prst="rect">
            <a:avLst/>
          </a:prstGeom>
          <a:solidFill>
            <a:srgbClr val="0D362E"/>
          </a:solidFill>
          <a:ln w="6350">
            <a:solidFill>
              <a:srgbClr val="206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4087368"/>
            <a:ext cx="5166360" cy="274320"/>
          </a:xfrm>
          <a:prstGeom prst="rect">
            <a:avLst/>
          </a:prstGeom>
          <a:noFill/>
        </p:spPr>
        <p:txBody>
          <a:bodyPr wrap="square">
            <a:spAutoFit/>
          </a:bodyPr>
          <a:lstStyle/>
          <a:p>
            <a:pPr algn="l"/>
            <a:r>
              <a:rPr sz="1100" b="1" i="0">
                <a:solidFill>
                  <a:srgbClr val="F1F5F9"/>
                </a:solidFill>
                <a:latin typeface="Calibri"/>
              </a:rPr>
              <a:t>Solo build:  Full-stack MVP shipped in 3 months while working full-time at SeedlingLabs as SDE-1.</a:t>
            </a:r>
          </a:p>
        </p:txBody>
      </p:sp>
      <p:sp>
        <p:nvSpPr>
          <p:cNvPr id="26" name="TextBox 25"/>
          <p:cNvSpPr txBox="1"/>
          <p:nvPr/>
        </p:nvSpPr>
        <p:spPr>
          <a:xfrm>
            <a:off x="6263640" y="914400"/>
            <a:ext cx="5440680" cy="228600"/>
          </a:xfrm>
          <a:prstGeom prst="rect">
            <a:avLst/>
          </a:prstGeom>
          <a:noFill/>
        </p:spPr>
        <p:txBody>
          <a:bodyPr wrap="square">
            <a:spAutoFit/>
          </a:bodyPr>
          <a:lstStyle/>
          <a:p>
            <a:pPr algn="l"/>
            <a:r>
              <a:rPr sz="900" b="1" i="0">
                <a:solidFill>
                  <a:srgbClr val="2DB89E"/>
                </a:solidFill>
                <a:latin typeface="Calibri"/>
              </a:rPr>
              <a:t>THE BUILDER</a:t>
            </a:r>
          </a:p>
        </p:txBody>
      </p:sp>
      <p:sp>
        <p:nvSpPr>
          <p:cNvPr id="27" name="Rectangle 26"/>
          <p:cNvSpPr/>
          <p:nvPr/>
        </p:nvSpPr>
        <p:spPr>
          <a:xfrm>
            <a:off x="6263640" y="1115568"/>
            <a:ext cx="5440680" cy="1938528"/>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46520" y="1261872"/>
            <a:ext cx="914400" cy="914400"/>
          </a:xfrm>
          <a:prstGeom prst="ellipse">
            <a:avLst/>
          </a:prstGeom>
          <a:solidFill>
            <a:srgbClr val="0D362E"/>
          </a:solidFill>
          <a:ln w="190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1508760"/>
            <a:ext cx="914400" cy="384048"/>
          </a:xfrm>
          <a:prstGeom prst="rect">
            <a:avLst/>
          </a:prstGeom>
          <a:noFill/>
        </p:spPr>
        <p:txBody>
          <a:bodyPr wrap="square">
            <a:spAutoFit/>
          </a:bodyPr>
          <a:lstStyle/>
          <a:p>
            <a:pPr algn="ctr"/>
            <a:r>
              <a:rPr sz="2200" b="1" i="0">
                <a:solidFill>
                  <a:srgbClr val="F1F5F9"/>
                </a:solidFill>
                <a:latin typeface="Calibri"/>
              </a:rPr>
              <a:t>AA</a:t>
            </a:r>
          </a:p>
        </p:txBody>
      </p:sp>
      <p:sp>
        <p:nvSpPr>
          <p:cNvPr id="30" name="TextBox 29"/>
          <p:cNvSpPr txBox="1"/>
          <p:nvPr/>
        </p:nvSpPr>
        <p:spPr>
          <a:xfrm>
            <a:off x="7525512" y="1243584"/>
            <a:ext cx="3995928" cy="347472"/>
          </a:xfrm>
          <a:prstGeom prst="rect">
            <a:avLst/>
          </a:prstGeom>
          <a:noFill/>
        </p:spPr>
        <p:txBody>
          <a:bodyPr wrap="square">
            <a:spAutoFit/>
          </a:bodyPr>
          <a:lstStyle/>
          <a:p>
            <a:pPr algn="l"/>
            <a:r>
              <a:rPr sz="1800" b="1" i="0">
                <a:solidFill>
                  <a:srgbClr val="F1F5F9"/>
                </a:solidFill>
                <a:latin typeface="Calibri"/>
              </a:rPr>
              <a:t>Adhik Agarwal</a:t>
            </a:r>
          </a:p>
        </p:txBody>
      </p:sp>
      <p:sp>
        <p:nvSpPr>
          <p:cNvPr id="31" name="TextBox 30"/>
          <p:cNvSpPr txBox="1"/>
          <p:nvPr/>
        </p:nvSpPr>
        <p:spPr>
          <a:xfrm>
            <a:off x="7525512" y="1609344"/>
            <a:ext cx="3995928" cy="256032"/>
          </a:xfrm>
          <a:prstGeom prst="rect">
            <a:avLst/>
          </a:prstGeom>
          <a:noFill/>
        </p:spPr>
        <p:txBody>
          <a:bodyPr wrap="square">
            <a:spAutoFit/>
          </a:bodyPr>
          <a:lstStyle/>
          <a:p>
            <a:pPr algn="l"/>
            <a:r>
              <a:rPr sz="1200" b="1" i="0">
                <a:solidFill>
                  <a:srgbClr val="2DB89E"/>
                </a:solidFill>
                <a:latin typeface="Calibri"/>
              </a:rPr>
              <a:t>Founder &amp; Full-Stack Engineer</a:t>
            </a:r>
          </a:p>
        </p:txBody>
      </p:sp>
      <p:sp>
        <p:nvSpPr>
          <p:cNvPr id="32" name="TextBox 31"/>
          <p:cNvSpPr txBox="1"/>
          <p:nvPr/>
        </p:nvSpPr>
        <p:spPr>
          <a:xfrm>
            <a:off x="7525512" y="1883664"/>
            <a:ext cx="3995928" cy="219456"/>
          </a:xfrm>
          <a:prstGeom prst="rect">
            <a:avLst/>
          </a:prstGeom>
          <a:noFill/>
        </p:spPr>
        <p:txBody>
          <a:bodyPr wrap="square">
            <a:spAutoFit/>
          </a:bodyPr>
          <a:lstStyle/>
          <a:p>
            <a:pPr algn="l"/>
            <a:r>
              <a:rPr sz="1100" b="0" i="0">
                <a:solidFill>
                  <a:srgbClr val="94A3B8"/>
                </a:solidFill>
                <a:latin typeface="Calibri"/>
              </a:rPr>
              <a:t>B.E. BITS Pilani (2026)  |  SDE-1 @ SeedlingLabs</a:t>
            </a:r>
          </a:p>
        </p:txBody>
      </p:sp>
      <p:sp>
        <p:nvSpPr>
          <p:cNvPr id="33" name="Rectangle 32"/>
          <p:cNvSpPr/>
          <p:nvPr/>
        </p:nvSpPr>
        <p:spPr>
          <a:xfrm>
            <a:off x="6428232" y="2267712"/>
            <a:ext cx="5111496" cy="329184"/>
          </a:xfrm>
          <a:prstGeom prst="rect">
            <a:avLst/>
          </a:prstGeom>
          <a:solidFill>
            <a:srgbClr val="112133"/>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6248" y="2340864"/>
            <a:ext cx="4855464" cy="201168"/>
          </a:xfrm>
          <a:prstGeom prst="rect">
            <a:avLst/>
          </a:prstGeom>
          <a:noFill/>
        </p:spPr>
        <p:txBody>
          <a:bodyPr wrap="square">
            <a:spAutoFit/>
          </a:bodyPr>
          <a:lstStyle/>
          <a:p>
            <a:pPr algn="ctr"/>
            <a:r>
              <a:rPr sz="1050" b="0" i="0">
                <a:solidFill>
                  <a:srgbClr val="94A3B8"/>
                </a:solidFill>
                <a:latin typeface="Calibri"/>
              </a:rPr>
              <a:t>adhikagarwal16@gmail.com  ·  linkedin.com/in/adhik-agarwal</a:t>
            </a:r>
          </a:p>
        </p:txBody>
      </p:sp>
      <p:sp>
        <p:nvSpPr>
          <p:cNvPr id="35" name="Rectangle 34"/>
          <p:cNvSpPr/>
          <p:nvPr/>
        </p:nvSpPr>
        <p:spPr>
          <a:xfrm>
            <a:off x="6263640" y="3182112"/>
            <a:ext cx="5440680" cy="1234440"/>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3182112"/>
            <a:ext cx="36576" cy="1234440"/>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4808" y="3310128"/>
            <a:ext cx="5074920" cy="274320"/>
          </a:xfrm>
          <a:prstGeom prst="rect">
            <a:avLst/>
          </a:prstGeom>
          <a:noFill/>
        </p:spPr>
        <p:txBody>
          <a:bodyPr wrap="square">
            <a:spAutoFit/>
          </a:bodyPr>
          <a:lstStyle/>
          <a:p>
            <a:pPr algn="l"/>
            <a:r>
              <a:rPr sz="1300" b="1" i="0">
                <a:solidFill>
                  <a:srgbClr val="F1F5F9"/>
                </a:solidFill>
                <a:latin typeface="Calibri"/>
              </a:rPr>
              <a:t>Co-Founder GTM &amp; Sales — actively evaluating</a:t>
            </a:r>
          </a:p>
        </p:txBody>
      </p:sp>
      <p:sp>
        <p:nvSpPr>
          <p:cNvPr id="38" name="TextBox 37"/>
          <p:cNvSpPr txBox="1"/>
          <p:nvPr/>
        </p:nvSpPr>
        <p:spPr>
          <a:xfrm>
            <a:off x="6464808" y="3639312"/>
            <a:ext cx="5074920" cy="640080"/>
          </a:xfrm>
          <a:prstGeom prst="rect">
            <a:avLst/>
          </a:prstGeom>
          <a:noFill/>
        </p:spPr>
        <p:txBody>
          <a:bodyPr wrap="square">
            <a:spAutoFit/>
          </a:bodyPr>
          <a:lstStyle/>
          <a:p>
            <a:pPr algn="l"/>
            <a:r>
              <a:rPr sz="1100" b="0" i="0">
                <a:solidFill>
                  <a:srgbClr val="94A3B8"/>
                </a:solidFill>
                <a:latin typeface="Calibri"/>
              </a:rPr>
              <a:t>3 candidates shortlisted. Decision by Aug 2026.
IIM / MBA preferred  |  10–15% equity  |  Own all revenue from day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Build Pipeline</a:t>
            </a:r>
          </a:p>
        </p:txBody>
      </p:sp>
      <p:sp>
        <p:nvSpPr>
          <p:cNvPr id="4" name="Rectangle 3"/>
          <p:cNvSpPr/>
          <p:nvPr/>
        </p:nvSpPr>
        <p:spPr>
          <a:xfrm>
            <a:off x="1280160" y="1481328"/>
            <a:ext cx="9601200" cy="13716"/>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1078992"/>
            <a:ext cx="822960" cy="822960"/>
          </a:xfrm>
          <a:prstGeom prst="ellipse">
            <a:avLst/>
          </a:prstGeom>
          <a:solidFill>
            <a:srgbClr val="0D362E"/>
          </a:solidFill>
          <a:ln w="2540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170432"/>
            <a:ext cx="822960" cy="621792"/>
          </a:xfrm>
          <a:prstGeom prst="rect">
            <a:avLst/>
          </a:prstGeom>
          <a:noFill/>
        </p:spPr>
        <p:txBody>
          <a:bodyPr wrap="square">
            <a:spAutoFit/>
          </a:bodyPr>
          <a:lstStyle/>
          <a:p>
            <a:pPr algn="ctr"/>
            <a:r>
              <a:rPr sz="1200" b="1" i="0">
                <a:solidFill>
                  <a:srgbClr val="2DB89E"/>
                </a:solidFill>
                <a:latin typeface="Calibri"/>
              </a:rPr>
              <a:t>M1–3</a:t>
            </a:r>
          </a:p>
        </p:txBody>
      </p:sp>
      <p:sp>
        <p:nvSpPr>
          <p:cNvPr id="7" name="TextBox 6"/>
          <p:cNvSpPr txBox="1"/>
          <p:nvPr/>
        </p:nvSpPr>
        <p:spPr>
          <a:xfrm>
            <a:off x="548640" y="2084831"/>
            <a:ext cx="3474720" cy="228600"/>
          </a:xfrm>
          <a:prstGeom prst="rect">
            <a:avLst/>
          </a:prstGeom>
          <a:noFill/>
        </p:spPr>
        <p:txBody>
          <a:bodyPr wrap="square">
            <a:spAutoFit/>
          </a:bodyPr>
          <a:lstStyle/>
          <a:p>
            <a:pPr algn="l"/>
            <a:r>
              <a:rPr sz="900" b="1" i="0">
                <a:solidFill>
                  <a:srgbClr val="2DB89E"/>
                </a:solidFill>
                <a:latin typeface="Calibri"/>
              </a:rPr>
              <a:t>100 Founders, 1K Intros</a:t>
            </a:r>
          </a:p>
        </p:txBody>
      </p:sp>
      <p:sp>
        <p:nvSpPr>
          <p:cNvPr id="8" name="Rectangle 7"/>
          <p:cNvSpPr/>
          <p:nvPr/>
        </p:nvSpPr>
        <p:spPr>
          <a:xfrm>
            <a:off x="548640" y="2331720"/>
            <a:ext cx="3474720" cy="475488"/>
          </a:xfrm>
          <a:prstGeom prst="rect">
            <a:avLst/>
          </a:prstGeom>
          <a:solidFill>
            <a:srgbClr val="0D362E"/>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2441448"/>
            <a:ext cx="3246120" cy="274320"/>
          </a:xfrm>
          <a:prstGeom prst="rect">
            <a:avLst/>
          </a:prstGeom>
          <a:noFill/>
        </p:spPr>
        <p:txBody>
          <a:bodyPr wrap="square">
            <a:spAutoFit/>
          </a:bodyPr>
          <a:lstStyle/>
          <a:p>
            <a:pPr algn="l"/>
            <a:r>
              <a:rPr sz="1050" b="0" i="0">
                <a:solidFill>
                  <a:srgbClr val="F1F5F9"/>
                </a:solidFill>
                <a:latin typeface="Calibri"/>
              </a:rPr>
              <a:t>100+ BITS/IIT founders onboarded (free tier)</a:t>
            </a:r>
          </a:p>
        </p:txBody>
      </p:sp>
      <p:sp>
        <p:nvSpPr>
          <p:cNvPr id="10" name="Rectangle 9"/>
          <p:cNvSpPr/>
          <p:nvPr/>
        </p:nvSpPr>
        <p:spPr>
          <a:xfrm>
            <a:off x="548640" y="2916936"/>
            <a:ext cx="3474720" cy="475488"/>
          </a:xfrm>
          <a:prstGeom prst="rect">
            <a:avLst/>
          </a:prstGeom>
          <a:solidFill>
            <a:srgbClr val="0D362E"/>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026664"/>
            <a:ext cx="3246120" cy="274320"/>
          </a:xfrm>
          <a:prstGeom prst="rect">
            <a:avLst/>
          </a:prstGeom>
          <a:noFill/>
        </p:spPr>
        <p:txBody>
          <a:bodyPr wrap="square">
            <a:spAutoFit/>
          </a:bodyPr>
          <a:lstStyle/>
          <a:p>
            <a:pPr algn="l"/>
            <a:r>
              <a:rPr sz="1050" b="0" i="0">
                <a:solidFill>
                  <a:srgbClr val="F1F5F9"/>
                </a:solidFill>
                <a:latin typeface="Calibri"/>
              </a:rPr>
              <a:t>1,000+ warm intro requests sent via platform</a:t>
            </a:r>
          </a:p>
        </p:txBody>
      </p:sp>
      <p:sp>
        <p:nvSpPr>
          <p:cNvPr id="12" name="Rectangle 11"/>
          <p:cNvSpPr/>
          <p:nvPr/>
        </p:nvSpPr>
        <p:spPr>
          <a:xfrm>
            <a:off x="548640" y="3502152"/>
            <a:ext cx="3474720" cy="475488"/>
          </a:xfrm>
          <a:prstGeom prst="rect">
            <a:avLst/>
          </a:prstGeom>
          <a:solidFill>
            <a:srgbClr val="0D362E"/>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611880"/>
            <a:ext cx="3246120" cy="274320"/>
          </a:xfrm>
          <a:prstGeom prst="rect">
            <a:avLst/>
          </a:prstGeom>
          <a:noFill/>
        </p:spPr>
        <p:txBody>
          <a:bodyPr wrap="square">
            <a:spAutoFit/>
          </a:bodyPr>
          <a:lstStyle/>
          <a:p>
            <a:pPr algn="l"/>
            <a:r>
              <a:rPr sz="1050" b="0" i="0">
                <a:solidFill>
                  <a:srgbClr val="F1F5F9"/>
                </a:solidFill>
                <a:latin typeface="Calibri"/>
              </a:rPr>
              <a:t>All 5 channels live + tested with real users</a:t>
            </a:r>
          </a:p>
        </p:txBody>
      </p:sp>
      <p:sp>
        <p:nvSpPr>
          <p:cNvPr id="14" name="Rectangle 13"/>
          <p:cNvSpPr/>
          <p:nvPr/>
        </p:nvSpPr>
        <p:spPr>
          <a:xfrm>
            <a:off x="548640" y="4087368"/>
            <a:ext cx="3474720" cy="475488"/>
          </a:xfrm>
          <a:prstGeom prst="rect">
            <a:avLst/>
          </a:prstGeom>
          <a:solidFill>
            <a:srgbClr val="1A5545"/>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4197096"/>
            <a:ext cx="3246120" cy="274320"/>
          </a:xfrm>
          <a:prstGeom prst="rect">
            <a:avLst/>
          </a:prstGeom>
          <a:noFill/>
        </p:spPr>
        <p:txBody>
          <a:bodyPr wrap="square">
            <a:spAutoFit/>
          </a:bodyPr>
          <a:lstStyle/>
          <a:p>
            <a:pPr algn="l"/>
            <a:r>
              <a:rPr sz="1050" b="1" i="0">
                <a:solidFill>
                  <a:srgbClr val="F1F5F9"/>
                </a:solidFill>
                <a:latin typeface="Calibri"/>
              </a:rPr>
              <a:t>First paying customer by Week 6</a:t>
            </a:r>
          </a:p>
        </p:txBody>
      </p:sp>
      <p:sp>
        <p:nvSpPr>
          <p:cNvPr id="16" name="Rectangle 15"/>
          <p:cNvSpPr/>
          <p:nvPr/>
        </p:nvSpPr>
        <p:spPr>
          <a:xfrm>
            <a:off x="548640" y="4672584"/>
            <a:ext cx="3474720" cy="475488"/>
          </a:xfrm>
          <a:prstGeom prst="rect">
            <a:avLst/>
          </a:prstGeom>
          <a:solidFill>
            <a:srgbClr val="1A5545"/>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4782312"/>
            <a:ext cx="3246120" cy="274320"/>
          </a:xfrm>
          <a:prstGeom prst="rect">
            <a:avLst/>
          </a:prstGeom>
          <a:noFill/>
        </p:spPr>
        <p:txBody>
          <a:bodyPr wrap="square">
            <a:spAutoFit/>
          </a:bodyPr>
          <a:lstStyle/>
          <a:p>
            <a:pPr algn="l"/>
            <a:r>
              <a:rPr sz="1050" b="1" i="0">
                <a:solidFill>
                  <a:srgbClr val="F1F5F9"/>
                </a:solidFill>
                <a:latin typeface="Calibri"/>
              </a:rPr>
              <a:t>20 paying customers · ₹20K MRR</a:t>
            </a:r>
          </a:p>
        </p:txBody>
      </p:sp>
      <p:sp>
        <p:nvSpPr>
          <p:cNvPr id="18" name="Oval 17"/>
          <p:cNvSpPr/>
          <p:nvPr/>
        </p:nvSpPr>
        <p:spPr>
          <a:xfrm>
            <a:off x="5029200" y="1078992"/>
            <a:ext cx="822960" cy="822960"/>
          </a:xfrm>
          <a:prstGeom prst="ellipse">
            <a:avLst/>
          </a:prstGeom>
          <a:solidFill>
            <a:srgbClr val="112133"/>
          </a:solidFill>
          <a:ln w="2540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1170432"/>
            <a:ext cx="822960" cy="621792"/>
          </a:xfrm>
          <a:prstGeom prst="rect">
            <a:avLst/>
          </a:prstGeom>
          <a:noFill/>
        </p:spPr>
        <p:txBody>
          <a:bodyPr wrap="square">
            <a:spAutoFit/>
          </a:bodyPr>
          <a:lstStyle/>
          <a:p>
            <a:pPr algn="ctr"/>
            <a:r>
              <a:rPr sz="1200" b="1" i="0">
                <a:solidFill>
                  <a:srgbClr val="2DB89E"/>
                </a:solidFill>
                <a:latin typeface="Calibri"/>
              </a:rPr>
              <a:t>M6</a:t>
            </a:r>
          </a:p>
        </p:txBody>
      </p:sp>
      <p:sp>
        <p:nvSpPr>
          <p:cNvPr id="20" name="TextBox 19"/>
          <p:cNvSpPr txBox="1"/>
          <p:nvPr/>
        </p:nvSpPr>
        <p:spPr>
          <a:xfrm>
            <a:off x="4389120" y="2084831"/>
            <a:ext cx="3474720" cy="228600"/>
          </a:xfrm>
          <a:prstGeom prst="rect">
            <a:avLst/>
          </a:prstGeom>
          <a:noFill/>
        </p:spPr>
        <p:txBody>
          <a:bodyPr wrap="square">
            <a:spAutoFit/>
          </a:bodyPr>
          <a:lstStyle/>
          <a:p>
            <a:pPr algn="l"/>
            <a:r>
              <a:rPr sz="900" b="1" i="0">
                <a:solidFill>
                  <a:srgbClr val="2DB89E"/>
                </a:solidFill>
                <a:latin typeface="Calibri"/>
              </a:rPr>
              <a:t>PMF Locked</a:t>
            </a:r>
          </a:p>
        </p:txBody>
      </p:sp>
      <p:sp>
        <p:nvSpPr>
          <p:cNvPr id="21" name="Rectangle 20"/>
          <p:cNvSpPr/>
          <p:nvPr/>
        </p:nvSpPr>
        <p:spPr>
          <a:xfrm>
            <a:off x="4389120" y="2331720"/>
            <a:ext cx="3474720" cy="475488"/>
          </a:xfrm>
          <a:prstGeom prst="rect">
            <a:avLst/>
          </a:prstGeom>
          <a:solidFill>
            <a:srgbClr val="112133"/>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7136" y="2441448"/>
            <a:ext cx="3246120" cy="274320"/>
          </a:xfrm>
          <a:prstGeom prst="rect">
            <a:avLst/>
          </a:prstGeom>
          <a:noFill/>
        </p:spPr>
        <p:txBody>
          <a:bodyPr wrap="square">
            <a:spAutoFit/>
          </a:bodyPr>
          <a:lstStyle/>
          <a:p>
            <a:pPr algn="l"/>
            <a:r>
              <a:rPr sz="1050" b="0" i="0">
                <a:solidFill>
                  <a:srgbClr val="F1F5F9"/>
                </a:solidFill>
                <a:latin typeface="Calibri"/>
              </a:rPr>
              <a:t>18% intro-to-reply rate documented (9× cold email)</a:t>
            </a:r>
          </a:p>
        </p:txBody>
      </p:sp>
      <p:sp>
        <p:nvSpPr>
          <p:cNvPr id="23" name="Rectangle 22"/>
          <p:cNvSpPr/>
          <p:nvPr/>
        </p:nvSpPr>
        <p:spPr>
          <a:xfrm>
            <a:off x="4389120" y="2916936"/>
            <a:ext cx="3474720" cy="475488"/>
          </a:xfrm>
          <a:prstGeom prst="rect">
            <a:avLst/>
          </a:prstGeom>
          <a:solidFill>
            <a:srgbClr val="112133"/>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7136" y="3026664"/>
            <a:ext cx="3246120" cy="274320"/>
          </a:xfrm>
          <a:prstGeom prst="rect">
            <a:avLst/>
          </a:prstGeom>
          <a:noFill/>
        </p:spPr>
        <p:txBody>
          <a:bodyPr wrap="square">
            <a:spAutoFit/>
          </a:bodyPr>
          <a:lstStyle/>
          <a:p>
            <a:pPr algn="l"/>
            <a:r>
              <a:rPr sz="1050" b="0" i="0">
                <a:solidFill>
                  <a:srgbClr val="F1F5F9"/>
                </a:solidFill>
                <a:latin typeface="Calibri"/>
              </a:rPr>
              <a:t>5,000+ warm intros processed on platform</a:t>
            </a:r>
          </a:p>
        </p:txBody>
      </p:sp>
      <p:sp>
        <p:nvSpPr>
          <p:cNvPr id="25" name="Rectangle 24"/>
          <p:cNvSpPr/>
          <p:nvPr/>
        </p:nvSpPr>
        <p:spPr>
          <a:xfrm>
            <a:off x="4389120" y="3502152"/>
            <a:ext cx="3474720" cy="475488"/>
          </a:xfrm>
          <a:prstGeom prst="rect">
            <a:avLst/>
          </a:prstGeom>
          <a:solidFill>
            <a:srgbClr val="112133"/>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17136" y="3611880"/>
            <a:ext cx="3246120" cy="274320"/>
          </a:xfrm>
          <a:prstGeom prst="rect">
            <a:avLst/>
          </a:prstGeom>
          <a:noFill/>
        </p:spPr>
        <p:txBody>
          <a:bodyPr wrap="square">
            <a:spAutoFit/>
          </a:bodyPr>
          <a:lstStyle/>
          <a:p>
            <a:pPr algn="l"/>
            <a:r>
              <a:rPr sz="1050" b="0" i="0">
                <a:solidFill>
                  <a:srgbClr val="F1F5F9"/>
                </a:solidFill>
                <a:latin typeface="Calibri"/>
              </a:rPr>
              <a:t>5 'intro closed B2B deal' case studies published</a:t>
            </a:r>
          </a:p>
        </p:txBody>
      </p:sp>
      <p:sp>
        <p:nvSpPr>
          <p:cNvPr id="27" name="Rectangle 26"/>
          <p:cNvSpPr/>
          <p:nvPr/>
        </p:nvSpPr>
        <p:spPr>
          <a:xfrm>
            <a:off x="4389120" y="4087368"/>
            <a:ext cx="3474720" cy="475488"/>
          </a:xfrm>
          <a:prstGeom prst="rect">
            <a:avLst/>
          </a:prstGeom>
          <a:solidFill>
            <a:srgbClr val="1A5545"/>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17136" y="4197096"/>
            <a:ext cx="3246120" cy="274320"/>
          </a:xfrm>
          <a:prstGeom prst="rect">
            <a:avLst/>
          </a:prstGeom>
          <a:noFill/>
        </p:spPr>
        <p:txBody>
          <a:bodyPr wrap="square">
            <a:spAutoFit/>
          </a:bodyPr>
          <a:lstStyle/>
          <a:p>
            <a:pPr algn="l"/>
            <a:r>
              <a:rPr sz="1050" b="1" i="0">
                <a:solidFill>
                  <a:srgbClr val="F1F5F9"/>
                </a:solidFill>
                <a:latin typeface="Calibri"/>
              </a:rPr>
              <a:t>Paid tier live with pilot cohort pricing</a:t>
            </a:r>
          </a:p>
        </p:txBody>
      </p:sp>
      <p:sp>
        <p:nvSpPr>
          <p:cNvPr id="29" name="Rectangle 28"/>
          <p:cNvSpPr/>
          <p:nvPr/>
        </p:nvSpPr>
        <p:spPr>
          <a:xfrm>
            <a:off x="4389120" y="4672584"/>
            <a:ext cx="3474720" cy="475488"/>
          </a:xfrm>
          <a:prstGeom prst="rect">
            <a:avLst/>
          </a:prstGeom>
          <a:solidFill>
            <a:srgbClr val="1A5545"/>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17136" y="4782312"/>
            <a:ext cx="3246120" cy="274320"/>
          </a:xfrm>
          <a:prstGeom prst="rect">
            <a:avLst/>
          </a:prstGeom>
          <a:noFill/>
        </p:spPr>
        <p:txBody>
          <a:bodyPr wrap="square">
            <a:spAutoFit/>
          </a:bodyPr>
          <a:lstStyle/>
          <a:p>
            <a:pPr algn="l"/>
            <a:r>
              <a:rPr sz="1050" b="1" i="0">
                <a:solidFill>
                  <a:srgbClr val="F1F5F9"/>
                </a:solidFill>
                <a:latin typeface="Calibri"/>
              </a:rPr>
              <a:t>First MRR milestone · NPS &gt; 65</a:t>
            </a:r>
          </a:p>
        </p:txBody>
      </p:sp>
      <p:sp>
        <p:nvSpPr>
          <p:cNvPr id="31" name="Oval 30"/>
          <p:cNvSpPr/>
          <p:nvPr/>
        </p:nvSpPr>
        <p:spPr>
          <a:xfrm>
            <a:off x="8869680" y="1078992"/>
            <a:ext cx="822960" cy="822960"/>
          </a:xfrm>
          <a:prstGeom prst="ellipse">
            <a:avLst/>
          </a:prstGeom>
          <a:solidFill>
            <a:srgbClr val="2DB89E"/>
          </a:solidFill>
          <a:ln w="2540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0" y="1170432"/>
            <a:ext cx="822960" cy="621792"/>
          </a:xfrm>
          <a:prstGeom prst="rect">
            <a:avLst/>
          </a:prstGeom>
          <a:noFill/>
        </p:spPr>
        <p:txBody>
          <a:bodyPr wrap="square">
            <a:spAutoFit/>
          </a:bodyPr>
          <a:lstStyle/>
          <a:p>
            <a:pPr algn="ctr"/>
            <a:r>
              <a:rPr sz="1200" b="1" i="0">
                <a:solidFill>
                  <a:srgbClr val="0B1623"/>
                </a:solidFill>
                <a:latin typeface="Calibri"/>
              </a:rPr>
              <a:t>M12</a:t>
            </a:r>
          </a:p>
        </p:txBody>
      </p:sp>
      <p:sp>
        <p:nvSpPr>
          <p:cNvPr id="33" name="TextBox 32"/>
          <p:cNvSpPr txBox="1"/>
          <p:nvPr/>
        </p:nvSpPr>
        <p:spPr>
          <a:xfrm>
            <a:off x="8229600" y="2084831"/>
            <a:ext cx="3474720" cy="228600"/>
          </a:xfrm>
          <a:prstGeom prst="rect">
            <a:avLst/>
          </a:prstGeom>
          <a:noFill/>
        </p:spPr>
        <p:txBody>
          <a:bodyPr wrap="square">
            <a:spAutoFit/>
          </a:bodyPr>
          <a:lstStyle/>
          <a:p>
            <a:pPr algn="l"/>
            <a:r>
              <a:rPr sz="900" b="1" i="0">
                <a:solidFill>
                  <a:srgbClr val="2DB89E"/>
                </a:solidFill>
                <a:latin typeface="Calibri"/>
              </a:rPr>
              <a:t>Series A Pipeline</a:t>
            </a:r>
          </a:p>
        </p:txBody>
      </p:sp>
      <p:sp>
        <p:nvSpPr>
          <p:cNvPr id="34" name="Rectangle 33"/>
          <p:cNvSpPr/>
          <p:nvPr/>
        </p:nvSpPr>
        <p:spPr>
          <a:xfrm>
            <a:off x="8229600" y="2331720"/>
            <a:ext cx="3474720" cy="475488"/>
          </a:xfrm>
          <a:prstGeom prst="rect">
            <a:avLst/>
          </a:prstGeom>
          <a:solidFill>
            <a:srgbClr val="112133"/>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57616" y="2441448"/>
            <a:ext cx="3246120" cy="274320"/>
          </a:xfrm>
          <a:prstGeom prst="rect">
            <a:avLst/>
          </a:prstGeom>
          <a:noFill/>
        </p:spPr>
        <p:txBody>
          <a:bodyPr wrap="square">
            <a:spAutoFit/>
          </a:bodyPr>
          <a:lstStyle/>
          <a:p>
            <a:pPr algn="l"/>
            <a:r>
              <a:rPr sz="1050" b="0" i="0">
                <a:solidFill>
                  <a:srgbClr val="F1F5F9"/>
                </a:solidFill>
                <a:latin typeface="Calibri"/>
              </a:rPr>
              <a:t>CRM connectors (HubSpot, Zoho)</a:t>
            </a:r>
          </a:p>
        </p:txBody>
      </p:sp>
      <p:sp>
        <p:nvSpPr>
          <p:cNvPr id="36" name="Rectangle 35"/>
          <p:cNvSpPr/>
          <p:nvPr/>
        </p:nvSpPr>
        <p:spPr>
          <a:xfrm>
            <a:off x="8229600" y="2916936"/>
            <a:ext cx="3474720" cy="475488"/>
          </a:xfrm>
          <a:prstGeom prst="rect">
            <a:avLst/>
          </a:prstGeom>
          <a:solidFill>
            <a:srgbClr val="112133"/>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57616" y="3026664"/>
            <a:ext cx="3246120" cy="274320"/>
          </a:xfrm>
          <a:prstGeom prst="rect">
            <a:avLst/>
          </a:prstGeom>
          <a:noFill/>
        </p:spPr>
        <p:txBody>
          <a:bodyPr wrap="square">
            <a:spAutoFit/>
          </a:bodyPr>
          <a:lstStyle/>
          <a:p>
            <a:pPr algn="l"/>
            <a:r>
              <a:rPr sz="1050" b="0" i="0">
                <a:solidFill>
                  <a:srgbClr val="F1F5F9"/>
                </a:solidFill>
                <a:latin typeface="Calibri"/>
              </a:rPr>
              <a:t>Relationship data marketplace</a:t>
            </a:r>
          </a:p>
        </p:txBody>
      </p:sp>
      <p:sp>
        <p:nvSpPr>
          <p:cNvPr id="38" name="Rectangle 37"/>
          <p:cNvSpPr/>
          <p:nvPr/>
        </p:nvSpPr>
        <p:spPr>
          <a:xfrm>
            <a:off x="8229600" y="3502152"/>
            <a:ext cx="3474720" cy="475488"/>
          </a:xfrm>
          <a:prstGeom prst="rect">
            <a:avLst/>
          </a:prstGeom>
          <a:solidFill>
            <a:srgbClr val="112133"/>
          </a:solidFill>
          <a:ln w="63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57616" y="3611880"/>
            <a:ext cx="3246120" cy="274320"/>
          </a:xfrm>
          <a:prstGeom prst="rect">
            <a:avLst/>
          </a:prstGeom>
          <a:noFill/>
        </p:spPr>
        <p:txBody>
          <a:bodyPr wrap="square">
            <a:spAutoFit/>
          </a:bodyPr>
          <a:lstStyle/>
          <a:p>
            <a:pPr algn="l"/>
            <a:r>
              <a:rPr sz="1050" b="0" i="0">
                <a:solidFill>
                  <a:srgbClr val="F1F5F9"/>
                </a:solidFill>
                <a:latin typeface="Calibri"/>
              </a:rPr>
              <a:t>Singapore market launch</a:t>
            </a:r>
          </a:p>
        </p:txBody>
      </p:sp>
      <p:sp>
        <p:nvSpPr>
          <p:cNvPr id="40" name="Rectangle 39"/>
          <p:cNvSpPr/>
          <p:nvPr/>
        </p:nvSpPr>
        <p:spPr>
          <a:xfrm>
            <a:off x="8229600" y="4087368"/>
            <a:ext cx="3474720" cy="475488"/>
          </a:xfrm>
          <a:prstGeom prst="rect">
            <a:avLst/>
          </a:prstGeom>
          <a:solidFill>
            <a:srgbClr val="1A5545"/>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57616" y="4197096"/>
            <a:ext cx="3246120" cy="274320"/>
          </a:xfrm>
          <a:prstGeom prst="rect">
            <a:avLst/>
          </a:prstGeom>
          <a:noFill/>
        </p:spPr>
        <p:txBody>
          <a:bodyPr wrap="square">
            <a:spAutoFit/>
          </a:bodyPr>
          <a:lstStyle/>
          <a:p>
            <a:pPr algn="l"/>
            <a:r>
              <a:rPr sz="1050" b="1" i="0">
                <a:solidFill>
                  <a:srgbClr val="F1F5F9"/>
                </a:solidFill>
                <a:latin typeface="Calibri"/>
              </a:rPr>
              <a:t>300+ customers</a:t>
            </a:r>
          </a:p>
        </p:txBody>
      </p:sp>
      <p:sp>
        <p:nvSpPr>
          <p:cNvPr id="42" name="Rectangle 41"/>
          <p:cNvSpPr/>
          <p:nvPr/>
        </p:nvSpPr>
        <p:spPr>
          <a:xfrm>
            <a:off x="8229600" y="4672584"/>
            <a:ext cx="3474720" cy="475488"/>
          </a:xfrm>
          <a:prstGeom prst="rect">
            <a:avLst/>
          </a:prstGeom>
          <a:solidFill>
            <a:srgbClr val="1A5545"/>
          </a:solidFill>
          <a:ln w="6350">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57616" y="4782312"/>
            <a:ext cx="3246120" cy="274320"/>
          </a:xfrm>
          <a:prstGeom prst="rect">
            <a:avLst/>
          </a:prstGeom>
          <a:noFill/>
        </p:spPr>
        <p:txBody>
          <a:bodyPr wrap="square">
            <a:spAutoFit/>
          </a:bodyPr>
          <a:lstStyle/>
          <a:p>
            <a:pPr algn="l"/>
            <a:r>
              <a:rPr sz="1050" b="1" i="0">
                <a:solidFill>
                  <a:srgbClr val="F1F5F9"/>
                </a:solidFill>
                <a:latin typeface="Calibri"/>
              </a:rPr>
              <a:t>₹8L MRR  /  Series A raise</a:t>
            </a:r>
          </a:p>
        </p:txBody>
      </p:sp>
      <p:sp>
        <p:nvSpPr>
          <p:cNvPr id="44" name="Rectangle 43"/>
          <p:cNvSpPr/>
          <p:nvPr/>
        </p:nvSpPr>
        <p:spPr>
          <a:xfrm>
            <a:off x="457200" y="6236208"/>
            <a:ext cx="11274552" cy="7315"/>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6291072"/>
            <a:ext cx="2286000" cy="292608"/>
          </a:xfrm>
          <a:prstGeom prst="rect">
            <a:avLst/>
          </a:prstGeom>
          <a:noFill/>
        </p:spPr>
        <p:txBody>
          <a:bodyPr wrap="square">
            <a:spAutoFit/>
          </a:bodyPr>
          <a:lstStyle/>
          <a:p>
            <a:pPr algn="l"/>
            <a:r>
              <a:rPr sz="1800" b="1" i="0">
                <a:solidFill>
                  <a:srgbClr val="2DB89E"/>
                </a:solidFill>
                <a:latin typeface="Calibri"/>
              </a:rPr>
              <a:t>1,000+</a:t>
            </a:r>
          </a:p>
        </p:txBody>
      </p:sp>
      <p:sp>
        <p:nvSpPr>
          <p:cNvPr id="46" name="TextBox 45"/>
          <p:cNvSpPr txBox="1"/>
          <p:nvPr/>
        </p:nvSpPr>
        <p:spPr>
          <a:xfrm>
            <a:off x="731520" y="6601968"/>
            <a:ext cx="2286000" cy="182880"/>
          </a:xfrm>
          <a:prstGeom prst="rect">
            <a:avLst/>
          </a:prstGeom>
          <a:noFill/>
        </p:spPr>
        <p:txBody>
          <a:bodyPr wrap="square">
            <a:spAutoFit/>
          </a:bodyPr>
          <a:lstStyle/>
          <a:p>
            <a:pPr algn="l"/>
            <a:r>
              <a:rPr sz="900" b="0" i="0">
                <a:solidFill>
                  <a:srgbClr val="94A3B8"/>
                </a:solidFill>
                <a:latin typeface="Calibri"/>
              </a:rPr>
              <a:t>intros by Month 3</a:t>
            </a:r>
          </a:p>
        </p:txBody>
      </p:sp>
      <p:sp>
        <p:nvSpPr>
          <p:cNvPr id="47" name="Rectangle 46"/>
          <p:cNvSpPr/>
          <p:nvPr/>
        </p:nvSpPr>
        <p:spPr>
          <a:xfrm>
            <a:off x="3566160" y="6291072"/>
            <a:ext cx="7315" cy="502920"/>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03320" y="6291072"/>
            <a:ext cx="2286000" cy="292608"/>
          </a:xfrm>
          <a:prstGeom prst="rect">
            <a:avLst/>
          </a:prstGeom>
          <a:noFill/>
        </p:spPr>
        <p:txBody>
          <a:bodyPr wrap="square">
            <a:spAutoFit/>
          </a:bodyPr>
          <a:lstStyle/>
          <a:p>
            <a:pPr algn="l"/>
            <a:r>
              <a:rPr sz="1800" b="1" i="0">
                <a:solidFill>
                  <a:srgbClr val="2DB89E"/>
                </a:solidFill>
                <a:latin typeface="Calibri"/>
              </a:rPr>
              <a:t>₹1L</a:t>
            </a:r>
          </a:p>
        </p:txBody>
      </p:sp>
      <p:sp>
        <p:nvSpPr>
          <p:cNvPr id="49" name="TextBox 48"/>
          <p:cNvSpPr txBox="1"/>
          <p:nvPr/>
        </p:nvSpPr>
        <p:spPr>
          <a:xfrm>
            <a:off x="3703320" y="6601968"/>
            <a:ext cx="2286000" cy="182880"/>
          </a:xfrm>
          <a:prstGeom prst="rect">
            <a:avLst/>
          </a:prstGeom>
          <a:noFill/>
        </p:spPr>
        <p:txBody>
          <a:bodyPr wrap="square">
            <a:spAutoFit/>
          </a:bodyPr>
          <a:lstStyle/>
          <a:p>
            <a:pPr algn="l"/>
            <a:r>
              <a:rPr sz="900" b="0" i="0">
                <a:solidFill>
                  <a:srgbClr val="94A3B8"/>
                </a:solidFill>
                <a:latin typeface="Calibri"/>
              </a:rPr>
              <a:t>MRR by Month 6</a:t>
            </a:r>
          </a:p>
        </p:txBody>
      </p:sp>
      <p:sp>
        <p:nvSpPr>
          <p:cNvPr id="50" name="Rectangle 49"/>
          <p:cNvSpPr/>
          <p:nvPr/>
        </p:nvSpPr>
        <p:spPr>
          <a:xfrm>
            <a:off x="6537960" y="6291072"/>
            <a:ext cx="7315" cy="502920"/>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75120" y="6291072"/>
            <a:ext cx="2286000" cy="292608"/>
          </a:xfrm>
          <a:prstGeom prst="rect">
            <a:avLst/>
          </a:prstGeom>
          <a:noFill/>
        </p:spPr>
        <p:txBody>
          <a:bodyPr wrap="square">
            <a:spAutoFit/>
          </a:bodyPr>
          <a:lstStyle/>
          <a:p>
            <a:pPr algn="l"/>
            <a:r>
              <a:rPr sz="1800" b="1" i="0">
                <a:solidFill>
                  <a:srgbClr val="2DB89E"/>
                </a:solidFill>
                <a:latin typeface="Calibri"/>
              </a:rPr>
              <a:t>₹8L</a:t>
            </a:r>
          </a:p>
        </p:txBody>
      </p:sp>
      <p:sp>
        <p:nvSpPr>
          <p:cNvPr id="52" name="TextBox 51"/>
          <p:cNvSpPr txBox="1"/>
          <p:nvPr/>
        </p:nvSpPr>
        <p:spPr>
          <a:xfrm>
            <a:off x="6675120" y="6601968"/>
            <a:ext cx="2286000" cy="182880"/>
          </a:xfrm>
          <a:prstGeom prst="rect">
            <a:avLst/>
          </a:prstGeom>
          <a:noFill/>
        </p:spPr>
        <p:txBody>
          <a:bodyPr wrap="square">
            <a:spAutoFit/>
          </a:bodyPr>
          <a:lstStyle/>
          <a:p>
            <a:pPr algn="l"/>
            <a:r>
              <a:rPr sz="900" b="0" i="0">
                <a:solidFill>
                  <a:srgbClr val="94A3B8"/>
                </a:solidFill>
                <a:latin typeface="Calibri"/>
              </a:rPr>
              <a:t>MRR by Month 12</a:t>
            </a:r>
          </a:p>
        </p:txBody>
      </p:sp>
      <p:sp>
        <p:nvSpPr>
          <p:cNvPr id="53" name="Rectangle 52"/>
          <p:cNvSpPr/>
          <p:nvPr/>
        </p:nvSpPr>
        <p:spPr>
          <a:xfrm>
            <a:off x="9509760" y="6291072"/>
            <a:ext cx="7315" cy="502920"/>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46920" y="6291072"/>
            <a:ext cx="2286000" cy="292608"/>
          </a:xfrm>
          <a:prstGeom prst="rect">
            <a:avLst/>
          </a:prstGeom>
          <a:noFill/>
        </p:spPr>
        <p:txBody>
          <a:bodyPr wrap="square">
            <a:spAutoFit/>
          </a:bodyPr>
          <a:lstStyle/>
          <a:p>
            <a:pPr algn="l"/>
            <a:r>
              <a:rPr sz="1800" b="1" i="0">
                <a:solidFill>
                  <a:srgbClr val="2DB89E"/>
                </a:solidFill>
                <a:latin typeface="Calibri"/>
              </a:rPr>
              <a:t>₹3–5 Cr</a:t>
            </a:r>
          </a:p>
        </p:txBody>
      </p:sp>
      <p:sp>
        <p:nvSpPr>
          <p:cNvPr id="55" name="TextBox 54"/>
          <p:cNvSpPr txBox="1"/>
          <p:nvPr/>
        </p:nvSpPr>
        <p:spPr>
          <a:xfrm>
            <a:off x="9646920" y="6601968"/>
            <a:ext cx="2286000" cy="182880"/>
          </a:xfrm>
          <a:prstGeom prst="rect">
            <a:avLst/>
          </a:prstGeom>
          <a:noFill/>
        </p:spPr>
        <p:txBody>
          <a:bodyPr wrap="square">
            <a:spAutoFit/>
          </a:bodyPr>
          <a:lstStyle/>
          <a:p>
            <a:pPr algn="l"/>
            <a:r>
              <a:rPr sz="900" b="0" i="0">
                <a:solidFill>
                  <a:srgbClr val="94A3B8"/>
                </a:solidFill>
                <a:latin typeface="Calibri"/>
              </a:rPr>
              <a:t>Series A target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Rectangle 1"/>
          <p:cNvSpPr/>
          <p:nvPr/>
        </p:nvSpPr>
        <p:spPr>
          <a:xfrm>
            <a:off x="457200" y="374904"/>
            <a:ext cx="32004" cy="29260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47472"/>
            <a:ext cx="11338560" cy="384048"/>
          </a:xfrm>
          <a:prstGeom prst="rect">
            <a:avLst/>
          </a:prstGeom>
          <a:noFill/>
        </p:spPr>
        <p:txBody>
          <a:bodyPr wrap="square">
            <a:spAutoFit/>
          </a:bodyPr>
          <a:lstStyle/>
          <a:p>
            <a:pPr algn="l"/>
            <a:r>
              <a:rPr sz="1400" b="1" i="0">
                <a:solidFill>
                  <a:srgbClr val="F1F5F9"/>
                </a:solidFill>
                <a:latin typeface="Calibri"/>
              </a:rPr>
              <a:t>Capital Ask: ₹20L Pre-Seed</a:t>
            </a:r>
          </a:p>
        </p:txBody>
      </p:sp>
      <p:graphicFrame>
        <p:nvGraphicFramePr>
          <p:cNvPr id="4" name="Chart 3"/>
          <p:cNvGraphicFramePr>
            <a:graphicFrameLocks noGrp="1"/>
          </p:cNvGraphicFramePr>
          <p:nvPr/>
        </p:nvGraphicFramePr>
        <p:xfrm>
          <a:off x="182880" y="914400"/>
          <a:ext cx="4572000" cy="5029200"/>
        </p:xfrm>
        <a:graphic>
          <a:graphicData uri="http://schemas.openxmlformats.org/drawingml/2006/chart">
            <c:chart xmlns:c="http://schemas.openxmlformats.org/drawingml/2006/chart" r:id="rId2"/>
          </a:graphicData>
        </a:graphic>
      </p:graphicFrame>
      <p:sp>
        <p:nvSpPr>
          <p:cNvPr id="5" name="TextBox 4"/>
          <p:cNvSpPr txBox="1"/>
          <p:nvPr/>
        </p:nvSpPr>
        <p:spPr>
          <a:xfrm>
            <a:off x="1600200" y="3246120"/>
            <a:ext cx="1371600" cy="411480"/>
          </a:xfrm>
          <a:prstGeom prst="rect">
            <a:avLst/>
          </a:prstGeom>
          <a:noFill/>
        </p:spPr>
        <p:txBody>
          <a:bodyPr wrap="square">
            <a:spAutoFit/>
          </a:bodyPr>
          <a:lstStyle/>
          <a:p>
            <a:pPr algn="ctr"/>
            <a:r>
              <a:rPr sz="2000" b="1" i="0">
                <a:solidFill>
                  <a:srgbClr val="F1F5F9"/>
                </a:solidFill>
                <a:latin typeface="Calibri"/>
              </a:rPr>
              <a:t>₹20L</a:t>
            </a:r>
          </a:p>
        </p:txBody>
      </p:sp>
      <p:sp>
        <p:nvSpPr>
          <p:cNvPr id="6" name="TextBox 5"/>
          <p:cNvSpPr txBox="1"/>
          <p:nvPr/>
        </p:nvSpPr>
        <p:spPr>
          <a:xfrm>
            <a:off x="1600200" y="3657600"/>
            <a:ext cx="1371600" cy="201168"/>
          </a:xfrm>
          <a:prstGeom prst="rect">
            <a:avLst/>
          </a:prstGeom>
          <a:noFill/>
        </p:spPr>
        <p:txBody>
          <a:bodyPr wrap="square">
            <a:spAutoFit/>
          </a:bodyPr>
          <a:lstStyle/>
          <a:p>
            <a:pPr algn="ctr"/>
            <a:r>
              <a:rPr sz="800" b="0" i="0">
                <a:solidFill>
                  <a:srgbClr val="94A3B8"/>
                </a:solidFill>
                <a:latin typeface="Calibri"/>
              </a:rPr>
              <a:t>PRE-SEED</a:t>
            </a:r>
          </a:p>
        </p:txBody>
      </p:sp>
      <p:sp>
        <p:nvSpPr>
          <p:cNvPr id="7" name="TextBox 6"/>
          <p:cNvSpPr txBox="1"/>
          <p:nvPr/>
        </p:nvSpPr>
        <p:spPr>
          <a:xfrm>
            <a:off x="5349240" y="987552"/>
            <a:ext cx="1645920" cy="237744"/>
          </a:xfrm>
          <a:prstGeom prst="rect">
            <a:avLst/>
          </a:prstGeom>
          <a:noFill/>
        </p:spPr>
        <p:txBody>
          <a:bodyPr wrap="square">
            <a:spAutoFit/>
          </a:bodyPr>
          <a:lstStyle/>
          <a:p>
            <a:pPr algn="l"/>
            <a:r>
              <a:rPr sz="1200" b="1" i="0">
                <a:solidFill>
                  <a:srgbClr val="F1F5F9"/>
                </a:solidFill>
                <a:latin typeface="Calibri"/>
              </a:rPr>
              <a:t>LLM Inference</a:t>
            </a:r>
          </a:p>
        </p:txBody>
      </p:sp>
      <p:sp>
        <p:nvSpPr>
          <p:cNvPr id="8" name="TextBox 7"/>
          <p:cNvSpPr txBox="1"/>
          <p:nvPr/>
        </p:nvSpPr>
        <p:spPr>
          <a:xfrm>
            <a:off x="7040880" y="987552"/>
            <a:ext cx="3108960" cy="237744"/>
          </a:xfrm>
          <a:prstGeom prst="rect">
            <a:avLst/>
          </a:prstGeom>
          <a:noFill/>
        </p:spPr>
        <p:txBody>
          <a:bodyPr wrap="square">
            <a:spAutoFit/>
          </a:bodyPr>
          <a:lstStyle/>
          <a:p>
            <a:pPr algn="l"/>
            <a:r>
              <a:rPr sz="1000" b="0" i="0">
                <a:solidFill>
                  <a:srgbClr val="94A3B8"/>
                </a:solidFill>
                <a:latin typeface="Calibri"/>
              </a:rPr>
              <a:t>(Claude + GPT-4, usage-based · 12 months)</a:t>
            </a:r>
          </a:p>
        </p:txBody>
      </p:sp>
      <p:sp>
        <p:nvSpPr>
          <p:cNvPr id="9" name="TextBox 8"/>
          <p:cNvSpPr txBox="1"/>
          <p:nvPr/>
        </p:nvSpPr>
        <p:spPr>
          <a:xfrm>
            <a:off x="10835640" y="987552"/>
            <a:ext cx="914400" cy="237744"/>
          </a:xfrm>
          <a:prstGeom prst="rect">
            <a:avLst/>
          </a:prstGeom>
          <a:noFill/>
        </p:spPr>
        <p:txBody>
          <a:bodyPr wrap="square">
            <a:spAutoFit/>
          </a:bodyPr>
          <a:lstStyle/>
          <a:p>
            <a:pPr algn="r"/>
            <a:r>
              <a:rPr sz="1150" b="1" i="0">
                <a:solidFill>
                  <a:srgbClr val="2DB89E"/>
                </a:solidFill>
                <a:latin typeface="Calibri"/>
              </a:rPr>
              <a:t>₹4L · 20%</a:t>
            </a:r>
          </a:p>
        </p:txBody>
      </p:sp>
      <p:sp>
        <p:nvSpPr>
          <p:cNvPr id="10" name="Rectangle 9"/>
          <p:cNvSpPr/>
          <p:nvPr/>
        </p:nvSpPr>
        <p:spPr>
          <a:xfrm>
            <a:off x="5349240" y="1280160"/>
            <a:ext cx="6400800" cy="82296"/>
          </a:xfrm>
          <a:prstGeom prst="rect">
            <a:avLst/>
          </a:prstGeom>
          <a:solidFill>
            <a:srgbClr val="1121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49240" y="1280160"/>
            <a:ext cx="1280160" cy="82296"/>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1792224"/>
            <a:ext cx="1645920" cy="237744"/>
          </a:xfrm>
          <a:prstGeom prst="rect">
            <a:avLst/>
          </a:prstGeom>
          <a:noFill/>
        </p:spPr>
        <p:txBody>
          <a:bodyPr wrap="square">
            <a:spAutoFit/>
          </a:bodyPr>
          <a:lstStyle/>
          <a:p>
            <a:pPr algn="l"/>
            <a:r>
              <a:rPr sz="1200" b="1" i="0">
                <a:solidFill>
                  <a:srgbClr val="F1F5F9"/>
                </a:solidFill>
                <a:latin typeface="Calibri"/>
              </a:rPr>
              <a:t>Phone / IVR</a:t>
            </a:r>
          </a:p>
        </p:txBody>
      </p:sp>
      <p:sp>
        <p:nvSpPr>
          <p:cNvPr id="13" name="TextBox 12"/>
          <p:cNvSpPr txBox="1"/>
          <p:nvPr/>
        </p:nvSpPr>
        <p:spPr>
          <a:xfrm>
            <a:off x="7040880" y="1792224"/>
            <a:ext cx="3108960" cy="237744"/>
          </a:xfrm>
          <a:prstGeom prst="rect">
            <a:avLst/>
          </a:prstGeom>
          <a:noFill/>
        </p:spPr>
        <p:txBody>
          <a:bodyPr wrap="square">
            <a:spAutoFit/>
          </a:bodyPr>
          <a:lstStyle/>
          <a:p>
            <a:pPr algn="l"/>
            <a:r>
              <a:rPr sz="1000" b="0" i="0">
                <a:solidFill>
                  <a:srgbClr val="94A3B8"/>
                </a:solidFill>
                <a:latin typeface="Calibri"/>
              </a:rPr>
              <a:t>(Exotel/Twilio: number setup + call credits)</a:t>
            </a:r>
          </a:p>
        </p:txBody>
      </p:sp>
      <p:sp>
        <p:nvSpPr>
          <p:cNvPr id="14" name="TextBox 13"/>
          <p:cNvSpPr txBox="1"/>
          <p:nvPr/>
        </p:nvSpPr>
        <p:spPr>
          <a:xfrm>
            <a:off x="10835640" y="1792224"/>
            <a:ext cx="914400" cy="237744"/>
          </a:xfrm>
          <a:prstGeom prst="rect">
            <a:avLst/>
          </a:prstGeom>
          <a:noFill/>
        </p:spPr>
        <p:txBody>
          <a:bodyPr wrap="square">
            <a:spAutoFit/>
          </a:bodyPr>
          <a:lstStyle/>
          <a:p>
            <a:pPr algn="r"/>
            <a:r>
              <a:rPr sz="1150" b="1" i="0">
                <a:solidFill>
                  <a:srgbClr val="2DB89E"/>
                </a:solidFill>
                <a:latin typeface="Calibri"/>
              </a:rPr>
              <a:t>₹4L · 20%</a:t>
            </a:r>
          </a:p>
        </p:txBody>
      </p:sp>
      <p:sp>
        <p:nvSpPr>
          <p:cNvPr id="15" name="Rectangle 14"/>
          <p:cNvSpPr/>
          <p:nvPr/>
        </p:nvSpPr>
        <p:spPr>
          <a:xfrm>
            <a:off x="5349240" y="2084832"/>
            <a:ext cx="6400800" cy="82296"/>
          </a:xfrm>
          <a:prstGeom prst="rect">
            <a:avLst/>
          </a:prstGeom>
          <a:solidFill>
            <a:srgbClr val="1121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49240" y="2084832"/>
            <a:ext cx="1280160" cy="82296"/>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49240" y="2596896"/>
            <a:ext cx="1645920" cy="237744"/>
          </a:xfrm>
          <a:prstGeom prst="rect">
            <a:avLst/>
          </a:prstGeom>
          <a:noFill/>
        </p:spPr>
        <p:txBody>
          <a:bodyPr wrap="square">
            <a:spAutoFit/>
          </a:bodyPr>
          <a:lstStyle/>
          <a:p>
            <a:pPr algn="l"/>
            <a:r>
              <a:rPr sz="1200" b="1" i="0">
                <a:solidFill>
                  <a:srgbClr val="F1F5F9"/>
                </a:solidFill>
                <a:latin typeface="Calibri"/>
              </a:rPr>
              <a:t>Channel APIs</a:t>
            </a:r>
          </a:p>
        </p:txBody>
      </p:sp>
      <p:sp>
        <p:nvSpPr>
          <p:cNvPr id="18" name="TextBox 17"/>
          <p:cNvSpPr txBox="1"/>
          <p:nvPr/>
        </p:nvSpPr>
        <p:spPr>
          <a:xfrm>
            <a:off x="7040880" y="2596896"/>
            <a:ext cx="3108960" cy="237744"/>
          </a:xfrm>
          <a:prstGeom prst="rect">
            <a:avLst/>
          </a:prstGeom>
          <a:noFill/>
        </p:spPr>
        <p:txBody>
          <a:bodyPr wrap="square">
            <a:spAutoFit/>
          </a:bodyPr>
          <a:lstStyle/>
          <a:p>
            <a:pPr algn="l"/>
            <a:r>
              <a:rPr sz="1000" b="0" i="0">
                <a:solidFill>
                  <a:srgbClr val="94A3B8"/>
                </a:solidFill>
                <a:latin typeface="Calibri"/>
              </a:rPr>
              <a:t>(WhatsApp Business, LinkedIn, Meta Ads)</a:t>
            </a:r>
          </a:p>
        </p:txBody>
      </p:sp>
      <p:sp>
        <p:nvSpPr>
          <p:cNvPr id="19" name="TextBox 18"/>
          <p:cNvSpPr txBox="1"/>
          <p:nvPr/>
        </p:nvSpPr>
        <p:spPr>
          <a:xfrm>
            <a:off x="10835640" y="2596896"/>
            <a:ext cx="914400" cy="237744"/>
          </a:xfrm>
          <a:prstGeom prst="rect">
            <a:avLst/>
          </a:prstGeom>
          <a:noFill/>
        </p:spPr>
        <p:txBody>
          <a:bodyPr wrap="square">
            <a:spAutoFit/>
          </a:bodyPr>
          <a:lstStyle/>
          <a:p>
            <a:pPr algn="r"/>
            <a:r>
              <a:rPr sz="1150" b="1" i="0">
                <a:solidFill>
                  <a:srgbClr val="2DB89E"/>
                </a:solidFill>
                <a:latin typeface="Calibri"/>
              </a:rPr>
              <a:t>₹3L · 15%</a:t>
            </a:r>
          </a:p>
        </p:txBody>
      </p:sp>
      <p:sp>
        <p:nvSpPr>
          <p:cNvPr id="20" name="Rectangle 19"/>
          <p:cNvSpPr/>
          <p:nvPr/>
        </p:nvSpPr>
        <p:spPr>
          <a:xfrm>
            <a:off x="5349240" y="2889504"/>
            <a:ext cx="6400800" cy="82296"/>
          </a:xfrm>
          <a:prstGeom prst="rect">
            <a:avLst/>
          </a:prstGeom>
          <a:solidFill>
            <a:srgbClr val="1121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49240" y="2889504"/>
            <a:ext cx="960120" cy="82296"/>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3401568"/>
            <a:ext cx="1645920" cy="237744"/>
          </a:xfrm>
          <a:prstGeom prst="rect">
            <a:avLst/>
          </a:prstGeom>
          <a:noFill/>
        </p:spPr>
        <p:txBody>
          <a:bodyPr wrap="square">
            <a:spAutoFit/>
          </a:bodyPr>
          <a:lstStyle/>
          <a:p>
            <a:pPr algn="l"/>
            <a:r>
              <a:rPr sz="1200" b="1" i="0">
                <a:solidFill>
                  <a:srgbClr val="F1F5F9"/>
                </a:solidFill>
                <a:latin typeface="Calibri"/>
              </a:rPr>
              <a:t>Cloud Infra</a:t>
            </a:r>
          </a:p>
        </p:txBody>
      </p:sp>
      <p:sp>
        <p:nvSpPr>
          <p:cNvPr id="23" name="TextBox 22"/>
          <p:cNvSpPr txBox="1"/>
          <p:nvPr/>
        </p:nvSpPr>
        <p:spPr>
          <a:xfrm>
            <a:off x="7040880" y="3401568"/>
            <a:ext cx="3108960" cy="237744"/>
          </a:xfrm>
          <a:prstGeom prst="rect">
            <a:avLst/>
          </a:prstGeom>
          <a:noFill/>
        </p:spPr>
        <p:txBody>
          <a:bodyPr wrap="square">
            <a:spAutoFit/>
          </a:bodyPr>
          <a:lstStyle/>
          <a:p>
            <a:pPr algn="l"/>
            <a:r>
              <a:rPr sz="1000" b="0" i="0">
                <a:solidFill>
                  <a:srgbClr val="94A3B8"/>
                </a:solidFill>
                <a:latin typeface="Calibri"/>
              </a:rPr>
              <a:t>(Vercel now · AWS/GCP migration at scale)</a:t>
            </a:r>
          </a:p>
        </p:txBody>
      </p:sp>
      <p:sp>
        <p:nvSpPr>
          <p:cNvPr id="24" name="TextBox 23"/>
          <p:cNvSpPr txBox="1"/>
          <p:nvPr/>
        </p:nvSpPr>
        <p:spPr>
          <a:xfrm>
            <a:off x="10835640" y="3401568"/>
            <a:ext cx="914400" cy="237744"/>
          </a:xfrm>
          <a:prstGeom prst="rect">
            <a:avLst/>
          </a:prstGeom>
          <a:noFill/>
        </p:spPr>
        <p:txBody>
          <a:bodyPr wrap="square">
            <a:spAutoFit/>
          </a:bodyPr>
          <a:lstStyle/>
          <a:p>
            <a:pPr algn="r"/>
            <a:r>
              <a:rPr sz="1150" b="1" i="0">
                <a:solidFill>
                  <a:srgbClr val="2DB89E"/>
                </a:solidFill>
                <a:latin typeface="Calibri"/>
              </a:rPr>
              <a:t>₹3L · 15%</a:t>
            </a:r>
          </a:p>
        </p:txBody>
      </p:sp>
      <p:sp>
        <p:nvSpPr>
          <p:cNvPr id="25" name="Rectangle 24"/>
          <p:cNvSpPr/>
          <p:nvPr/>
        </p:nvSpPr>
        <p:spPr>
          <a:xfrm>
            <a:off x="5349240" y="3694176"/>
            <a:ext cx="6400800" cy="82296"/>
          </a:xfrm>
          <a:prstGeom prst="rect">
            <a:avLst/>
          </a:prstGeom>
          <a:solidFill>
            <a:srgbClr val="1121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349240" y="3694176"/>
            <a:ext cx="960120" cy="82296"/>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49240" y="4206240"/>
            <a:ext cx="1645920" cy="237744"/>
          </a:xfrm>
          <a:prstGeom prst="rect">
            <a:avLst/>
          </a:prstGeom>
          <a:noFill/>
        </p:spPr>
        <p:txBody>
          <a:bodyPr wrap="square">
            <a:spAutoFit/>
          </a:bodyPr>
          <a:lstStyle/>
          <a:p>
            <a:pPr algn="l"/>
            <a:r>
              <a:rPr sz="1200" b="1" i="0">
                <a:solidFill>
                  <a:srgbClr val="F1F5F9"/>
                </a:solidFill>
                <a:latin typeface="Calibri"/>
              </a:rPr>
              <a:t>Pilot GTM</a:t>
            </a:r>
          </a:p>
        </p:txBody>
      </p:sp>
      <p:sp>
        <p:nvSpPr>
          <p:cNvPr id="28" name="TextBox 27"/>
          <p:cNvSpPr txBox="1"/>
          <p:nvPr/>
        </p:nvSpPr>
        <p:spPr>
          <a:xfrm>
            <a:off x="7040880" y="4206240"/>
            <a:ext cx="3108960" cy="237744"/>
          </a:xfrm>
          <a:prstGeom prst="rect">
            <a:avLst/>
          </a:prstGeom>
          <a:noFill/>
        </p:spPr>
        <p:txBody>
          <a:bodyPr wrap="square">
            <a:spAutoFit/>
          </a:bodyPr>
          <a:lstStyle/>
          <a:p>
            <a:pPr algn="l"/>
            <a:r>
              <a:rPr sz="1000" b="0" i="0">
                <a:solidFill>
                  <a:srgbClr val="94A3B8"/>
                </a:solidFill>
                <a:latin typeface="Calibri"/>
              </a:rPr>
              <a:t>(founder events, demos, first 10 customers)</a:t>
            </a:r>
          </a:p>
        </p:txBody>
      </p:sp>
      <p:sp>
        <p:nvSpPr>
          <p:cNvPr id="29" name="TextBox 28"/>
          <p:cNvSpPr txBox="1"/>
          <p:nvPr/>
        </p:nvSpPr>
        <p:spPr>
          <a:xfrm>
            <a:off x="10835640" y="4206240"/>
            <a:ext cx="914400" cy="237744"/>
          </a:xfrm>
          <a:prstGeom prst="rect">
            <a:avLst/>
          </a:prstGeom>
          <a:noFill/>
        </p:spPr>
        <p:txBody>
          <a:bodyPr wrap="square">
            <a:spAutoFit/>
          </a:bodyPr>
          <a:lstStyle/>
          <a:p>
            <a:pPr algn="r"/>
            <a:r>
              <a:rPr sz="1150" b="1" i="0">
                <a:solidFill>
                  <a:srgbClr val="FBBF24"/>
                </a:solidFill>
                <a:latin typeface="Calibri"/>
              </a:rPr>
              <a:t>₹4L · 20%</a:t>
            </a:r>
          </a:p>
        </p:txBody>
      </p:sp>
      <p:sp>
        <p:nvSpPr>
          <p:cNvPr id="30" name="Rectangle 29"/>
          <p:cNvSpPr/>
          <p:nvPr/>
        </p:nvSpPr>
        <p:spPr>
          <a:xfrm>
            <a:off x="5349240" y="4498848"/>
            <a:ext cx="6400800" cy="82296"/>
          </a:xfrm>
          <a:prstGeom prst="rect">
            <a:avLst/>
          </a:prstGeom>
          <a:solidFill>
            <a:srgbClr val="1121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349240" y="4498848"/>
            <a:ext cx="1280160" cy="8229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49240" y="5010912"/>
            <a:ext cx="1645920" cy="237744"/>
          </a:xfrm>
          <a:prstGeom prst="rect">
            <a:avLst/>
          </a:prstGeom>
          <a:noFill/>
        </p:spPr>
        <p:txBody>
          <a:bodyPr wrap="square">
            <a:spAutoFit/>
          </a:bodyPr>
          <a:lstStyle/>
          <a:p>
            <a:pPr algn="l"/>
            <a:r>
              <a:rPr sz="1200" b="1" i="0">
                <a:solidFill>
                  <a:srgbClr val="F1F5F9"/>
                </a:solidFill>
                <a:latin typeface="Calibri"/>
              </a:rPr>
              <a:t>Founder Runway</a:t>
            </a:r>
          </a:p>
        </p:txBody>
      </p:sp>
      <p:sp>
        <p:nvSpPr>
          <p:cNvPr id="33" name="TextBox 32"/>
          <p:cNvSpPr txBox="1"/>
          <p:nvPr/>
        </p:nvSpPr>
        <p:spPr>
          <a:xfrm>
            <a:off x="7040880" y="5010912"/>
            <a:ext cx="3108960" cy="237744"/>
          </a:xfrm>
          <a:prstGeom prst="rect">
            <a:avLst/>
          </a:prstGeom>
          <a:noFill/>
        </p:spPr>
        <p:txBody>
          <a:bodyPr wrap="square">
            <a:spAutoFit/>
          </a:bodyPr>
          <a:lstStyle/>
          <a:p>
            <a:pPr algn="l"/>
            <a:r>
              <a:rPr sz="1000" b="0" i="0">
                <a:solidFill>
                  <a:srgbClr val="94A3B8"/>
                </a:solidFill>
                <a:latin typeface="Calibri"/>
              </a:rPr>
              <a:t>(12 months, modest stipend)</a:t>
            </a:r>
          </a:p>
        </p:txBody>
      </p:sp>
      <p:sp>
        <p:nvSpPr>
          <p:cNvPr id="34" name="TextBox 33"/>
          <p:cNvSpPr txBox="1"/>
          <p:nvPr/>
        </p:nvSpPr>
        <p:spPr>
          <a:xfrm>
            <a:off x="10835640" y="5010912"/>
            <a:ext cx="914400" cy="237744"/>
          </a:xfrm>
          <a:prstGeom prst="rect">
            <a:avLst/>
          </a:prstGeom>
          <a:noFill/>
        </p:spPr>
        <p:txBody>
          <a:bodyPr wrap="square">
            <a:spAutoFit/>
          </a:bodyPr>
          <a:lstStyle/>
          <a:p>
            <a:pPr algn="r"/>
            <a:r>
              <a:rPr sz="1150" b="1" i="0">
                <a:solidFill>
                  <a:srgbClr val="64748B"/>
                </a:solidFill>
                <a:latin typeface="Calibri"/>
              </a:rPr>
              <a:t>₹2L · 10%</a:t>
            </a:r>
          </a:p>
        </p:txBody>
      </p:sp>
      <p:sp>
        <p:nvSpPr>
          <p:cNvPr id="35" name="Rectangle 34"/>
          <p:cNvSpPr/>
          <p:nvPr/>
        </p:nvSpPr>
        <p:spPr>
          <a:xfrm>
            <a:off x="5349240" y="5303520"/>
            <a:ext cx="6400800" cy="82296"/>
          </a:xfrm>
          <a:prstGeom prst="rect">
            <a:avLst/>
          </a:prstGeom>
          <a:solidFill>
            <a:srgbClr val="1121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349240" y="5303520"/>
            <a:ext cx="640080" cy="8229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349240" y="5888736"/>
            <a:ext cx="6400800" cy="475488"/>
          </a:xfrm>
          <a:prstGeom prst="rect">
            <a:avLst/>
          </a:prstGeom>
          <a:solidFill>
            <a:srgbClr val="0D362E"/>
          </a:solidFill>
          <a:ln w="9525">
            <a:solidFill>
              <a:srgbClr val="207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13832" y="5998464"/>
            <a:ext cx="6126480" cy="256032"/>
          </a:xfrm>
          <a:prstGeom prst="rect">
            <a:avLst/>
          </a:prstGeom>
          <a:noFill/>
        </p:spPr>
        <p:txBody>
          <a:bodyPr wrap="square">
            <a:spAutoFit/>
          </a:bodyPr>
          <a:lstStyle/>
          <a:p>
            <a:pPr algn="l"/>
            <a:r>
              <a:rPr sz="1150" b="1" i="0">
                <a:solidFill>
                  <a:srgbClr val="F1F5F9"/>
                </a:solidFill>
                <a:latin typeface="Calibri"/>
              </a:rPr>
              <a:t>+ $270K platform credits  —  Anthropic API, Vercel, AWS/GCP, GitHub, Stripe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623"/>
        </a:solidFill>
        <a:effectLst/>
      </p:bgPr>
    </p:bg>
    <p:spTree>
      <p:nvGrpSpPr>
        <p:cNvPr id="1" name=""/>
        <p:cNvGrpSpPr/>
        <p:nvPr/>
      </p:nvGrpSpPr>
      <p:grpSpPr/>
      <p:sp>
        <p:nvSpPr>
          <p:cNvPr id="2" name="TextBox 1"/>
          <p:cNvSpPr txBox="1"/>
          <p:nvPr/>
        </p:nvSpPr>
        <p:spPr>
          <a:xfrm>
            <a:off x="822960" y="777240"/>
            <a:ext cx="7315200" cy="292608"/>
          </a:xfrm>
          <a:prstGeom prst="rect">
            <a:avLst/>
          </a:prstGeom>
          <a:noFill/>
        </p:spPr>
        <p:txBody>
          <a:bodyPr wrap="square">
            <a:spAutoFit/>
          </a:bodyPr>
          <a:lstStyle/>
          <a:p>
            <a:pPr algn="l"/>
            <a:r>
              <a:rPr sz="1200" b="0" i="1">
                <a:solidFill>
                  <a:srgbClr val="94A3B8"/>
                </a:solidFill>
                <a:latin typeface="Calibri"/>
              </a:rPr>
              <a:t>One last thing.</a:t>
            </a:r>
          </a:p>
        </p:txBody>
      </p:sp>
      <p:sp>
        <p:nvSpPr>
          <p:cNvPr id="3" name="TextBox 2"/>
          <p:cNvSpPr txBox="1"/>
          <p:nvPr/>
        </p:nvSpPr>
        <p:spPr>
          <a:xfrm>
            <a:off x="822960" y="1115568"/>
            <a:ext cx="8229600" cy="1920240"/>
          </a:xfrm>
          <a:prstGeom prst="rect">
            <a:avLst/>
          </a:prstGeom>
          <a:noFill/>
        </p:spPr>
        <p:txBody>
          <a:bodyPr wrap="square">
            <a:spAutoFit/>
          </a:bodyPr>
          <a:lstStyle/>
          <a:p>
            <a:pPr algn="l"/>
            <a:r>
              <a:rPr sz="5200" b="1" i="0">
                <a:solidFill>
                  <a:srgbClr val="F1F5F9"/>
                </a:solidFill>
                <a:latin typeface="Calibri Light"/>
              </a:rPr>
              <a:t>Your next customer
already knows someone</a:t>
            </a:r>
          </a:p>
        </p:txBody>
      </p:sp>
      <p:sp>
        <p:nvSpPr>
          <p:cNvPr id="4" name="TextBox 3"/>
          <p:cNvSpPr txBox="1"/>
          <p:nvPr/>
        </p:nvSpPr>
        <p:spPr>
          <a:xfrm>
            <a:off x="822960" y="2944368"/>
            <a:ext cx="4572000" cy="777240"/>
          </a:xfrm>
          <a:prstGeom prst="rect">
            <a:avLst/>
          </a:prstGeom>
          <a:noFill/>
        </p:spPr>
        <p:txBody>
          <a:bodyPr wrap="square">
            <a:spAutoFit/>
          </a:bodyPr>
          <a:lstStyle/>
          <a:p>
            <a:pPr algn="l"/>
            <a:r>
              <a:rPr sz="5200" b="1" i="0">
                <a:solidFill>
                  <a:srgbClr val="2DB89E"/>
                </a:solidFill>
                <a:latin typeface="Calibri Light"/>
              </a:rPr>
              <a:t>you know.</a:t>
            </a:r>
          </a:p>
        </p:txBody>
      </p:sp>
      <p:sp>
        <p:nvSpPr>
          <p:cNvPr id="5" name="TextBox 4"/>
          <p:cNvSpPr txBox="1"/>
          <p:nvPr/>
        </p:nvSpPr>
        <p:spPr>
          <a:xfrm>
            <a:off x="822960" y="3858768"/>
            <a:ext cx="6583680" cy="731520"/>
          </a:xfrm>
          <a:prstGeom prst="rect">
            <a:avLst/>
          </a:prstGeom>
          <a:noFill/>
        </p:spPr>
        <p:txBody>
          <a:bodyPr wrap="square">
            <a:spAutoFit/>
          </a:bodyPr>
          <a:lstStyle/>
          <a:p>
            <a:pPr algn="l"/>
            <a:r>
              <a:rPr sz="1450" b="0" i="0">
                <a:solidFill>
                  <a:srgbClr val="94A3B8"/>
                </a:solidFill>
                <a:latin typeface="Calibri"/>
              </a:rPr>
              <a:t>WarmPath finds that path. The MVP is live, the engine is real, and nobody else has built the warm path layer yet. We are looking for the right people to build this with.</a:t>
            </a:r>
          </a:p>
        </p:txBody>
      </p:sp>
      <p:sp>
        <p:nvSpPr>
          <p:cNvPr id="6" name="Rectangle 5"/>
          <p:cNvSpPr/>
          <p:nvPr/>
        </p:nvSpPr>
        <p:spPr>
          <a:xfrm>
            <a:off x="822960" y="4736592"/>
            <a:ext cx="1828800" cy="841248"/>
          </a:xfrm>
          <a:prstGeom prst="rect">
            <a:avLst/>
          </a:prstGeom>
          <a:solidFill>
            <a:srgbClr val="2DB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809744"/>
            <a:ext cx="1828800" cy="219456"/>
          </a:xfrm>
          <a:prstGeom prst="rect">
            <a:avLst/>
          </a:prstGeom>
          <a:noFill/>
        </p:spPr>
        <p:txBody>
          <a:bodyPr wrap="square">
            <a:spAutoFit/>
          </a:bodyPr>
          <a:lstStyle/>
          <a:p>
            <a:pPr algn="ctr"/>
            <a:r>
              <a:rPr sz="900" b="0" i="0">
                <a:solidFill>
                  <a:srgbClr val="F1F5F9"/>
                </a:solidFill>
                <a:latin typeface="Calibri"/>
              </a:rPr>
              <a:t>SEED ASK</a:t>
            </a:r>
          </a:p>
        </p:txBody>
      </p:sp>
      <p:sp>
        <p:nvSpPr>
          <p:cNvPr id="8" name="TextBox 7"/>
          <p:cNvSpPr txBox="1"/>
          <p:nvPr/>
        </p:nvSpPr>
        <p:spPr>
          <a:xfrm>
            <a:off x="822960" y="5029200"/>
            <a:ext cx="1828800" cy="384048"/>
          </a:xfrm>
          <a:prstGeom prst="rect">
            <a:avLst/>
          </a:prstGeom>
          <a:noFill/>
        </p:spPr>
        <p:txBody>
          <a:bodyPr wrap="square">
            <a:spAutoFit/>
          </a:bodyPr>
          <a:lstStyle/>
          <a:p>
            <a:pPr algn="ctr"/>
            <a:r>
              <a:rPr sz="1900" b="1" i="0">
                <a:solidFill>
                  <a:srgbClr val="F1F5F9"/>
                </a:solidFill>
                <a:latin typeface="Calibri"/>
              </a:rPr>
              <a:t>₹20 Lakhs</a:t>
            </a:r>
          </a:p>
        </p:txBody>
      </p:sp>
      <p:sp>
        <p:nvSpPr>
          <p:cNvPr id="9" name="Rectangle 8"/>
          <p:cNvSpPr/>
          <p:nvPr/>
        </p:nvSpPr>
        <p:spPr>
          <a:xfrm>
            <a:off x="2834640" y="4736592"/>
            <a:ext cx="2377440" cy="841248"/>
          </a:xfrm>
          <a:prstGeom prst="rect">
            <a:avLst/>
          </a:prstGeom>
          <a:solidFill>
            <a:srgbClr val="0F1C2C"/>
          </a:solidFill>
          <a:ln w="635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4809744"/>
            <a:ext cx="2377440" cy="219456"/>
          </a:xfrm>
          <a:prstGeom prst="rect">
            <a:avLst/>
          </a:prstGeom>
          <a:noFill/>
        </p:spPr>
        <p:txBody>
          <a:bodyPr wrap="square">
            <a:spAutoFit/>
          </a:bodyPr>
          <a:lstStyle/>
          <a:p>
            <a:pPr algn="ctr"/>
            <a:r>
              <a:rPr sz="900" b="0" i="0">
                <a:solidFill>
                  <a:srgbClr val="64748B"/>
                </a:solidFill>
                <a:latin typeface="Calibri"/>
              </a:rPr>
              <a:t>TRY THE MVP</a:t>
            </a:r>
          </a:p>
        </p:txBody>
      </p:sp>
      <p:sp>
        <p:nvSpPr>
          <p:cNvPr id="11" name="TextBox 10"/>
          <p:cNvSpPr txBox="1"/>
          <p:nvPr/>
        </p:nvSpPr>
        <p:spPr>
          <a:xfrm>
            <a:off x="2834640" y="5029200"/>
            <a:ext cx="2377440" cy="384048"/>
          </a:xfrm>
          <a:prstGeom prst="rect">
            <a:avLst/>
          </a:prstGeom>
          <a:noFill/>
        </p:spPr>
        <p:txBody>
          <a:bodyPr wrap="square">
            <a:spAutoFit/>
          </a:bodyPr>
          <a:lstStyle/>
          <a:p>
            <a:pPr algn="ctr"/>
            <a:r>
              <a:rPr sz="1350" b="1" i="0">
                <a:solidFill>
                  <a:srgbClr val="F1F5F9"/>
                </a:solidFill>
                <a:latin typeface="Calibri"/>
              </a:rPr>
              <a:t>warmpath-eta.vercel.app</a:t>
            </a:r>
          </a:p>
        </p:txBody>
      </p:sp>
      <p:sp>
        <p:nvSpPr>
          <p:cNvPr id="12" name="Rectangle 11"/>
          <p:cNvSpPr/>
          <p:nvPr/>
        </p:nvSpPr>
        <p:spPr>
          <a:xfrm>
            <a:off x="822960" y="5806440"/>
            <a:ext cx="10515600" cy="7315"/>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5989320"/>
            <a:ext cx="621792" cy="621792"/>
          </a:xfrm>
          <a:prstGeom prst="ellipse">
            <a:avLst/>
          </a:prstGeom>
          <a:solidFill>
            <a:srgbClr val="0D362E"/>
          </a:solidFill>
          <a:ln w="19050">
            <a:solidFill>
              <a:srgbClr val="2DB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6144768"/>
            <a:ext cx="621792" cy="219456"/>
          </a:xfrm>
          <a:prstGeom prst="rect">
            <a:avLst/>
          </a:prstGeom>
          <a:noFill/>
        </p:spPr>
        <p:txBody>
          <a:bodyPr wrap="square">
            <a:spAutoFit/>
          </a:bodyPr>
          <a:lstStyle/>
          <a:p>
            <a:pPr algn="ctr"/>
            <a:r>
              <a:rPr sz="1400" b="1" i="0">
                <a:solidFill>
                  <a:srgbClr val="F1F5F9"/>
                </a:solidFill>
                <a:latin typeface="Calibri"/>
              </a:rPr>
              <a:t>AA</a:t>
            </a:r>
          </a:p>
        </p:txBody>
      </p:sp>
      <p:sp>
        <p:nvSpPr>
          <p:cNvPr id="15" name="TextBox 14"/>
          <p:cNvSpPr txBox="1"/>
          <p:nvPr/>
        </p:nvSpPr>
        <p:spPr>
          <a:xfrm>
            <a:off x="1591056" y="5961888"/>
            <a:ext cx="3200400" cy="274320"/>
          </a:xfrm>
          <a:prstGeom prst="rect">
            <a:avLst/>
          </a:prstGeom>
          <a:noFill/>
        </p:spPr>
        <p:txBody>
          <a:bodyPr wrap="square">
            <a:spAutoFit/>
          </a:bodyPr>
          <a:lstStyle/>
          <a:p>
            <a:pPr algn="l"/>
            <a:r>
              <a:rPr sz="1500" b="1" i="0">
                <a:solidFill>
                  <a:srgbClr val="F1F5F9"/>
                </a:solidFill>
                <a:latin typeface="Calibri"/>
              </a:rPr>
              <a:t>Adhik Agarwal</a:t>
            </a:r>
          </a:p>
        </p:txBody>
      </p:sp>
      <p:sp>
        <p:nvSpPr>
          <p:cNvPr id="16" name="TextBox 15"/>
          <p:cNvSpPr txBox="1"/>
          <p:nvPr/>
        </p:nvSpPr>
        <p:spPr>
          <a:xfrm>
            <a:off x="1591056" y="6236208"/>
            <a:ext cx="4114800" cy="228600"/>
          </a:xfrm>
          <a:prstGeom prst="rect">
            <a:avLst/>
          </a:prstGeom>
          <a:noFill/>
        </p:spPr>
        <p:txBody>
          <a:bodyPr wrap="square">
            <a:spAutoFit/>
          </a:bodyPr>
          <a:lstStyle/>
          <a:p>
            <a:pPr algn="l"/>
            <a:r>
              <a:rPr sz="1100" b="0" i="0">
                <a:solidFill>
                  <a:srgbClr val="2DB89E"/>
                </a:solidFill>
                <a:latin typeface="Calibri"/>
              </a:rPr>
              <a:t>Final Year BITS Pilani  |  SDE-1 @ SeedlingLabs</a:t>
            </a:r>
          </a:p>
        </p:txBody>
      </p:sp>
      <p:sp>
        <p:nvSpPr>
          <p:cNvPr id="17" name="TextBox 16"/>
          <p:cNvSpPr txBox="1"/>
          <p:nvPr/>
        </p:nvSpPr>
        <p:spPr>
          <a:xfrm>
            <a:off x="5943600" y="6236208"/>
            <a:ext cx="5029200" cy="228600"/>
          </a:xfrm>
          <a:prstGeom prst="rect">
            <a:avLst/>
          </a:prstGeom>
          <a:noFill/>
        </p:spPr>
        <p:txBody>
          <a:bodyPr wrap="square">
            <a:spAutoFit/>
          </a:bodyPr>
          <a:lstStyle/>
          <a:p>
            <a:pPr algn="l"/>
            <a:r>
              <a:rPr sz="1100" b="0" i="0">
                <a:solidFill>
                  <a:srgbClr val="94A3B8"/>
                </a:solidFill>
                <a:latin typeface="Calibri"/>
              </a:rPr>
              <a:t>adhikagarwal16@gmail.com  ·  linkedin.com/in/adhik-agarwal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